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29344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98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/>
              <a:t>Thank you so much for your time and attention! We hope you enjoyed about our project. </a:t>
            </a:r>
          </a:p>
          <a:p>
            <a:r>
              <a:rPr lang="en-US" sz="2000" dirty="0" smtClean="0"/>
              <a:t>Thank You.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inking Animated 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697" y="215299"/>
            <a:ext cx="5572833" cy="52570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16194" y="360798"/>
            <a:ext cx="457368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briola" panose="04040605051002020D02" pitchFamily="82" charset="0"/>
              </a:rPr>
              <a:t>Hello &amp; Welcome</a:t>
            </a:r>
            <a:endParaRPr lang="en-US" sz="6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66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03"/>
            <a:ext cx="9144000" cy="5152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564" y="4391760"/>
            <a:ext cx="2575712" cy="43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 smtClean="0">
                <a:solidFill>
                  <a:srgbClr val="4299E1"/>
                </a:solidFill>
                <a:latin typeface="Microsoft Uighur" panose="02000000000000000000" pitchFamily="2" charset="-78"/>
                <a:cs typeface="Microsoft Uighur" panose="02000000000000000000" pitchFamily="2" charset="-78"/>
              </a:rPr>
              <a:t>Developed by</a:t>
            </a:r>
          </a:p>
          <a:p>
            <a:pPr marL="0" indent="0" algn="r">
              <a:buNone/>
            </a:pPr>
            <a:r>
              <a:rPr lang="en-US" sz="1602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sz="1602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Double Quotation</a:t>
            </a:r>
          </a:p>
        </p:txBody>
      </p:sp>
      <p:sp>
        <p:nvSpPr>
          <p:cNvPr id="6" name="Text 3"/>
          <p:cNvSpPr/>
          <p:nvPr/>
        </p:nvSpPr>
        <p:spPr>
          <a:xfrm>
            <a:off x="1745673" y="1745190"/>
            <a:ext cx="3558717" cy="314125"/>
          </a:xfrm>
          <a:prstGeom prst="rect">
            <a:avLst/>
          </a:prstGeom>
          <a:noFill/>
          <a:ln/>
        </p:spPr>
        <p:txBody>
          <a:bodyPr wrap="square" lIns="136017" tIns="34036" rIns="136017" bIns="34036" rtlCol="0" anchor="b">
            <a:spAutoFit/>
          </a:bodyPr>
          <a:lstStyle/>
          <a:p>
            <a:pPr algn="r">
              <a:lnSpc>
                <a:spcPts val="2200"/>
              </a:lnSpc>
            </a:pPr>
            <a:r>
              <a:rPr lang="en-US" sz="1050" dirty="0">
                <a:solidFill>
                  <a:srgbClr val="293446"/>
                </a:solidFill>
                <a:latin typeface="Comic Sans MS" panose="030F0702030302020204" pitchFamily="66" charset="0"/>
              </a:rPr>
              <a:t>Empowering Academic Integrity Through Innovation</a:t>
            </a: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953" y="1922170"/>
            <a:ext cx="1426756" cy="1426756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67122" y="870139"/>
            <a:ext cx="4914900" cy="1025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4000"/>
              </a:lnSpc>
              <a:buNone/>
            </a:pPr>
            <a:r>
              <a:rPr lang="en-US" sz="3294" b="1" u="sng" dirty="0" smtClean="0">
                <a:solidFill>
                  <a:srgbClr val="2934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Exam Simulator</a:t>
            </a:r>
          </a:p>
          <a:p>
            <a:pPr marL="0" indent="0" algn="r">
              <a:lnSpc>
                <a:spcPts val="4000"/>
              </a:lnSpc>
              <a:buNone/>
            </a:pPr>
            <a:r>
              <a:rPr 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b="1" dirty="0" smtClean="0">
                <a:solidFill>
                  <a:srgbClr val="2934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94" b="1" u="sng" dirty="0" smtClean="0">
                <a:solidFill>
                  <a:srgbClr val="2934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Anti-Cheat System</a:t>
            </a:r>
            <a:endParaRPr lang="en-US" sz="3294" u="sng" dirty="0">
              <a:solidFill>
                <a:srgbClr val="2934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3136" y="4858761"/>
            <a:ext cx="940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Gabriola" panose="04040605051002020D02" pitchFamily="82" charset="0"/>
              </a:rPr>
              <a:t>Team No: </a:t>
            </a:r>
            <a:r>
              <a:rPr lang="en-US" sz="1400" dirty="0" smtClean="0">
                <a:latin typeface="Gabriola" panose="04040605051002020D02" pitchFamily="82" charset="0"/>
              </a:rPr>
              <a:t>8</a:t>
            </a:r>
            <a:endParaRPr lang="en-US" sz="1400" dirty="0">
              <a:latin typeface="Gabriola" panose="04040605051002020D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6337007" y="1050301"/>
            <a:ext cx="2211572" cy="3479167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571500" y="713231"/>
            <a:ext cx="5143500" cy="38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Milestone: Planning Phase Complete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931240"/>
            <a:ext cx="414696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Discussion &amp; Planning Successfully Finalized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57250" y="2508098"/>
            <a:ext cx="2766577" cy="207169"/>
            <a:chOff x="857250" y="2508098"/>
            <a:chExt cx="2766577" cy="207169"/>
          </a:xfrm>
        </p:grpSpPr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250" y="2515242"/>
              <a:ext cx="200025" cy="200025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1200150" y="2508098"/>
              <a:ext cx="2423677" cy="1849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Defined Project Scope &amp; Requirements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857250" y="2893861"/>
            <a:ext cx="3004591" cy="207168"/>
            <a:chOff x="857250" y="2893861"/>
            <a:chExt cx="3004591" cy="207168"/>
          </a:xfrm>
        </p:grpSpPr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250" y="2901004"/>
              <a:ext cx="200025" cy="200025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1200150" y="2893861"/>
              <a:ext cx="2661691" cy="1923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Designed UI/UX Wireframes &amp; Prototypes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57250" y="3279623"/>
            <a:ext cx="2945472" cy="207169"/>
            <a:chOff x="857250" y="3279623"/>
            <a:chExt cx="2945472" cy="207169"/>
          </a:xfrm>
        </p:grpSpPr>
        <p:pic>
          <p:nvPicPr>
            <p:cNvPr id="9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250" y="3286767"/>
              <a:ext cx="200025" cy="200025"/>
            </a:xfrm>
            <a:prstGeom prst="rect">
              <a:avLst/>
            </a:prstGeom>
          </p:spPr>
        </p:pic>
        <p:sp>
          <p:nvSpPr>
            <p:cNvPr id="10" name="Text 4"/>
            <p:cNvSpPr/>
            <p:nvPr/>
          </p:nvSpPr>
          <p:spPr>
            <a:xfrm>
              <a:off x="1200150" y="3279623"/>
              <a:ext cx="2602572" cy="1923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Finalized Technology Stack for Execution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57250" y="3665386"/>
            <a:ext cx="2722013" cy="207168"/>
            <a:chOff x="857250" y="3665386"/>
            <a:chExt cx="2722013" cy="207168"/>
          </a:xfrm>
        </p:grpSpPr>
        <p:pic>
          <p:nvPicPr>
            <p:cNvPr id="11" name="Image 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250" y="3672529"/>
              <a:ext cx="200025" cy="200025"/>
            </a:xfrm>
            <a:prstGeom prst="rect">
              <a:avLst/>
            </a:prstGeom>
          </p:spPr>
        </p:pic>
        <p:sp>
          <p:nvSpPr>
            <p:cNvPr id="12" name="Text 5"/>
            <p:cNvSpPr/>
            <p:nvPr/>
          </p:nvSpPr>
          <p:spPr>
            <a:xfrm>
              <a:off x="1200150" y="3665386"/>
              <a:ext cx="2379113" cy="1923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Established Team Workflow &amp; Sprints</a:t>
              </a:r>
            </a:p>
          </p:txBody>
        </p:sp>
      </p:grpSp>
      <p:sp>
        <p:nvSpPr>
          <p:cNvPr id="15" name="Text 8"/>
          <p:cNvSpPr/>
          <p:nvPr/>
        </p:nvSpPr>
        <p:spPr>
          <a:xfrm>
            <a:off x="7116915" y="1676102"/>
            <a:ext cx="625171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</a:t>
            </a:r>
            <a:endParaRPr lang="en-US" sz="119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7039971" y="1910060"/>
            <a:ext cx="779060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  <a:endParaRPr lang="en-US" sz="243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6991079" y="2376190"/>
            <a:ext cx="87684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  <a:endParaRPr lang="en-US" sz="119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984" y="3008726"/>
            <a:ext cx="642938" cy="5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5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25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1336523" cy="260747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1336523" cy="256993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MODEL</a:t>
            </a:r>
            <a:endParaRPr lang="en-US" sz="88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956739"/>
            <a:ext cx="3690113" cy="3675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en-US" sz="2000" dirty="0">
                <a:latin typeface="baselGroteskMono"/>
              </a:rPr>
              <a:t>Incremental Development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71500" y="1758764"/>
            <a:ext cx="1928625" cy="205184"/>
            <a:chOff x="571500" y="1758764"/>
            <a:chExt cx="1928625" cy="205184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790018"/>
              <a:ext cx="214313" cy="171450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871538" y="1758764"/>
              <a:ext cx="1628587" cy="205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400" b="1" dirty="0" smtClean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Incremental 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Delivery</a:t>
              </a:r>
              <a:endParaRPr lang="en-US" sz="1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 4"/>
          <p:cNvSpPr/>
          <p:nvPr/>
        </p:nvSpPr>
        <p:spPr>
          <a:xfrm>
            <a:off x="571500" y="1931005"/>
            <a:ext cx="4702463" cy="369332"/>
          </a:xfrm>
          <a:prstGeom prst="rect">
            <a:avLst/>
          </a:prstGeom>
          <a:noFill/>
          <a:ln/>
        </p:spPr>
        <p:txBody>
          <a:bodyPr wrap="square" lIns="357251" tIns="0" rIns="0" bIns="0" rtlCol="0" anchor="t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delivering the system in small, well‑defined increments. Each release adds new functionality to the already deployed product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571501" y="2642608"/>
            <a:ext cx="2419144" cy="205184"/>
            <a:chOff x="571501" y="2642608"/>
            <a:chExt cx="2419144" cy="205184"/>
          </a:xfrm>
        </p:grpSpPr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501" y="2673862"/>
              <a:ext cx="214313" cy="171450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871539" y="2642608"/>
              <a:ext cx="2119106" cy="205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Planned Feature Expansion</a:t>
              </a:r>
              <a:endParaRPr lang="en-US" sz="1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Text 6"/>
          <p:cNvSpPr/>
          <p:nvPr/>
        </p:nvSpPr>
        <p:spPr>
          <a:xfrm>
            <a:off x="571501" y="2817013"/>
            <a:ext cx="4868718" cy="553998"/>
          </a:xfrm>
          <a:prstGeom prst="rect">
            <a:avLst/>
          </a:prstGeom>
          <a:noFill/>
          <a:ln/>
        </p:spPr>
        <p:txBody>
          <a:bodyPr wrap="square" lIns="357251" tIns="0" rIns="0" bIns="0" rtlCol="0" anchor="t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requirements and enhancements are grouped and implemented in later increments, allowing continuous growth without disrupting the existing system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571500" y="3716317"/>
            <a:ext cx="2042182" cy="205184"/>
            <a:chOff x="571500" y="3716317"/>
            <a:chExt cx="2042182" cy="205184"/>
          </a:xfrm>
        </p:grpSpPr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1500" y="3747571"/>
              <a:ext cx="214313" cy="171450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871538" y="3716317"/>
              <a:ext cx="1742144" cy="205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Early Working System</a:t>
              </a:r>
              <a:endParaRPr lang="en-US" sz="1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 8"/>
          <p:cNvSpPr/>
          <p:nvPr/>
        </p:nvSpPr>
        <p:spPr>
          <a:xfrm>
            <a:off x="571500" y="3884604"/>
            <a:ext cx="4600863" cy="414601"/>
          </a:xfrm>
          <a:prstGeom prst="rect">
            <a:avLst/>
          </a:prstGeom>
          <a:noFill/>
          <a:ln/>
        </p:spPr>
        <p:txBody>
          <a:bodyPr wrap="square" lIns="357251" tIns="0" rIns="0" bIns="0" rtlCol="0" anchor="t">
            <a:spAutoFit/>
          </a:bodyPr>
          <a:lstStyle/>
          <a:p>
            <a:pPr>
              <a:lnSpc>
                <a:spcPts val="17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basic but usable version is delivered early, giving users real value while further features are gradually added in subsequent releases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084" y="1332628"/>
            <a:ext cx="1506832" cy="15068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715000" y="2905790"/>
            <a:ext cx="3428973" cy="265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Release-Based</a:t>
            </a:r>
            <a:endParaRPr 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5715000" y="3175378"/>
            <a:ext cx="3428973" cy="17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Incremental Releases Over Time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75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2290911" cy="260747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2290911" cy="245132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PHASE: DEVELOPMENT</a:t>
            </a:r>
            <a:endParaRPr lang="en-US" sz="8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259728"/>
            <a:ext cx="5143500" cy="38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37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2: Backend Development</a:t>
            </a:r>
            <a:endParaRPr lang="en-US" sz="243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71500" y="2259240"/>
            <a:ext cx="1979815" cy="235131"/>
            <a:chOff x="571500" y="2259240"/>
            <a:chExt cx="1979815" cy="235131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2294346"/>
              <a:ext cx="200025" cy="200025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964406" y="2259240"/>
              <a:ext cx="1586909" cy="205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Infrastructure Setup</a:t>
              </a:r>
              <a:endParaRPr lang="en-US" sz="1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 4"/>
          <p:cNvSpPr/>
          <p:nvPr/>
        </p:nvSpPr>
        <p:spPr>
          <a:xfrm>
            <a:off x="1019822" y="2485696"/>
            <a:ext cx="3750469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the server-side environment and deployment pipelines for high availability.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71500" y="2977635"/>
            <a:ext cx="2427117" cy="235131"/>
            <a:chOff x="571500" y="2977635"/>
            <a:chExt cx="2427117" cy="235131"/>
          </a:xfrm>
        </p:grpSpPr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500" y="3012741"/>
              <a:ext cx="175022" cy="200025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964406" y="2977635"/>
              <a:ext cx="2034211" cy="205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Scalable Database Schema</a:t>
              </a:r>
              <a:endParaRPr lang="en-US" sz="1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Text 6"/>
          <p:cNvSpPr/>
          <p:nvPr/>
        </p:nvSpPr>
        <p:spPr>
          <a:xfrm>
            <a:off x="1019823" y="3205976"/>
            <a:ext cx="3750468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robust data models for users, exams, and real-time proctoring logs.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571500" y="3682261"/>
            <a:ext cx="2165507" cy="216659"/>
            <a:chOff x="571500" y="3682261"/>
            <a:chExt cx="2165507" cy="216659"/>
          </a:xfrm>
        </p:grpSpPr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1500" y="3698895"/>
              <a:ext cx="250031" cy="200025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964406" y="3682261"/>
              <a:ext cx="1772601" cy="205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Core API Development</a:t>
              </a:r>
              <a:endParaRPr lang="en-US" sz="1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 8"/>
          <p:cNvSpPr/>
          <p:nvPr/>
        </p:nvSpPr>
        <p:spPr>
          <a:xfrm>
            <a:off x="1019823" y="3917952"/>
            <a:ext cx="3750469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secure RESTful endpoints for authentication and exam lifecycle management.</a:t>
            </a:r>
          </a:p>
        </p:txBody>
      </p:sp>
      <p:sp>
        <p:nvSpPr>
          <p:cNvPr id="15" name="Text 9"/>
          <p:cNvSpPr/>
          <p:nvPr/>
        </p:nvSpPr>
        <p:spPr>
          <a:xfrm>
            <a:off x="1203617" y="4629928"/>
            <a:ext cx="3725379" cy="177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i="1" dirty="0" smtClean="0">
                <a:solidFill>
                  <a:srgbClr val="2D37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</a:t>
            </a:r>
            <a:r>
              <a:rPr lang="en-US" sz="1090" b="1" i="1" dirty="0">
                <a:solidFill>
                  <a:srgbClr val="2D37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rock-solid foundation for a seamless user experience</a:t>
            </a:r>
            <a:r>
              <a:rPr lang="en-US" sz="1090" b="1" i="1" dirty="0" smtClean="0">
                <a:solidFill>
                  <a:srgbClr val="2D37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5735389" y="-1242"/>
            <a:ext cx="3429000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6715125" y="1857375"/>
            <a:ext cx="1428750" cy="1428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5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25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750"/>
                            </p:stCondLst>
                            <p:childTnLst>
                              <p:par>
                                <p:cTn id="37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2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8" grpId="0" animBg="1"/>
      <p:bldP spid="11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567927" y="1731414"/>
            <a:ext cx="1057673" cy="1040803"/>
            <a:chOff x="571500" y="1988390"/>
            <a:chExt cx="428625" cy="428625"/>
          </a:xfrm>
        </p:grpSpPr>
        <p:sp>
          <p:nvSpPr>
            <p:cNvPr id="4" name="Shape 1"/>
            <p:cNvSpPr/>
            <p:nvPr/>
          </p:nvSpPr>
          <p:spPr>
            <a:xfrm>
              <a:off x="571500" y="1988390"/>
              <a:ext cx="428625" cy="428625"/>
            </a:xfrm>
            <a:prstGeom prst="rect">
              <a:avLst/>
            </a:prstGeom>
            <a:solidFill>
              <a:srgbClr val="4299E1"/>
            </a:solidFill>
            <a:ln/>
          </p:spPr>
        </p:sp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302" y="2102690"/>
              <a:ext cx="175022" cy="200025"/>
            </a:xfrm>
            <a:prstGeom prst="rect">
              <a:avLst/>
            </a:prstGeom>
          </p:spPr>
        </p:pic>
      </p:grpSp>
      <p:sp>
        <p:nvSpPr>
          <p:cNvPr id="3" name="Text 0"/>
          <p:cNvSpPr/>
          <p:nvPr/>
        </p:nvSpPr>
        <p:spPr>
          <a:xfrm>
            <a:off x="571500" y="713231"/>
            <a:ext cx="5143500" cy="38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Spotlight: Anti-Cheat System</a:t>
            </a:r>
            <a:endParaRPr lang="en-US" sz="243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757017" y="1785938"/>
            <a:ext cx="2842691" cy="911829"/>
            <a:chOff x="1757017" y="1785938"/>
            <a:chExt cx="2842691" cy="911829"/>
          </a:xfrm>
        </p:grpSpPr>
        <p:sp>
          <p:nvSpPr>
            <p:cNvPr id="6" name="Text 2"/>
            <p:cNvSpPr/>
            <p:nvPr/>
          </p:nvSpPr>
          <p:spPr>
            <a:xfrm>
              <a:off x="1757018" y="1785938"/>
              <a:ext cx="1497076" cy="205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Browser Lockdown</a:t>
              </a:r>
              <a:endParaRPr lang="en-US" sz="1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3"/>
            <p:cNvSpPr/>
            <p:nvPr/>
          </p:nvSpPr>
          <p:spPr>
            <a:xfrm>
              <a:off x="1757017" y="2120686"/>
              <a:ext cx="2842691" cy="5770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Prevents tab switching, window minimizing, and unauthorized keyboard shortcuts during the exam session.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65563" y="3357563"/>
            <a:ext cx="1057673" cy="1065201"/>
            <a:chOff x="3228975" y="1988390"/>
            <a:chExt cx="428625" cy="428625"/>
          </a:xfrm>
        </p:grpSpPr>
        <p:sp>
          <p:nvSpPr>
            <p:cNvPr id="8" name="Shape 4"/>
            <p:cNvSpPr/>
            <p:nvPr/>
          </p:nvSpPr>
          <p:spPr>
            <a:xfrm>
              <a:off x="3228975" y="1988390"/>
              <a:ext cx="428625" cy="428625"/>
            </a:xfrm>
            <a:prstGeom prst="rect">
              <a:avLst/>
            </a:prstGeom>
            <a:solidFill>
              <a:srgbClr val="4299E1"/>
            </a:solidFill>
            <a:ln/>
          </p:spPr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0773" y="2102690"/>
              <a:ext cx="225028" cy="200025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1757017" y="3357563"/>
            <a:ext cx="2842691" cy="922581"/>
            <a:chOff x="1757017" y="3357563"/>
            <a:chExt cx="2842691" cy="922581"/>
          </a:xfrm>
        </p:grpSpPr>
        <p:sp>
          <p:nvSpPr>
            <p:cNvPr id="10" name="Text 5"/>
            <p:cNvSpPr/>
            <p:nvPr/>
          </p:nvSpPr>
          <p:spPr>
            <a:xfrm>
              <a:off x="1757018" y="3357563"/>
              <a:ext cx="1069139" cy="205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AI Proctoring</a:t>
              </a:r>
              <a:endParaRPr lang="en-US" sz="1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6"/>
            <p:cNvSpPr/>
            <p:nvPr/>
          </p:nvSpPr>
          <p:spPr>
            <a:xfrm>
              <a:off x="1757017" y="3703063"/>
              <a:ext cx="2842691" cy="5770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Real-time behavior analysis using webcam and microphone to detect 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suspicious movements 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 sounds.</a:t>
              </a:r>
            </a:p>
          </p:txBody>
        </p:sp>
      </p:grpSp>
      <p:sp>
        <p:nvSpPr>
          <p:cNvPr id="18" name="Shape 12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234" y="1785938"/>
            <a:ext cx="1964531" cy="1571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25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4272" y="713231"/>
            <a:ext cx="4434609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 &amp; Infrastructure</a:t>
            </a:r>
            <a:endParaRPr lang="en-US" sz="243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666269" y="1813093"/>
            <a:ext cx="2162656" cy="1320504"/>
            <a:chOff x="666269" y="1813093"/>
            <a:chExt cx="2162656" cy="1320504"/>
          </a:xfrm>
        </p:grpSpPr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813093"/>
              <a:ext cx="285750" cy="228600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685800" y="2105679"/>
              <a:ext cx="668453" cy="1923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400" b="1" dirty="0">
                  <a:solidFill>
                    <a:srgbClr val="ED89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Backend</a:t>
              </a:r>
              <a:endParaRPr lang="en-US" sz="109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3"/>
            <p:cNvSpPr/>
            <p:nvPr/>
          </p:nvSpPr>
          <p:spPr>
            <a:xfrm>
              <a:off x="685800" y="2377141"/>
              <a:ext cx="2143125" cy="3590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Python (FastAPI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for high-performance API handling.</a:t>
              </a:r>
            </a:p>
          </p:txBody>
        </p:sp>
        <p:sp>
          <p:nvSpPr>
            <p:cNvPr id="8" name="Shape 4"/>
            <p:cNvSpPr/>
            <p:nvPr/>
          </p:nvSpPr>
          <p:spPr>
            <a:xfrm>
              <a:off x="666269" y="2940716"/>
              <a:ext cx="572309" cy="192881"/>
            </a:xfrm>
            <a:prstGeom prst="roundRect">
              <a:avLst/>
            </a:prstGeom>
            <a:solidFill>
              <a:srgbClr val="4299E1"/>
            </a:solidFill>
            <a:ln/>
          </p:spPr>
        </p:sp>
        <p:sp>
          <p:nvSpPr>
            <p:cNvPr id="9" name="Text 5"/>
            <p:cNvSpPr/>
            <p:nvPr/>
          </p:nvSpPr>
          <p:spPr>
            <a:xfrm>
              <a:off x="666269" y="2940716"/>
              <a:ext cx="572309" cy="184153"/>
            </a:xfrm>
            <a:prstGeom prst="rect">
              <a:avLst/>
            </a:prstGeom>
            <a:noFill/>
            <a:ln/>
          </p:spPr>
          <p:txBody>
            <a:bodyPr wrap="square" lIns="102108" tIns="34036" rIns="102108" bIns="34036" rtlCol="0" anchor="t">
              <a:spAutoFit/>
            </a:bodyPr>
            <a:lstStyle/>
            <a:p>
              <a:pPr marL="0" indent="0" algn="l">
                <a:lnSpc>
                  <a:spcPts val="900"/>
                </a:lnSpc>
                <a:buNone/>
              </a:pPr>
              <a:r>
                <a:rPr lang="en-US" sz="683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Scalable</a:t>
              </a:r>
              <a:endParaRPr lang="en-US" sz="68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139458" y="1793214"/>
            <a:ext cx="2175492" cy="1349171"/>
            <a:chOff x="3139458" y="1793214"/>
            <a:chExt cx="2175492" cy="1349171"/>
          </a:xfrm>
        </p:grpSpPr>
        <p:sp>
          <p:nvSpPr>
            <p:cNvPr id="14" name="Shape 9"/>
            <p:cNvSpPr/>
            <p:nvPr/>
          </p:nvSpPr>
          <p:spPr>
            <a:xfrm>
              <a:off x="3155755" y="2949504"/>
              <a:ext cx="559808" cy="192881"/>
            </a:xfrm>
            <a:prstGeom prst="roundRect">
              <a:avLst/>
            </a:prstGeom>
            <a:solidFill>
              <a:srgbClr val="4299E1"/>
            </a:solidFill>
            <a:ln/>
          </p:spPr>
        </p:sp>
        <p:grpSp>
          <p:nvGrpSpPr>
            <p:cNvPr id="34" name="Group 33"/>
            <p:cNvGrpSpPr/>
            <p:nvPr/>
          </p:nvGrpSpPr>
          <p:grpSpPr>
            <a:xfrm>
              <a:off x="3139458" y="1793214"/>
              <a:ext cx="2175492" cy="1343584"/>
              <a:chOff x="3139458" y="1793214"/>
              <a:chExt cx="2175492" cy="1343584"/>
            </a:xfrm>
          </p:grpSpPr>
          <p:pic>
            <p:nvPicPr>
              <p:cNvPr id="11" name="Image 2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1825" y="1793214"/>
                <a:ext cx="200025" cy="228600"/>
              </a:xfrm>
              <a:prstGeom prst="rect">
                <a:avLst/>
              </a:prstGeom>
            </p:spPr>
          </p:pic>
          <p:sp>
            <p:nvSpPr>
              <p:cNvPr id="12" name="Text 7"/>
              <p:cNvSpPr/>
              <p:nvPr/>
            </p:nvSpPr>
            <p:spPr>
              <a:xfrm>
                <a:off x="3171825" y="2105678"/>
                <a:ext cx="708527" cy="1923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sz="1400" b="1" dirty="0">
                    <a:solidFill>
                      <a:srgbClr val="ED893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Database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 8"/>
              <p:cNvSpPr/>
              <p:nvPr/>
            </p:nvSpPr>
            <p:spPr>
              <a:xfrm>
                <a:off x="3171825" y="2377140"/>
                <a:ext cx="2143125" cy="35907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 algn="l">
                  <a:lnSpc>
                    <a:spcPts val="1400"/>
                  </a:lnSpc>
                  <a:buNone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PostgreSQL or MongoDB for secure and structured data storage.</a:t>
                </a:r>
              </a:p>
            </p:txBody>
          </p:sp>
          <p:sp>
            <p:nvSpPr>
              <p:cNvPr id="15" name="Text 10"/>
              <p:cNvSpPr/>
              <p:nvPr/>
            </p:nvSpPr>
            <p:spPr>
              <a:xfrm>
                <a:off x="3139458" y="2952645"/>
                <a:ext cx="559808" cy="184153"/>
              </a:xfrm>
              <a:prstGeom prst="rect">
                <a:avLst/>
              </a:prstGeom>
              <a:noFill/>
              <a:ln/>
            </p:spPr>
            <p:txBody>
              <a:bodyPr wrap="square" lIns="102108" tIns="34036" rIns="102108" bIns="34036" rtlCol="0" anchor="t">
                <a:spAutoFit/>
              </a:bodyPr>
              <a:lstStyle/>
              <a:p>
                <a:pPr marL="0" indent="0" algn="l">
                  <a:lnSpc>
                    <a:spcPts val="900"/>
                  </a:lnSpc>
                  <a:buNone/>
                </a:pPr>
                <a:r>
                  <a:rPr lang="en-US" sz="683" b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Reliable</a:t>
                </a:r>
                <a:endParaRPr lang="en-US" sz="68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9" name="Group 38"/>
          <p:cNvGrpSpPr/>
          <p:nvPr/>
        </p:nvGrpSpPr>
        <p:grpSpPr>
          <a:xfrm>
            <a:off x="666269" y="3629481"/>
            <a:ext cx="2162656" cy="1147586"/>
            <a:chOff x="666269" y="3629481"/>
            <a:chExt cx="2162656" cy="1147586"/>
          </a:xfrm>
        </p:grpSpPr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" y="3629481"/>
              <a:ext cx="200025" cy="228600"/>
            </a:xfrm>
            <a:prstGeom prst="rect">
              <a:avLst/>
            </a:prstGeom>
          </p:spPr>
        </p:pic>
        <p:sp>
          <p:nvSpPr>
            <p:cNvPr id="18" name="Text 12"/>
            <p:cNvSpPr/>
            <p:nvPr/>
          </p:nvSpPr>
          <p:spPr>
            <a:xfrm>
              <a:off x="685800" y="3922067"/>
              <a:ext cx="637995" cy="1923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400" b="1" dirty="0">
                  <a:solidFill>
                    <a:srgbClr val="ED89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Security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13"/>
            <p:cNvSpPr/>
            <p:nvPr/>
          </p:nvSpPr>
          <p:spPr>
            <a:xfrm>
              <a:off x="685800" y="4193529"/>
              <a:ext cx="2143125" cy="3590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JWT for authentication and SSL for end-to-end data encryption.</a:t>
              </a:r>
            </a:p>
          </p:txBody>
        </p:sp>
        <p:sp>
          <p:nvSpPr>
            <p:cNvPr id="20" name="Shape 14"/>
            <p:cNvSpPr/>
            <p:nvPr/>
          </p:nvSpPr>
          <p:spPr>
            <a:xfrm>
              <a:off x="685800" y="4583534"/>
              <a:ext cx="498918" cy="192881"/>
            </a:xfrm>
            <a:prstGeom prst="roundRect">
              <a:avLst/>
            </a:prstGeom>
            <a:solidFill>
              <a:srgbClr val="4299E1"/>
            </a:solidFill>
            <a:ln/>
          </p:spPr>
        </p:sp>
        <p:sp>
          <p:nvSpPr>
            <p:cNvPr id="21" name="Text 15"/>
            <p:cNvSpPr/>
            <p:nvPr/>
          </p:nvSpPr>
          <p:spPr>
            <a:xfrm>
              <a:off x="666269" y="4592914"/>
              <a:ext cx="498918" cy="184153"/>
            </a:xfrm>
            <a:prstGeom prst="rect">
              <a:avLst/>
            </a:prstGeom>
            <a:noFill/>
            <a:ln/>
          </p:spPr>
          <p:txBody>
            <a:bodyPr wrap="square" lIns="102108" tIns="34036" rIns="102108" bIns="34036" rtlCol="0" anchor="t">
              <a:spAutoFit/>
            </a:bodyPr>
            <a:lstStyle/>
            <a:p>
              <a:pPr marL="0" indent="0" algn="l">
                <a:lnSpc>
                  <a:spcPts val="900"/>
                </a:lnSpc>
                <a:buNone/>
              </a:pPr>
              <a:r>
                <a:rPr lang="en-US" sz="683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Secure</a:t>
              </a:r>
              <a:endParaRPr lang="en-US" sz="68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158682" y="3639421"/>
            <a:ext cx="2185657" cy="1136995"/>
            <a:chOff x="3158682" y="3639421"/>
            <a:chExt cx="2185657" cy="1136995"/>
          </a:xfrm>
        </p:grpSpPr>
        <p:pic>
          <p:nvPicPr>
            <p:cNvPr id="23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01214" y="3639421"/>
              <a:ext cx="285750" cy="228600"/>
            </a:xfrm>
            <a:prstGeom prst="rect">
              <a:avLst/>
            </a:prstGeom>
          </p:spPr>
        </p:pic>
        <p:sp>
          <p:nvSpPr>
            <p:cNvPr id="24" name="Text 17"/>
            <p:cNvSpPr/>
            <p:nvPr/>
          </p:nvSpPr>
          <p:spPr>
            <a:xfrm>
              <a:off x="3201214" y="3922068"/>
              <a:ext cx="926536" cy="1923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400" b="1" dirty="0">
                  <a:solidFill>
                    <a:srgbClr val="ED893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Deployment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18"/>
            <p:cNvSpPr/>
            <p:nvPr/>
          </p:nvSpPr>
          <p:spPr>
            <a:xfrm>
              <a:off x="3201214" y="4193530"/>
              <a:ext cx="2143125" cy="3590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Cloud-based hosting (AWS/Azure) for global accessibility.</a:t>
              </a:r>
            </a:p>
          </p:txBody>
        </p:sp>
        <p:sp>
          <p:nvSpPr>
            <p:cNvPr id="26" name="Shape 19"/>
            <p:cNvSpPr/>
            <p:nvPr/>
          </p:nvSpPr>
          <p:spPr>
            <a:xfrm>
              <a:off x="3201214" y="4583535"/>
              <a:ext cx="679138" cy="192881"/>
            </a:xfrm>
            <a:prstGeom prst="roundRect">
              <a:avLst/>
            </a:prstGeom>
            <a:solidFill>
              <a:srgbClr val="4299E1"/>
            </a:solidFill>
            <a:ln/>
          </p:spPr>
        </p:sp>
        <p:sp>
          <p:nvSpPr>
            <p:cNvPr id="27" name="Text 20"/>
            <p:cNvSpPr/>
            <p:nvPr/>
          </p:nvSpPr>
          <p:spPr>
            <a:xfrm>
              <a:off x="3158682" y="4583535"/>
              <a:ext cx="804230" cy="184153"/>
            </a:xfrm>
            <a:prstGeom prst="rect">
              <a:avLst/>
            </a:prstGeom>
            <a:noFill/>
            <a:ln/>
          </p:spPr>
          <p:txBody>
            <a:bodyPr wrap="square" lIns="102108" tIns="34036" rIns="102108" bIns="34036" rtlCol="0" anchor="t">
              <a:spAutoFit/>
            </a:bodyPr>
            <a:lstStyle/>
            <a:p>
              <a:pPr marL="0" indent="0" algn="l">
                <a:lnSpc>
                  <a:spcPts val="900"/>
                </a:lnSpc>
                <a:buNone/>
              </a:pPr>
              <a:r>
                <a:rPr lang="en-US" sz="683" b="1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Cloud-Native</a:t>
              </a:r>
              <a:endParaRPr lang="en-US" sz="68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Shape 2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1706" y="1317867"/>
            <a:ext cx="1065695" cy="106569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719851" y="2523951"/>
            <a:ext cx="3428999" cy="20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kern="0" spc="2" dirty="0">
                <a:solidFill>
                  <a:srgbClr val="F4F5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5718203" y="3283869"/>
            <a:ext cx="3412703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00" dirty="0">
                <a:solidFill>
                  <a:srgbClr val="F4F5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a robust foundation for the next generation of online assessment tools.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allAtOnce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686139"/>
            <a:ext cx="4656282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Roadmap: The Path Ahead</a:t>
            </a:r>
            <a:endParaRPr lang="en-US" sz="243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62264" y="1850567"/>
            <a:ext cx="2338796" cy="1223892"/>
            <a:chOff x="562264" y="1850567"/>
            <a:chExt cx="2338796" cy="1223892"/>
          </a:xfrm>
        </p:grpSpPr>
        <p:sp>
          <p:nvSpPr>
            <p:cNvPr id="4" name="Shape 1"/>
            <p:cNvSpPr/>
            <p:nvPr/>
          </p:nvSpPr>
          <p:spPr>
            <a:xfrm>
              <a:off x="562264" y="1850567"/>
              <a:ext cx="228600" cy="2286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/>
          </p:spPr>
        </p:sp>
        <p:sp>
          <p:nvSpPr>
            <p:cNvPr id="6" name="Shape 3"/>
            <p:cNvSpPr/>
            <p:nvPr/>
          </p:nvSpPr>
          <p:spPr>
            <a:xfrm>
              <a:off x="885825" y="1887511"/>
              <a:ext cx="541530" cy="192881"/>
            </a:xfrm>
            <a:prstGeom prst="roundRect">
              <a:avLst/>
            </a:prstGeom>
            <a:solidFill>
              <a:srgbClr val="2D3748"/>
            </a:solidFill>
            <a:ln/>
          </p:spPr>
        </p:sp>
        <p:grpSp>
          <p:nvGrpSpPr>
            <p:cNvPr id="32" name="Group 31"/>
            <p:cNvGrpSpPr/>
            <p:nvPr/>
          </p:nvGrpSpPr>
          <p:grpSpPr>
            <a:xfrm>
              <a:off x="562961" y="1885838"/>
              <a:ext cx="2338099" cy="1188621"/>
              <a:chOff x="571500" y="1896747"/>
              <a:chExt cx="2338099" cy="1188621"/>
            </a:xfrm>
          </p:grpSpPr>
          <p:sp>
            <p:nvSpPr>
              <p:cNvPr id="5" name="Text 2"/>
              <p:cNvSpPr/>
              <p:nvPr/>
            </p:nvSpPr>
            <p:spPr>
              <a:xfrm>
                <a:off x="571500" y="1903571"/>
                <a:ext cx="228600" cy="1410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indent="0" algn="ctr">
                  <a:lnSpc>
                    <a:spcPts val="1100"/>
                  </a:lnSpc>
                  <a:buNone/>
                </a:pPr>
                <a:r>
                  <a:rPr lang="en-US" sz="784" b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78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 4"/>
              <p:cNvSpPr/>
              <p:nvPr/>
            </p:nvSpPr>
            <p:spPr>
              <a:xfrm>
                <a:off x="895061" y="1896747"/>
                <a:ext cx="541530" cy="184153"/>
              </a:xfrm>
              <a:prstGeom prst="rect">
                <a:avLst/>
              </a:prstGeom>
              <a:noFill/>
              <a:ln/>
            </p:spPr>
            <p:txBody>
              <a:bodyPr wrap="square" lIns="85090" tIns="34036" rIns="85090" bIns="34036" rtlCol="0" anchor="t">
                <a:spAutoFit/>
              </a:bodyPr>
              <a:lstStyle/>
              <a:p>
                <a:pPr marL="0" indent="0" algn="l">
                  <a:lnSpc>
                    <a:spcPts val="900"/>
                  </a:lnSpc>
                  <a:buNone/>
                </a:pPr>
                <a:r>
                  <a:rPr lang="en-US" sz="683" b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3</a:t>
                </a:r>
                <a:endParaRPr lang="en-US" sz="68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Text 5"/>
              <p:cNvSpPr/>
              <p:nvPr/>
            </p:nvSpPr>
            <p:spPr>
              <a:xfrm>
                <a:off x="885825" y="2252709"/>
                <a:ext cx="2014538" cy="3949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 algn="l">
                  <a:lnSpc>
                    <a:spcPts val="1600"/>
                  </a:lnSpc>
                  <a:buNone/>
                </a:pPr>
                <a:r>
                  <a:rPr lang="en-US" sz="1193" b="1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Frontend Integration &amp; UI Development</a:t>
                </a:r>
                <a:endParaRPr lang="en-US" sz="1193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 6"/>
              <p:cNvSpPr/>
              <p:nvPr/>
            </p:nvSpPr>
            <p:spPr>
              <a:xfrm>
                <a:off x="895061" y="2777591"/>
                <a:ext cx="2014538" cy="3077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>
                  <a:lnSpc>
                    <a:spcPts val="1200"/>
                  </a:lnSpc>
                  <a:buNone/>
                </a:pPr>
                <a:r>
                  <a:rPr lang="en-US" sz="942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Connecting the backend APIs to a responsive and intuitive user interface.</a:t>
                </a:r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186113" y="1859803"/>
            <a:ext cx="2328863" cy="1366549"/>
            <a:chOff x="3186113" y="1859803"/>
            <a:chExt cx="2328863" cy="1366549"/>
          </a:xfrm>
        </p:grpSpPr>
        <p:sp>
          <p:nvSpPr>
            <p:cNvPr id="12" name="Shape 9"/>
            <p:cNvSpPr/>
            <p:nvPr/>
          </p:nvSpPr>
          <p:spPr>
            <a:xfrm>
              <a:off x="3500438" y="1859803"/>
              <a:ext cx="541530" cy="192881"/>
            </a:xfrm>
            <a:prstGeom prst="roundRect">
              <a:avLst/>
            </a:prstGeom>
            <a:solidFill>
              <a:srgbClr val="2D3748"/>
            </a:solidFill>
            <a:ln/>
          </p:spPr>
        </p:sp>
        <p:grpSp>
          <p:nvGrpSpPr>
            <p:cNvPr id="34" name="Group 33"/>
            <p:cNvGrpSpPr/>
            <p:nvPr/>
          </p:nvGrpSpPr>
          <p:grpSpPr>
            <a:xfrm>
              <a:off x="3186113" y="1859803"/>
              <a:ext cx="2328863" cy="1366549"/>
              <a:chOff x="3186113" y="1859803"/>
              <a:chExt cx="2328863" cy="1366549"/>
            </a:xfrm>
          </p:grpSpPr>
          <p:sp>
            <p:nvSpPr>
              <p:cNvPr id="10" name="Shape 7"/>
              <p:cNvSpPr/>
              <p:nvPr/>
            </p:nvSpPr>
            <p:spPr>
              <a:xfrm>
                <a:off x="3186113" y="1859803"/>
                <a:ext cx="228600" cy="2286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/>
            </p:spPr>
          </p:sp>
          <p:grpSp>
            <p:nvGrpSpPr>
              <p:cNvPr id="33" name="Group 32"/>
              <p:cNvGrpSpPr/>
              <p:nvPr/>
            </p:nvGrpSpPr>
            <p:grpSpPr>
              <a:xfrm>
                <a:off x="3186113" y="1869039"/>
                <a:ext cx="2328863" cy="1357313"/>
                <a:chOff x="3186113" y="1869039"/>
                <a:chExt cx="2328863" cy="1357313"/>
              </a:xfrm>
            </p:grpSpPr>
            <p:sp>
              <p:nvSpPr>
                <p:cNvPr id="11" name="Text 8"/>
                <p:cNvSpPr/>
                <p:nvPr/>
              </p:nvSpPr>
              <p:spPr>
                <a:xfrm>
                  <a:off x="3186113" y="1903571"/>
                  <a:ext cx="228600" cy="14106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indent="0" algn="ctr">
                    <a:lnSpc>
                      <a:spcPts val="1100"/>
                    </a:lnSpc>
                    <a:buNone/>
                  </a:pPr>
                  <a:r>
                    <a:rPr lang="en-US" sz="784" b="1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lang="en-US" sz="784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Text 10"/>
                <p:cNvSpPr/>
                <p:nvPr/>
              </p:nvSpPr>
              <p:spPr>
                <a:xfrm>
                  <a:off x="3500438" y="1869039"/>
                  <a:ext cx="541530" cy="184153"/>
                </a:xfrm>
                <a:prstGeom prst="rect">
                  <a:avLst/>
                </a:prstGeom>
                <a:noFill/>
                <a:ln/>
              </p:spPr>
              <p:txBody>
                <a:bodyPr wrap="square" lIns="85090" tIns="34036" rIns="85090" bIns="34036" rtlCol="0" anchor="t">
                  <a:spAutoFit/>
                </a:bodyPr>
                <a:lstStyle/>
                <a:p>
                  <a:pPr marL="0" indent="0" algn="l">
                    <a:lnSpc>
                      <a:spcPts val="900"/>
                    </a:lnSpc>
                    <a:buNone/>
                  </a:pPr>
                  <a:r>
                    <a:rPr lang="en-US" sz="683" b="1" dirty="0">
                      <a:solidFill>
                        <a:srgbClr val="FFFF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PHASE 4</a:t>
                  </a:r>
                  <a:endParaRPr lang="en-US" sz="683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Text 11"/>
                <p:cNvSpPr/>
                <p:nvPr/>
              </p:nvSpPr>
              <p:spPr>
                <a:xfrm>
                  <a:off x="3500438" y="2252709"/>
                  <a:ext cx="2014538" cy="410369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0" indent="0" algn="l">
                    <a:lnSpc>
                      <a:spcPts val="1600"/>
                    </a:lnSpc>
                    <a:buNone/>
                  </a:pPr>
                  <a:r>
                    <a:rPr lang="en-US" sz="1193" b="1" dirty="0">
                      <a:solidFill>
                        <a:schemeClr val="accent5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Anti-Cheat Module Integration</a:t>
                  </a:r>
                  <a:endParaRPr lang="en-US" sz="1193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Text 12"/>
                <p:cNvSpPr/>
                <p:nvPr/>
              </p:nvSpPr>
              <p:spPr>
                <a:xfrm>
                  <a:off x="3471863" y="2763487"/>
                  <a:ext cx="2014538" cy="46286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0" indent="0" algn="l">
                    <a:lnSpc>
                      <a:spcPts val="1200"/>
                    </a:lnSpc>
                    <a:buNone/>
                  </a:pPr>
                  <a:r>
                    <a:rPr lang="en-US" sz="942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Merging the security features with the core exam engine for a unified experience.</a:t>
                  </a:r>
                </a:p>
              </p:txBody>
            </p:sp>
          </p:grpSp>
        </p:grpSp>
      </p:grpSp>
      <p:grpSp>
        <p:nvGrpSpPr>
          <p:cNvPr id="37" name="Group 36"/>
          <p:cNvGrpSpPr/>
          <p:nvPr/>
        </p:nvGrpSpPr>
        <p:grpSpPr>
          <a:xfrm>
            <a:off x="571500" y="3397802"/>
            <a:ext cx="2328863" cy="1366549"/>
            <a:chOff x="571500" y="3397802"/>
            <a:chExt cx="2328863" cy="1366549"/>
          </a:xfrm>
        </p:grpSpPr>
        <p:grpSp>
          <p:nvGrpSpPr>
            <p:cNvPr id="36" name="Group 35"/>
            <p:cNvGrpSpPr/>
            <p:nvPr/>
          </p:nvGrpSpPr>
          <p:grpSpPr>
            <a:xfrm>
              <a:off x="571500" y="3397802"/>
              <a:ext cx="855855" cy="228600"/>
              <a:chOff x="571500" y="3397802"/>
              <a:chExt cx="855855" cy="228600"/>
            </a:xfrm>
          </p:grpSpPr>
          <p:sp>
            <p:nvSpPr>
              <p:cNvPr id="16" name="Shape 13"/>
              <p:cNvSpPr/>
              <p:nvPr/>
            </p:nvSpPr>
            <p:spPr>
              <a:xfrm>
                <a:off x="571500" y="3397802"/>
                <a:ext cx="228600" cy="228600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/>
            </p:spPr>
          </p:sp>
          <p:sp>
            <p:nvSpPr>
              <p:cNvPr id="18" name="Shape 15"/>
              <p:cNvSpPr/>
              <p:nvPr/>
            </p:nvSpPr>
            <p:spPr>
              <a:xfrm>
                <a:off x="885825" y="3397802"/>
                <a:ext cx="541530" cy="192881"/>
              </a:xfrm>
              <a:prstGeom prst="roundRect">
                <a:avLst/>
              </a:prstGeom>
              <a:solidFill>
                <a:srgbClr val="2D3748"/>
              </a:solidFill>
              <a:ln/>
            </p:spPr>
          </p:sp>
        </p:grpSp>
        <p:grpSp>
          <p:nvGrpSpPr>
            <p:cNvPr id="38" name="Group 37"/>
            <p:cNvGrpSpPr/>
            <p:nvPr/>
          </p:nvGrpSpPr>
          <p:grpSpPr>
            <a:xfrm>
              <a:off x="571500" y="3407038"/>
              <a:ext cx="2328863" cy="1357313"/>
              <a:chOff x="571500" y="3407038"/>
              <a:chExt cx="2328863" cy="1357313"/>
            </a:xfrm>
          </p:grpSpPr>
          <p:sp>
            <p:nvSpPr>
              <p:cNvPr id="17" name="Text 14"/>
              <p:cNvSpPr/>
              <p:nvPr/>
            </p:nvSpPr>
            <p:spPr>
              <a:xfrm>
                <a:off x="571500" y="3441570"/>
                <a:ext cx="228600" cy="1410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indent="0" algn="ctr">
                  <a:lnSpc>
                    <a:spcPts val="1100"/>
                  </a:lnSpc>
                  <a:buNone/>
                </a:pPr>
                <a:r>
                  <a:rPr lang="en-US" sz="784" b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en-US" sz="78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885825" y="3407038"/>
                <a:ext cx="541530" cy="184153"/>
              </a:xfrm>
              <a:prstGeom prst="rect">
                <a:avLst/>
              </a:prstGeom>
              <a:noFill/>
              <a:ln/>
            </p:spPr>
            <p:txBody>
              <a:bodyPr wrap="square" lIns="85090" tIns="34036" rIns="85090" bIns="34036" rtlCol="0" anchor="t">
                <a:spAutoFit/>
              </a:bodyPr>
              <a:lstStyle/>
              <a:p>
                <a:pPr marL="0" indent="0" algn="l">
                  <a:lnSpc>
                    <a:spcPts val="900"/>
                  </a:lnSpc>
                  <a:buNone/>
                </a:pPr>
                <a:r>
                  <a:rPr lang="en-US" sz="683" b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5</a:t>
                </a:r>
                <a:endParaRPr lang="en-US" sz="68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885825" y="3790708"/>
                <a:ext cx="2014538" cy="1897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 algn="l">
                  <a:lnSpc>
                    <a:spcPts val="1600"/>
                  </a:lnSpc>
                  <a:buNone/>
                </a:pPr>
                <a:r>
                  <a:rPr lang="en-US" sz="1193" b="1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Beta Testing &amp; Bug Fixing</a:t>
                </a:r>
                <a:endParaRPr lang="en-US" sz="1193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Text 18"/>
              <p:cNvSpPr/>
              <p:nvPr/>
            </p:nvSpPr>
            <p:spPr>
              <a:xfrm>
                <a:off x="885825" y="4301486"/>
                <a:ext cx="2014538" cy="46286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>
                  <a:lnSpc>
                    <a:spcPts val="1200"/>
                  </a:lnSpc>
                  <a:buNone/>
                </a:pPr>
                <a:r>
                  <a:rPr lang="en-US" sz="942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Conducting rigorous stress tests and refining the system based on user feedback.</a:t>
                </a:r>
              </a:p>
            </p:txBody>
          </p:sp>
        </p:grpSp>
      </p:grpSp>
      <p:grpSp>
        <p:nvGrpSpPr>
          <p:cNvPr id="39" name="Group 38"/>
          <p:cNvGrpSpPr/>
          <p:nvPr/>
        </p:nvGrpSpPr>
        <p:grpSpPr>
          <a:xfrm>
            <a:off x="3186113" y="3397802"/>
            <a:ext cx="2328863" cy="1366549"/>
            <a:chOff x="3186113" y="3397802"/>
            <a:chExt cx="2328863" cy="1366549"/>
          </a:xfrm>
        </p:grpSpPr>
        <p:sp>
          <p:nvSpPr>
            <p:cNvPr id="22" name="Shape 19"/>
            <p:cNvSpPr/>
            <p:nvPr/>
          </p:nvSpPr>
          <p:spPr>
            <a:xfrm>
              <a:off x="3186113" y="3397802"/>
              <a:ext cx="228600" cy="2286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/>
          </p:spPr>
        </p:sp>
        <p:grpSp>
          <p:nvGrpSpPr>
            <p:cNvPr id="40" name="Group 39"/>
            <p:cNvGrpSpPr/>
            <p:nvPr/>
          </p:nvGrpSpPr>
          <p:grpSpPr>
            <a:xfrm>
              <a:off x="3186113" y="3397802"/>
              <a:ext cx="2328863" cy="1366549"/>
              <a:chOff x="3186113" y="3397802"/>
              <a:chExt cx="2328863" cy="1366549"/>
            </a:xfrm>
          </p:grpSpPr>
          <p:sp>
            <p:nvSpPr>
              <p:cNvPr id="23" name="Text 20"/>
              <p:cNvSpPr/>
              <p:nvPr/>
            </p:nvSpPr>
            <p:spPr>
              <a:xfrm>
                <a:off x="3186113" y="3441570"/>
                <a:ext cx="228600" cy="1410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indent="0" algn="ctr">
                  <a:lnSpc>
                    <a:spcPts val="1100"/>
                  </a:lnSpc>
                  <a:buNone/>
                </a:pPr>
                <a:r>
                  <a:rPr lang="en-US" sz="784" b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784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Shape 21"/>
              <p:cNvSpPr/>
              <p:nvPr/>
            </p:nvSpPr>
            <p:spPr>
              <a:xfrm>
                <a:off x="3500438" y="3397802"/>
                <a:ext cx="541530" cy="192881"/>
              </a:xfrm>
              <a:prstGeom prst="roundRect">
                <a:avLst/>
              </a:prstGeom>
              <a:solidFill>
                <a:srgbClr val="2D3748"/>
              </a:solidFill>
              <a:ln/>
            </p:spPr>
          </p:sp>
          <p:sp>
            <p:nvSpPr>
              <p:cNvPr id="25" name="Text 22"/>
              <p:cNvSpPr/>
              <p:nvPr/>
            </p:nvSpPr>
            <p:spPr>
              <a:xfrm>
                <a:off x="3500438" y="3407038"/>
                <a:ext cx="541530" cy="184153"/>
              </a:xfrm>
              <a:prstGeom prst="rect">
                <a:avLst/>
              </a:prstGeom>
              <a:noFill/>
              <a:ln/>
            </p:spPr>
            <p:txBody>
              <a:bodyPr wrap="square" lIns="85090" tIns="34036" rIns="85090" bIns="34036" rtlCol="0" anchor="t">
                <a:spAutoFit/>
              </a:bodyPr>
              <a:lstStyle/>
              <a:p>
                <a:pPr marL="0" indent="0" algn="l">
                  <a:lnSpc>
                    <a:spcPts val="900"/>
                  </a:lnSpc>
                  <a:buNone/>
                </a:pPr>
                <a:r>
                  <a:rPr lang="en-US" sz="683" b="1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6</a:t>
                </a:r>
                <a:endParaRPr lang="en-US" sz="68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Text 23"/>
              <p:cNvSpPr/>
              <p:nvPr/>
            </p:nvSpPr>
            <p:spPr>
              <a:xfrm>
                <a:off x="3500438" y="3790708"/>
                <a:ext cx="2014538" cy="4103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 algn="l">
                  <a:lnSpc>
                    <a:spcPts val="1600"/>
                  </a:lnSpc>
                  <a:buNone/>
                </a:pPr>
                <a:r>
                  <a:rPr lang="en-US" sz="1193" b="1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Deployment &amp; Optimization</a:t>
                </a:r>
                <a:endParaRPr lang="en-US" sz="1193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Text 24"/>
              <p:cNvSpPr/>
              <p:nvPr/>
            </p:nvSpPr>
            <p:spPr>
              <a:xfrm>
                <a:off x="3500438" y="4301486"/>
                <a:ext cx="2014538" cy="46286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indent="0" algn="l">
                  <a:lnSpc>
                    <a:spcPts val="1200"/>
                  </a:lnSpc>
                  <a:buNone/>
                </a:pPr>
                <a:r>
                  <a:rPr lang="en-US" sz="942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Launching the platform on cloud infrastructure with full performance tuning.</a:t>
                </a:r>
              </a:p>
            </p:txBody>
          </p:sp>
        </p:grpSp>
      </p:grpSp>
      <p:sp>
        <p:nvSpPr>
          <p:cNvPr id="28" name="Shape 25"/>
          <p:cNvSpPr/>
          <p:nvPr/>
        </p:nvSpPr>
        <p:spPr>
          <a:xfrm>
            <a:off x="5705764" y="0"/>
            <a:ext cx="3438235" cy="5143500"/>
          </a:xfrm>
          <a:prstGeom prst="rect">
            <a:avLst/>
          </a:prstGeom>
          <a:solidFill>
            <a:srgbClr val="4299E1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133" y="1217283"/>
            <a:ext cx="1111495" cy="111149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715000" y="2549426"/>
            <a:ext cx="3429000" cy="2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kern="0" spc="3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VISION</a:t>
            </a:r>
            <a:endParaRPr lang="en-US" sz="160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5705764" y="3000855"/>
            <a:ext cx="3438236" cy="35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Navigating towards a secure and scalable future for digital education.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526954" y="2586931"/>
            <a:ext cx="4374655" cy="1128514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22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Double Quotation has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the planning phase. We are now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development phase,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prioritizing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robust backend to ensure a secure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foundation for the Online Exam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64769" y="1476210"/>
            <a:ext cx="2225998" cy="487313"/>
            <a:chOff x="364769" y="1476210"/>
            <a:chExt cx="2225998" cy="487313"/>
          </a:xfrm>
        </p:grpSpPr>
        <p:sp>
          <p:nvSpPr>
            <p:cNvPr id="7" name="Oval 6"/>
            <p:cNvSpPr/>
            <p:nvPr/>
          </p:nvSpPr>
          <p:spPr>
            <a:xfrm>
              <a:off x="378623" y="1859232"/>
              <a:ext cx="2212144" cy="4571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 0"/>
            <p:cNvSpPr/>
            <p:nvPr/>
          </p:nvSpPr>
          <p:spPr>
            <a:xfrm>
              <a:off x="364769" y="1476210"/>
              <a:ext cx="2212144" cy="487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3800"/>
                </a:lnSpc>
                <a:buNone/>
              </a:pPr>
              <a:r>
                <a:rPr lang="en-US" sz="2862" b="1" dirty="0">
                  <a:latin typeface="Segoe Script" panose="030B0504020000000003" pitchFamily="66" charset="0"/>
                  <a:cs typeface="Times New Roman" panose="02020603050405020304" pitchFamily="18" charset="0"/>
                </a:rPr>
                <a:t>Conclusion</a:t>
              </a:r>
              <a:endParaRPr lang="en-US" sz="2862" dirty="0">
                <a:latin typeface="Segoe Script" panose="030B0504020000000003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207457" y="78473"/>
            <a:ext cx="1722600" cy="1797649"/>
            <a:chOff x="2207457" y="78473"/>
            <a:chExt cx="1722600" cy="1797649"/>
          </a:xfrm>
        </p:grpSpPr>
        <p:sp>
          <p:nvSpPr>
            <p:cNvPr id="17" name="Oval 16"/>
            <p:cNvSpPr/>
            <p:nvPr/>
          </p:nvSpPr>
          <p:spPr>
            <a:xfrm>
              <a:off x="2964825" y="1484755"/>
              <a:ext cx="965232" cy="260151"/>
            </a:xfrm>
            <a:prstGeom prst="ellipse">
              <a:avLst/>
            </a:prstGeom>
            <a:solidFill>
              <a:schemeClr val="bg1">
                <a:lumMod val="65000"/>
                <a:alpha val="8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Conclusiones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78" b="99290" l="0" r="9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463"/>
            <a:stretch/>
          </p:blipFill>
          <p:spPr>
            <a:xfrm flipH="1">
              <a:off x="2207457" y="78473"/>
              <a:ext cx="1579420" cy="179764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6"/>
          <p:cNvSpPr/>
          <p:nvPr/>
        </p:nvSpPr>
        <p:spPr>
          <a:xfrm>
            <a:off x="281555" y="2860641"/>
            <a:ext cx="3329863" cy="565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8000" b="1" kern="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Comic Sans MS" panose="030F0702030302020204" pitchFamily="66" charset="0"/>
                <a:cs typeface="Times New Roman" panose="02020603050405020304" pitchFamily="18" charset="0"/>
              </a:rPr>
              <a:t>Q</a:t>
            </a:r>
            <a:r>
              <a:rPr lang="en-US" sz="4800" b="1" kern="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Comic Sans MS" panose="030F0702030302020204" pitchFamily="66" charset="0"/>
                <a:cs typeface="Times New Roman" panose="02020603050405020304" pitchFamily="18" charset="0"/>
              </a:rPr>
              <a:t>&amp;</a:t>
            </a:r>
            <a:r>
              <a:rPr lang="en-US" sz="8000" b="1" kern="0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Comic Sans MS" panose="030F0702030302020204" pitchFamily="66" charset="0"/>
                <a:cs typeface="Times New Roman" panose="02020603050405020304" pitchFamily="18" charset="0"/>
              </a:rPr>
              <a:t>A</a:t>
            </a:r>
            <a:endParaRPr lang="en-US" sz="80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Question Animated 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691" y="-9376"/>
            <a:ext cx="4420774" cy="515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60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KE A SUGGESTION YOUR IDEA COUNTS! - American Sign Company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4" t="15652" b="15362"/>
          <a:stretch/>
        </p:blipFill>
        <p:spPr>
          <a:xfrm>
            <a:off x="1758121" y="487018"/>
            <a:ext cx="6024218" cy="421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38705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6302380" y="4557721"/>
            <a:ext cx="230864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Monotype Corsiva" panose="03010101010201010101" pitchFamily="66" charset="0"/>
              </a:rPr>
              <a:t>Team “Double Quotation”</a:t>
            </a:r>
            <a:endParaRPr lang="en-US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Monotype Corsiva" panose="03010101010201010101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056453"/>
            <a:ext cx="9144000" cy="30469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9200" dirty="0" smtClean="0">
                <a:latin typeface="Gabriola" panose="04040605051002020D02" pitchFamily="82" charset="0"/>
              </a:rPr>
              <a:t>Thank You</a:t>
            </a:r>
            <a:endParaRPr lang="en-US" sz="19200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2464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drape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486</Words>
  <Application>Microsoft Office PowerPoint</Application>
  <PresentationFormat>On-screen Show (16:9)</PresentationFormat>
  <Paragraphs>90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baselGroteskMono</vt:lpstr>
      <vt:lpstr>Calibri</vt:lpstr>
      <vt:lpstr>Comic Sans MS</vt:lpstr>
      <vt:lpstr>Gabriola</vt:lpstr>
      <vt:lpstr>Microsoft Uighur</vt:lpstr>
      <vt:lpstr>Monotype Corsiva</vt:lpstr>
      <vt:lpstr>Segoe Script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IT's  RZB</cp:lastModifiedBy>
  <cp:revision>43</cp:revision>
  <dcterms:created xsi:type="dcterms:W3CDTF">2026-02-19T17:18:16Z</dcterms:created>
  <dcterms:modified xsi:type="dcterms:W3CDTF">2026-02-22T16:14:36Z</dcterms:modified>
</cp:coreProperties>
</file>