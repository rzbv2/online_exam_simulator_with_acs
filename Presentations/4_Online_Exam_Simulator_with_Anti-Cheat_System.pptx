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6" r:id="rId3"/>
    <p:sldId id="287" r:id="rId4"/>
    <p:sldId id="270" r:id="rId5"/>
    <p:sldId id="277" r:id="rId6"/>
    <p:sldId id="276" r:id="rId7"/>
    <p:sldId id="275" r:id="rId8"/>
    <p:sldId id="273" r:id="rId9"/>
    <p:sldId id="272" r:id="rId10"/>
    <p:sldId id="271" r:id="rId11"/>
    <p:sldId id="278" r:id="rId12"/>
    <p:sldId id="282" r:id="rId13"/>
    <p:sldId id="285" r:id="rId14"/>
    <p:sldId id="28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046" autoAdjust="0"/>
  </p:normalViewPr>
  <p:slideViewPr>
    <p:cSldViewPr snapToGrid="0" snapToObjects="1">
      <p:cViewPr varScale="1">
        <p:scale>
          <a:sx n="82" d="100"/>
          <a:sy n="82" d="100"/>
        </p:scale>
        <p:origin x="10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46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43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Hello everyone,</a:t>
            </a:r>
            <a:br>
              <a:rPr lang="en-US" sz="2000" dirty="0" smtClean="0"/>
            </a:br>
            <a:r>
              <a:rPr lang="en-US" sz="2000" dirty="0" smtClean="0"/>
              <a:t>We are Team “Double Quotation”, </a:t>
            </a:r>
            <a:br>
              <a:rPr lang="en-US" sz="2000" dirty="0" smtClean="0"/>
            </a:br>
            <a:r>
              <a:rPr lang="en-US" sz="2000" dirty="0" smtClean="0"/>
              <a:t>Today, we are presenting our project:</a:t>
            </a:r>
            <a:br>
              <a:rPr lang="en-US" sz="2000" dirty="0" smtClean="0"/>
            </a:br>
            <a:r>
              <a:rPr lang="en-US" sz="2000" i="1" dirty="0" smtClean="0"/>
              <a:t>Online Exam Simulator with Anti-Cheat System</a:t>
            </a:r>
            <a:r>
              <a:rPr lang="en-US" sz="2000" dirty="0" smtClean="0"/>
              <a:t>.</a:t>
            </a:r>
            <a:br>
              <a:rPr lang="en-US" sz="2000" dirty="0" smtClean="0"/>
            </a:br>
            <a:r>
              <a:rPr lang="en-US" sz="2000" dirty="0" smtClean="0"/>
              <a:t>Our goal is to ensure fairness and integrity in digital examinations.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We already complete Definition phase,</a:t>
            </a:r>
            <a:r>
              <a:rPr lang="en-US" baseline="0" dirty="0" smtClean="0"/>
              <a:t> and currently we are working in development phase.</a:t>
            </a:r>
          </a:p>
          <a:p>
            <a:endParaRPr lang="en-US" baseline="0" dirty="0" smtClean="0"/>
          </a:p>
          <a:p>
            <a:r>
              <a:rPr lang="en-US" dirty="0" smtClean="0"/>
              <a:t>In the development phase, we built the core components of our system.</a:t>
            </a:r>
            <a:br>
              <a:rPr lang="en-US" dirty="0" smtClean="0"/>
            </a:br>
            <a:r>
              <a:rPr lang="en-US" dirty="0" smtClean="0"/>
              <a:t>This includes the database, backend logic, admin portal, student portal, and frontend interface.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992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The admin portal provides secure access for administrators.</a:t>
            </a:r>
            <a:br>
              <a:rPr lang="en-US" dirty="0" smtClean="0"/>
            </a:br>
            <a:r>
              <a:rPr lang="en-US" dirty="0" smtClean="0"/>
              <a:t>It includes authentication, dashboard monitoring, and full control over exam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64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Admins can view results, analyze student performance, and monitor cheating logs.</a:t>
            </a:r>
            <a:br>
              <a:rPr lang="en-US" dirty="0" smtClean="0"/>
            </a:br>
            <a:r>
              <a:rPr lang="en-US" dirty="0" smtClean="0"/>
              <a:t>This helps maintain transparency and control.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027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Admins can create and customize exams.</a:t>
            </a:r>
            <a:br>
              <a:rPr lang="en-US" dirty="0" smtClean="0"/>
            </a:br>
            <a:r>
              <a:rPr lang="en-US" dirty="0" smtClean="0"/>
              <a:t>Questions are stored in JSON format, making them flexible and easy to manage.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54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Students can log in securely and access their assigned exams.</a:t>
            </a:r>
            <a:br>
              <a:rPr lang="en-US" dirty="0" smtClean="0"/>
            </a:br>
            <a:r>
              <a:rPr lang="en-US" dirty="0" smtClean="0"/>
              <a:t>The interface is simple and designed to reduce stress.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41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095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During the exam, students can see a timer and their progress.</a:t>
            </a:r>
            <a:br>
              <a:rPr lang="en-US" dirty="0" smtClean="0"/>
            </a:br>
            <a:r>
              <a:rPr lang="en-US" dirty="0" smtClean="0"/>
              <a:t>The system ensures smooth and interactive experience.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380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After submit the exam, system show the score  and percentage of the submitted exam.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803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In</a:t>
            </a:r>
            <a:r>
              <a:rPr lang="en-US" baseline="0" dirty="0" smtClean="0"/>
              <a:t> log file, system store all activity of 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84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55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1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68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Our system ensures secure, fair, and efficient online examinations.</a:t>
            </a:r>
          </a:p>
          <a:p>
            <a:endParaRPr lang="en-US" sz="2000" dirty="0" smtClean="0"/>
          </a:p>
          <a:p>
            <a:r>
              <a:rPr lang="en-US" sz="2000" dirty="0" smtClean="0"/>
              <a:t>Thank you for your time and attention! We hope you enjoyed about our project. </a:t>
            </a:r>
          </a:p>
          <a:p>
            <a:r>
              <a:rPr lang="en-US" sz="2000" dirty="0" smtClean="0"/>
              <a:t>Thank You.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nking Animated 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697" y="215299"/>
            <a:ext cx="5572833" cy="5257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6194" y="360798"/>
            <a:ext cx="457368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briola" panose="04040605051002020D02" pitchFamily="82" charset="0"/>
              </a:rPr>
              <a:t>Hello &amp; Welcome</a:t>
            </a:r>
            <a:endParaRPr 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11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64677"/>
            <a:ext cx="4914900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 smtClean="0">
                <a:solidFill>
                  <a:srgbClr val="000000"/>
                </a:solidFill>
              </a:rPr>
              <a:t>Online Exam</a:t>
            </a:r>
          </a:p>
          <a:p>
            <a:pPr marL="0" indent="0" algn="l">
              <a:lnSpc>
                <a:spcPts val="4000"/>
              </a:lnSpc>
              <a:buNone/>
            </a:pPr>
            <a:r>
              <a:rPr lang="en-US" sz="3294" b="1" dirty="0" smtClean="0">
                <a:solidFill>
                  <a:srgbClr val="000000"/>
                </a:solidFill>
              </a:rPr>
              <a:t>Simulator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en-US" sz="3294" b="1" dirty="0">
                <a:solidFill>
                  <a:srgbClr val="000000"/>
                </a:solidFill>
              </a:rPr>
              <a:t>
</a:t>
            </a:r>
            <a:r>
              <a:rPr lang="en-US" sz="3294" b="1" dirty="0" smtClean="0">
                <a:solidFill>
                  <a:srgbClr val="0055FF"/>
                </a:solidFill>
              </a:rPr>
              <a:t>Anti-Cheat System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244853"/>
            <a:ext cx="4914900" cy="26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Empowering Academic Integrity Through Innovation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4298556"/>
            <a:ext cx="4914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0055FF"/>
                </a:solidFill>
              </a:rPr>
              <a:t>Team "Double Quotation"</a:t>
            </a:r>
            <a:endParaRPr lang="en-US" sz="987" dirty="0"/>
          </a:p>
        </p:txBody>
      </p:sp>
      <p:sp>
        <p:nvSpPr>
          <p:cNvPr id="10" name="Shape 1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 descr="Anti cheat lock symbol stock vector. Illustration of fraud - 26936889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9" t="3153" r="22592" b="3513"/>
          <a:stretch/>
        </p:blipFill>
        <p:spPr>
          <a:xfrm>
            <a:off x="6112669" y="171450"/>
            <a:ext cx="286226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5989" y="4675227"/>
            <a:ext cx="166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Team No: 08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92894" y="292894"/>
            <a:ext cx="1202252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Overview: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8852" y="832720"/>
            <a:ext cx="13388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99142" y="1556271"/>
            <a:ext cx="3140395" cy="2009422"/>
            <a:chOff x="887190" y="1749777"/>
            <a:chExt cx="3140395" cy="2009422"/>
          </a:xfrm>
        </p:grpSpPr>
        <p:sp>
          <p:nvSpPr>
            <p:cNvPr id="29" name="Rectangle 28"/>
            <p:cNvSpPr/>
            <p:nvPr/>
          </p:nvSpPr>
          <p:spPr>
            <a:xfrm>
              <a:off x="1305115" y="1749777"/>
              <a:ext cx="17940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Definition phase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925728" y="2486240"/>
              <a:ext cx="21018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Development phase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491527" y="3345133"/>
              <a:ext cx="208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55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Maintenance phase</a:t>
              </a: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887190" y="1761066"/>
              <a:ext cx="965323" cy="1998133"/>
              <a:chOff x="887190" y="1761066"/>
              <a:chExt cx="965323" cy="1998133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887190" y="1761066"/>
                <a:ext cx="869203" cy="1998133"/>
              </a:xfrm>
              <a:custGeom>
                <a:avLst/>
                <a:gdLst>
                  <a:gd name="connsiteX0" fmla="*/ 0 w 733784"/>
                  <a:gd name="connsiteY0" fmla="*/ 0 h 1140178"/>
                  <a:gd name="connsiteX1" fmla="*/ 733778 w 733784"/>
                  <a:gd name="connsiteY1" fmla="*/ 564444 h 1140178"/>
                  <a:gd name="connsiteX2" fmla="*/ 11289 w 733784"/>
                  <a:gd name="connsiteY2" fmla="*/ 1140178 h 1140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3784" h="1140178">
                    <a:moveTo>
                      <a:pt x="0" y="0"/>
                    </a:moveTo>
                    <a:cubicBezTo>
                      <a:pt x="365948" y="187207"/>
                      <a:pt x="731897" y="374414"/>
                      <a:pt x="733778" y="564444"/>
                    </a:cubicBezTo>
                    <a:cubicBezTo>
                      <a:pt x="735660" y="754474"/>
                      <a:pt x="312326" y="1110074"/>
                      <a:pt x="11289" y="1140178"/>
                    </a:cubicBezTo>
                  </a:path>
                </a:pathLst>
              </a:custGeom>
              <a:noFill/>
              <a:ln w="571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022776" y="1844132"/>
                <a:ext cx="203200" cy="2032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1649313" y="2560982"/>
                <a:ext cx="203200" cy="2032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204908" y="3394332"/>
                <a:ext cx="203200" cy="2032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2369340" y="1992213"/>
              <a:ext cx="76976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(Complete)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797778" y="1230905"/>
            <a:ext cx="3883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Development Phase-</a:t>
            </a:r>
            <a:endParaRPr lang="en-US" sz="1400" dirty="0" smtClean="0"/>
          </a:p>
          <a:p>
            <a:endParaRPr lang="en-US" sz="1400" dirty="0" smtClean="0">
              <a:solidFill>
                <a:srgbClr val="18181B"/>
              </a:solidFill>
              <a:latin typeface="Times New Roman" panose="02020603050405020304" pitchFamily="18" charset="0"/>
              <a:ea typeface="Space Grotesk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Database</a:t>
            </a:r>
          </a:p>
          <a:p>
            <a:endParaRPr lang="en-US" sz="1200" b="1" dirty="0">
              <a:latin typeface="Times New Roman" panose="02020603050405020304" pitchFamily="18" charset="0"/>
              <a:ea typeface="Space Grotesk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Backend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├── Admin Portal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│     ├── Admin Dashboard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│     └── Admin Tools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│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└── Student Portal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      └── Exam Selection</a:t>
            </a:r>
          </a:p>
          <a:p>
            <a:endParaRPr lang="en-US" sz="1200" b="1" dirty="0">
              <a:latin typeface="Times New Roman" panose="02020603050405020304" pitchFamily="18" charset="0"/>
              <a:ea typeface="Space Grotesk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smtClean="0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Frontend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5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" t="1954" r="2778" b="2679"/>
          <a:stretch/>
        </p:blipFill>
        <p:spPr>
          <a:xfrm>
            <a:off x="609600" y="1285875"/>
            <a:ext cx="3781426" cy="2752726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292894" y="292894"/>
            <a:ext cx="2155205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ADMIN </a:t>
            </a: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PORTAL: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5746893" y="1622355"/>
            <a:ext cx="2907516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0055FF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Authentication &amp; Security</a:t>
            </a:r>
            <a:endParaRPr lang="en-US" sz="1400" u="sng" dirty="0">
              <a:solidFill>
                <a:srgbClr val="0055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/>
          <p:nvPr/>
        </p:nvSpPr>
        <p:spPr>
          <a:xfrm>
            <a:off x="5009171" y="2097058"/>
            <a:ext cx="4023537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Password-protected entry for authorized personnel only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Dedicated portal ensuring system-wide administrative control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Clean, efficient interface designed for rapid login workflow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190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" t="-52" r="791" b="-52"/>
          <a:stretch/>
        </p:blipFill>
        <p:spPr>
          <a:xfrm>
            <a:off x="223321" y="1467006"/>
            <a:ext cx="5182790" cy="3368379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282955" y="327742"/>
            <a:ext cx="2753959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ADMIN  </a:t>
            </a: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DASHBOARD</a:t>
            </a: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/>
          <p:cNvSpPr/>
          <p:nvPr/>
        </p:nvSpPr>
        <p:spPr>
          <a:xfrm>
            <a:off x="6858573" y="1639636"/>
            <a:ext cx="199253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Centralized Management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5618559" y="1979265"/>
            <a:ext cx="3232547" cy="821531"/>
          </a:xfrm>
          <a:prstGeom prst="rect">
            <a:avLst/>
          </a:prstGeom>
          <a:solidFill>
            <a:srgbClr val="FFFFFF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5975747" y="2042298"/>
            <a:ext cx="84388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View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/>
          <p:cNvSpPr/>
          <p:nvPr/>
        </p:nvSpPr>
        <p:spPr>
          <a:xfrm>
            <a:off x="5761433" y="2282874"/>
            <a:ext cx="2946797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Analyze student performance metrics and export comprehensive reports for academic review.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9"/>
          <p:cNvSpPr/>
          <p:nvPr/>
        </p:nvSpPr>
        <p:spPr>
          <a:xfrm>
            <a:off x="5618559" y="2936528"/>
            <a:ext cx="3232547" cy="821531"/>
          </a:xfrm>
          <a:prstGeom prst="rect">
            <a:avLst/>
          </a:prstGeom>
          <a:solidFill>
            <a:srgbClr val="FFFFFF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9" name="Text 10"/>
          <p:cNvSpPr/>
          <p:nvPr/>
        </p:nvSpPr>
        <p:spPr>
          <a:xfrm>
            <a:off x="5975747" y="2996344"/>
            <a:ext cx="111319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View Cheat Logs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/>
          <p:cNvSpPr/>
          <p:nvPr/>
        </p:nvSpPr>
        <p:spPr>
          <a:xfrm>
            <a:off x="5761434" y="3205419"/>
            <a:ext cx="294679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Review flagged incidents and security alerts captured by the anti-cheat monitoring system.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2"/>
          <p:cNvSpPr/>
          <p:nvPr/>
        </p:nvSpPr>
        <p:spPr>
          <a:xfrm>
            <a:off x="5618559" y="3893790"/>
            <a:ext cx="3232547" cy="821531"/>
          </a:xfrm>
          <a:prstGeom prst="rect">
            <a:avLst/>
          </a:prstGeom>
          <a:solidFill>
            <a:srgbClr val="FFFFFF"/>
          </a:solidFill>
          <a:ln w="9144">
            <a:solidFill>
              <a:srgbClr val="18181B"/>
            </a:solidFill>
            <a:prstDash val="solid"/>
          </a:ln>
        </p:spPr>
      </p:sp>
      <p:sp>
        <p:nvSpPr>
          <p:cNvPr id="12" name="Text 13"/>
          <p:cNvSpPr/>
          <p:nvPr/>
        </p:nvSpPr>
        <p:spPr>
          <a:xfrm>
            <a:off x="5975747" y="3957028"/>
            <a:ext cx="1191032" cy="1548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Manage &amp; Create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4"/>
          <p:cNvSpPr/>
          <p:nvPr/>
        </p:nvSpPr>
        <p:spPr>
          <a:xfrm>
            <a:off x="5761434" y="4194084"/>
            <a:ext cx="2946797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Full control over the </a:t>
            </a:r>
            <a:r>
              <a:rPr lang="en-US" sz="1200" dirty="0" smtClean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lifecycle</a:t>
            </a:r>
            <a:r>
              <a:rPr lang="en-US" sz="12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from initial creation to final assessment management. examination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34" y="2042298"/>
            <a:ext cx="128588" cy="128588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5476" y="2980539"/>
            <a:ext cx="134546" cy="134546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434" y="3943472"/>
            <a:ext cx="128588" cy="12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593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62" y="1153456"/>
            <a:ext cx="4131613" cy="3662663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292894" y="292894"/>
            <a:ext cx="4098173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ADMIN  TOOLS: </a:t>
            </a:r>
            <a:r>
              <a:rPr lang="en-US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EXAM  CREATION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/>
          <p:cNvSpPr/>
          <p:nvPr/>
        </p:nvSpPr>
        <p:spPr>
          <a:xfrm>
            <a:off x="6694961" y="1402192"/>
            <a:ext cx="2156145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Dynamic Content Management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5618559" y="1738610"/>
            <a:ext cx="3232547" cy="1032272"/>
          </a:xfrm>
          <a:prstGeom prst="rect">
            <a:avLst/>
          </a:prstGeom>
          <a:solidFill>
            <a:srgbClr val="FFFFFF"/>
          </a:solidFill>
          <a:ln w="9144">
            <a:solidFill>
              <a:srgbClr val="18181B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34" y="1888629"/>
            <a:ext cx="128588" cy="128588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5961459" y="1888629"/>
            <a:ext cx="95699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Customization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/>
          <p:cNvSpPr/>
          <p:nvPr/>
        </p:nvSpPr>
        <p:spPr>
          <a:xfrm>
            <a:off x="5761434" y="2138660"/>
            <a:ext cx="2946797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Administrators can define unique exam titles and set precise time durations (e.g., 20 minutes) to match curriculum requirements.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9"/>
          <p:cNvSpPr/>
          <p:nvPr/>
        </p:nvSpPr>
        <p:spPr>
          <a:xfrm>
            <a:off x="5618559" y="2935188"/>
            <a:ext cx="3232547" cy="1689497"/>
          </a:xfrm>
          <a:prstGeom prst="rect">
            <a:avLst/>
          </a:prstGeom>
          <a:solidFill>
            <a:srgbClr val="FFFFFF"/>
          </a:solidFill>
          <a:ln w="9144">
            <a:solidFill>
              <a:srgbClr val="18181B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410" y="3063546"/>
            <a:ext cx="160734" cy="128588"/>
          </a:xfrm>
          <a:prstGeom prst="rect">
            <a:avLst/>
          </a:prstGeom>
        </p:spPr>
      </p:pic>
      <p:sp>
        <p:nvSpPr>
          <p:cNvPr id="11" name="Text 10"/>
          <p:cNvSpPr/>
          <p:nvPr/>
        </p:nvSpPr>
        <p:spPr>
          <a:xfrm>
            <a:off x="5993606" y="3085207"/>
            <a:ext cx="152445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JSON-Based Questions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5761434" y="3297138"/>
            <a:ext cx="2946797" cy="514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Questions are managed in a structured format for easy importing, exporting, and precise answer mapping.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5761433" y="3756166"/>
            <a:ext cx="2946797" cy="83458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{
"question": "What is 2 + 2?",
"options": ["3", "4", "5", "6"],
"correct_answer": "4"
}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0749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" t="1358" b="1020"/>
          <a:stretch/>
        </p:blipFill>
        <p:spPr>
          <a:xfrm>
            <a:off x="4010025" y="1216660"/>
            <a:ext cx="4958027" cy="3641090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292894" y="292894"/>
            <a:ext cx="2466381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STUDENT </a:t>
            </a: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PORTAL: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5"/>
          <p:cNvSpPr/>
          <p:nvPr/>
        </p:nvSpPr>
        <p:spPr>
          <a:xfrm>
            <a:off x="292894" y="1786480"/>
            <a:ext cx="176324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Access &amp; Environment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6"/>
          <p:cNvSpPr/>
          <p:nvPr/>
        </p:nvSpPr>
        <p:spPr>
          <a:xfrm>
            <a:off x="85725" y="2547650"/>
            <a:ext cx="3771482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Login via unique student ID or secure credentials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Initializes the secure environment for the examination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Minimalist interface designed to reduce pre-exam anxiety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5110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070" t="1893" r="2056" b="3787"/>
          <a:stretch/>
        </p:blipFill>
        <p:spPr>
          <a:xfrm>
            <a:off x="4105275" y="2460978"/>
            <a:ext cx="4745832" cy="2394766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292894" y="292894"/>
            <a:ext cx="4697761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STUDENT  </a:t>
            </a: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PORTAL: </a:t>
            </a:r>
            <a:r>
              <a:rPr lang="en-US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EXAM  </a:t>
            </a:r>
            <a:r>
              <a:rPr lang="en-US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186631" y="1141259"/>
            <a:ext cx="165109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Session Initialization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/>
          <p:cNvSpPr/>
          <p:nvPr/>
        </p:nvSpPr>
        <p:spPr>
          <a:xfrm>
            <a:off x="186631" y="1496925"/>
            <a:ext cx="4262385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71450" indent="-171450" algn="l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Dynamic listing of all active exams assigned to the student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Clear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display of exam duration to ensure correct session selection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Action-oriented "Start Exam" trigger to begin the assessment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354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" y="656603"/>
            <a:ext cx="9127460" cy="442341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012264" y="3770488"/>
            <a:ext cx="2905958" cy="92752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70" t="75473" r="3290" b="6078"/>
          <a:stretch/>
        </p:blipFill>
        <p:spPr>
          <a:xfrm>
            <a:off x="6215464" y="4033837"/>
            <a:ext cx="2497053" cy="4067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" t="5528" r="33926"/>
          <a:stretch/>
        </p:blipFill>
        <p:spPr>
          <a:xfrm>
            <a:off x="56766" y="2586037"/>
            <a:ext cx="1495425" cy="252317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888" y="632054"/>
            <a:ext cx="996782" cy="34787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130634" y="634019"/>
            <a:ext cx="996782" cy="34787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2340162" y="1065743"/>
            <a:ext cx="167994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Real-time Monitoring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406837" y="1362424"/>
            <a:ext cx="3118247" cy="43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Time Management: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Prominent countdown timer helps students pace themselves effectively.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406836" y="1961192"/>
            <a:ext cx="3118247" cy="43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Progress Tracking: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Clear indication of current question position (e.g., "Question 1 / 4").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406837" y="2557011"/>
            <a:ext cx="3181609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Integrity Monitoring: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Background checks for suspicious activity while the exam window is active.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368737" y="1399254"/>
            <a:ext cx="0" cy="18002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2"/>
          <p:cNvSpPr/>
          <p:nvPr/>
        </p:nvSpPr>
        <p:spPr>
          <a:xfrm>
            <a:off x="292894" y="191549"/>
            <a:ext cx="4437305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INTERACTIVE  </a:t>
            </a: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EXAM </a:t>
            </a: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INTERFACE: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1654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t="4970" r="4380" b="5342"/>
          <a:stretch/>
        </p:blipFill>
        <p:spPr>
          <a:xfrm>
            <a:off x="200026" y="985279"/>
            <a:ext cx="2720715" cy="1885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" t="7820" r="3490" b="5256"/>
          <a:stretch/>
        </p:blipFill>
        <p:spPr>
          <a:xfrm>
            <a:off x="200026" y="3056520"/>
            <a:ext cx="3937574" cy="1735320"/>
          </a:xfrm>
          <a:prstGeom prst="rect">
            <a:avLst/>
          </a:prstGeom>
        </p:spPr>
      </p:pic>
      <p:sp>
        <p:nvSpPr>
          <p:cNvPr id="4" name="Text 7"/>
          <p:cNvSpPr/>
          <p:nvPr/>
        </p:nvSpPr>
        <p:spPr>
          <a:xfrm>
            <a:off x="7013226" y="1545816"/>
            <a:ext cx="183383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u="sng" dirty="0">
                <a:solidFill>
                  <a:srgbClr val="2563E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Feedback &amp; Safeguards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572846" y="1905609"/>
            <a:ext cx="4345781" cy="1138535"/>
            <a:chOff x="4857750" y="1795760"/>
            <a:chExt cx="3993356" cy="857250"/>
          </a:xfrm>
        </p:grpSpPr>
        <p:sp>
          <p:nvSpPr>
            <p:cNvPr id="5" name="Shape 8"/>
            <p:cNvSpPr/>
            <p:nvPr/>
          </p:nvSpPr>
          <p:spPr>
            <a:xfrm>
              <a:off x="4857750" y="1795760"/>
              <a:ext cx="3993356" cy="857250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18181B"/>
              </a:solidFill>
              <a:prstDash val="solid"/>
            </a:ln>
          </p:spPr>
        </p:sp>
        <p:pic>
          <p:nvPicPr>
            <p:cNvPr id="6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0625" y="1870111"/>
              <a:ext cx="151892" cy="128588"/>
            </a:xfrm>
            <a:prstGeom prst="rect">
              <a:avLst/>
            </a:prstGeom>
          </p:spPr>
        </p:pic>
        <p:sp>
          <p:nvSpPr>
            <p:cNvPr id="7" name="Text 9"/>
            <p:cNvSpPr/>
            <p:nvPr/>
          </p:nvSpPr>
          <p:spPr>
            <a:xfrm>
              <a:off x="5200650" y="1881309"/>
              <a:ext cx="992806" cy="1158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1100" b="1" dirty="0">
                  <a:solidFill>
                    <a:srgbClr val="18181B"/>
                  </a:solidFill>
                  <a:latin typeface="Times New Roman" panose="02020603050405020304" pitchFamily="18" charset="0"/>
                  <a:ea typeface="Space Grotesk" pitchFamily="34" charset="-122"/>
                  <a:cs typeface="Times New Roman" panose="02020603050405020304" pitchFamily="18" charset="0"/>
                </a:rPr>
                <a:t>Instant Feedback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10"/>
            <p:cNvSpPr/>
            <p:nvPr/>
          </p:nvSpPr>
          <p:spPr>
            <a:xfrm>
              <a:off x="5000625" y="2188666"/>
              <a:ext cx="3707606" cy="251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1100" dirty="0">
                  <a:solidFill>
                    <a:srgbClr val="3F3F4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Students receive their score and percentage immediately upon completion, providing transparency and reducing wait times.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 2"/>
          <p:cNvSpPr/>
          <p:nvPr/>
        </p:nvSpPr>
        <p:spPr>
          <a:xfrm>
            <a:off x="292894" y="292894"/>
            <a:ext cx="4371902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RESULTS </a:t>
            </a: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&amp;  SUBMISSION  SAFETY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572000" y="3300710"/>
            <a:ext cx="4345781" cy="1028700"/>
            <a:chOff x="4857750" y="2824460"/>
            <a:chExt cx="3993356" cy="857250"/>
          </a:xfrm>
        </p:grpSpPr>
        <p:sp>
          <p:nvSpPr>
            <p:cNvPr id="9" name="Shape 11"/>
            <p:cNvSpPr/>
            <p:nvPr/>
          </p:nvSpPr>
          <p:spPr>
            <a:xfrm>
              <a:off x="4857750" y="2824460"/>
              <a:ext cx="3993356" cy="857250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18181B"/>
              </a:solidFill>
              <a:prstDash val="solid"/>
            </a:ln>
          </p:spPr>
        </p:sp>
        <p:pic>
          <p:nvPicPr>
            <p:cNvPr id="10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84615" y="2917272"/>
              <a:ext cx="151174" cy="128588"/>
            </a:xfrm>
            <a:prstGeom prst="rect">
              <a:avLst/>
            </a:prstGeom>
          </p:spPr>
        </p:pic>
        <p:sp>
          <p:nvSpPr>
            <p:cNvPr id="11" name="Text 12"/>
            <p:cNvSpPr/>
            <p:nvPr/>
          </p:nvSpPr>
          <p:spPr>
            <a:xfrm>
              <a:off x="5200650" y="2917272"/>
              <a:ext cx="1282989" cy="128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1100" b="1" dirty="0">
                  <a:solidFill>
                    <a:srgbClr val="18181B"/>
                  </a:solidFill>
                  <a:latin typeface="Times New Roman" panose="02020603050405020304" pitchFamily="18" charset="0"/>
                  <a:ea typeface="Space Grotesk" pitchFamily="34" charset="-122"/>
                  <a:cs typeface="Times New Roman" panose="02020603050405020304" pitchFamily="18" charset="0"/>
                </a:rPr>
                <a:t>Submission Safeguards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3"/>
            <p:cNvSpPr/>
            <p:nvPr/>
          </p:nvSpPr>
          <p:spPr>
            <a:xfrm>
              <a:off x="5000625" y="3217366"/>
              <a:ext cx="3707606" cy="277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1100" dirty="0">
                  <a:solidFill>
                    <a:srgbClr val="3F3F4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Confirmation prompts prevent accidental submissions, while unanswered alerts warn students before they finalize their test.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6503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2"/>
          <p:cNvSpPr/>
          <p:nvPr/>
        </p:nvSpPr>
        <p:spPr>
          <a:xfrm>
            <a:off x="292894" y="292894"/>
            <a:ext cx="1317668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 smtClean="0">
                <a:solidFill>
                  <a:srgbClr val="18181B"/>
                </a:solidFill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LOG FILE: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4" y="786912"/>
            <a:ext cx="8618867" cy="417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1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713231"/>
            <a:ext cx="2494914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Backend Architecture</a:t>
            </a:r>
            <a:r>
              <a:rPr lang="en-US" sz="2436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endParaRPr lang="en-US" sz="2436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555049"/>
            <a:ext cx="3571875" cy="9697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555049"/>
            <a:ext cx="28575" cy="969764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6" name="Text 3"/>
          <p:cNvSpPr/>
          <p:nvPr/>
        </p:nvSpPr>
        <p:spPr>
          <a:xfrm>
            <a:off x="542925" y="1659470"/>
            <a:ext cx="142987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6AD55"/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Framework: Flask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2924" y="1936168"/>
            <a:ext cx="3343275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Chosen for its lightweight nature and extensibility, allowing for rapid REST API development.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8625" y="2596251"/>
            <a:ext cx="3571875" cy="9697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596251"/>
            <a:ext cx="28575" cy="969764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10" name="Text 7"/>
          <p:cNvSpPr/>
          <p:nvPr/>
        </p:nvSpPr>
        <p:spPr>
          <a:xfrm>
            <a:off x="542925" y="2697658"/>
            <a:ext cx="136095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6AD55"/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Database: SQLite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2925" y="2989436"/>
            <a:ext cx="3343275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Integrated with custom row factories for high-performance data retrieval and storage.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8625" y="3637452"/>
            <a:ext cx="3571875" cy="9697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637452"/>
            <a:ext cx="28575" cy="969764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14" name="Text 11"/>
          <p:cNvSpPr/>
          <p:nvPr/>
        </p:nvSpPr>
        <p:spPr>
          <a:xfrm>
            <a:off x="597430" y="3744304"/>
            <a:ext cx="143949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6AD55"/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Security: SHA-256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7430" y="4016764"/>
            <a:ext cx="3343275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Implemented robust password hashing and Bearer token-based session management.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889494" y="2122502"/>
            <a:ext cx="3984933" cy="2092168"/>
            <a:chOff x="4843464" y="1555049"/>
            <a:chExt cx="3729036" cy="1594251"/>
          </a:xfrm>
        </p:grpSpPr>
        <p:sp>
          <p:nvSpPr>
            <p:cNvPr id="16" name="Shape 13"/>
            <p:cNvSpPr/>
            <p:nvPr/>
          </p:nvSpPr>
          <p:spPr>
            <a:xfrm>
              <a:off x="4843464" y="1555049"/>
              <a:ext cx="3729036" cy="1594251"/>
            </a:xfrm>
            <a:prstGeom prst="rect">
              <a:avLst/>
            </a:prstGeom>
            <a:solidFill>
              <a:srgbClr val="000000"/>
            </a:solidFill>
            <a:ln w="9144">
              <a:solidFill>
                <a:srgbClr val="4A5568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5000625" y="1726499"/>
              <a:ext cx="1768576" cy="1194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71809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# Core Backend Configuration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000625" y="1990818"/>
              <a:ext cx="2850123" cy="1194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from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flask </a:t>
              </a: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import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Flask | app = Flask(__name__)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000625" y="2255137"/>
              <a:ext cx="3571875" cy="2382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71809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# Token-based Security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def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sz="1100" dirty="0">
                  <a:solidFill>
                    <a:srgbClr val="F6AD55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hash_password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(password): </a:t>
              </a: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hashlib.sha256(password.encode()).hexdigest()</a:t>
              </a:r>
              <a:endParaRPr lang="en-US" sz="11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000625" y="2669474"/>
              <a:ext cx="3571875" cy="3569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1100" dirty="0">
                  <a:solidFill>
                    <a:srgbClr val="718096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# DB Connection Helper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def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</a:t>
              </a:r>
              <a:r>
                <a:rPr lang="en-US" sz="1100" dirty="0">
                  <a:solidFill>
                    <a:srgbClr val="F6AD55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get_db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(): conn = sqlite3.connect(DB_PATH); conn.row_factory = sqlite3.Row; </a:t>
              </a:r>
              <a:r>
                <a:rPr lang="en-US" sz="1100" dirty="0">
                  <a:solidFill>
                    <a:srgbClr val="63B3E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1100" dirty="0">
                  <a:solidFill>
                    <a:srgbClr val="48BB78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conn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560876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4909998" cy="367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 Interface: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Immersive Exam Experience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8922" y="1509286"/>
            <a:ext cx="4023078" cy="574340"/>
            <a:chOff x="548922" y="1509286"/>
            <a:chExt cx="4023078" cy="574340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922" y="1517545"/>
              <a:ext cx="200025" cy="200025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792091" y="1509286"/>
              <a:ext cx="1941109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Full-Screen Environment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74316" y="1710960"/>
              <a:ext cx="3797684" cy="372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Forced full-screen mode using PyQt5 to minimize distractions and prevent unauthorized application switching.</a:t>
              </a:r>
              <a:endPara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47974" y="2318198"/>
            <a:ext cx="4002986" cy="588834"/>
            <a:chOff x="548922" y="2615896"/>
            <a:chExt cx="4002986" cy="588834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922" y="2615896"/>
              <a:ext cx="200025" cy="200025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791617" y="2615896"/>
              <a:ext cx="1585178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Smart Timer System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4"/>
            <p:cNvSpPr/>
            <p:nvPr/>
          </p:nvSpPr>
          <p:spPr>
            <a:xfrm>
              <a:off x="771525" y="2832064"/>
              <a:ext cx="3780383" cy="372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Integrated countdown timer with real-time updates and automatic exam submission upon time expiry.</a:t>
              </a:r>
              <a:endPara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34528" y="3191318"/>
            <a:ext cx="4002512" cy="591284"/>
            <a:chOff x="548922" y="3705975"/>
            <a:chExt cx="4002512" cy="591284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922" y="3714248"/>
              <a:ext cx="200025" cy="200025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792091" y="3705975"/>
              <a:ext cx="1570943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Seamless Navigation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6"/>
            <p:cNvSpPr/>
            <p:nvPr/>
          </p:nvSpPr>
          <p:spPr>
            <a:xfrm>
              <a:off x="771525" y="3924593"/>
              <a:ext cx="3779909" cy="372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Intuitive previous/next question flow with a persistent progress tracker for optimal time management.</a:t>
              </a:r>
              <a:endPara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834063" y="1345499"/>
            <a:ext cx="2871788" cy="3295055"/>
            <a:chOff x="5700713" y="1469324"/>
            <a:chExt cx="2871788" cy="3295055"/>
          </a:xfrm>
        </p:grpSpPr>
        <p:sp>
          <p:nvSpPr>
            <p:cNvPr id="13" name="Shape 7"/>
            <p:cNvSpPr/>
            <p:nvPr/>
          </p:nvSpPr>
          <p:spPr>
            <a:xfrm>
              <a:off x="5700713" y="1469324"/>
              <a:ext cx="2871788" cy="3295055"/>
            </a:xfrm>
            <a:prstGeom prst="rect">
              <a:avLst/>
            </a:prstGeom>
            <a:solidFill>
              <a:srgbClr val="2D3748"/>
            </a:solidFill>
            <a:ln w="9144">
              <a:solidFill>
                <a:srgbClr val="4A5568"/>
              </a:solidFill>
              <a:prstDash val="solid"/>
            </a:ln>
          </p:spPr>
        </p:sp>
        <p:sp>
          <p:nvSpPr>
            <p:cNvPr id="14" name="Shape 8"/>
            <p:cNvSpPr/>
            <p:nvPr/>
          </p:nvSpPr>
          <p:spPr>
            <a:xfrm>
              <a:off x="6452592" y="2350684"/>
              <a:ext cx="1382316" cy="264319"/>
            </a:xfrm>
            <a:prstGeom prst="rect">
              <a:avLst/>
            </a:prstGeom>
            <a:solidFill>
              <a:srgbClr val="63B3ED"/>
            </a:solidFill>
            <a:ln/>
          </p:spPr>
        </p:sp>
        <p:sp>
          <p:nvSpPr>
            <p:cNvPr id="15" name="Text 9"/>
            <p:cNvSpPr/>
            <p:nvPr/>
          </p:nvSpPr>
          <p:spPr>
            <a:xfrm>
              <a:off x="6452592" y="2350684"/>
              <a:ext cx="1382316" cy="278538"/>
            </a:xfrm>
            <a:prstGeom prst="rect">
              <a:avLst/>
            </a:prstGeom>
            <a:noFill/>
            <a:ln/>
          </p:spPr>
          <p:txBody>
            <a:bodyPr wrap="square" lIns="136017" tIns="68072" rIns="136017" bIns="68072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84" b="1" dirty="0">
                  <a:solidFill>
                    <a:srgbClr val="1A202C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PYQT5 DESKTOP APP</a:t>
              </a:r>
              <a:endParaRPr lang="en-US" sz="78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15125" y="2672153"/>
              <a:ext cx="857250" cy="857250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6566892" y="3557978"/>
              <a:ext cx="1037143" cy="1410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834" dirty="0">
                  <a:solidFill>
                    <a:srgbClr val="48BB78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SYSTEM_UI: ACTIVE</a:t>
              </a:r>
              <a:endParaRPr lang="en-US" sz="83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1"/>
            <p:cNvSpPr/>
            <p:nvPr/>
          </p:nvSpPr>
          <p:spPr>
            <a:xfrm>
              <a:off x="6415088" y="3750859"/>
              <a:ext cx="1386598" cy="115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727" dirty="0">
                  <a:solidFill>
                    <a:srgbClr val="718096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RENDER_MODE: FULL_SCREEN</a:t>
              </a:r>
              <a:endParaRPr lang="en-US" sz="727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541722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4778231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Anti-Cheat System</a:t>
            </a:r>
            <a:r>
              <a:rPr lang="en-US" sz="2436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Multi-Layered Protection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03" y="1441345"/>
            <a:ext cx="239575" cy="239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509" y="1435652"/>
            <a:ext cx="149874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Process Monitoring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92981" y="1671395"/>
            <a:ext cx="390124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scanning for banned applications: Chrome, Firefox, VS Code, and Telegram.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6" y="2216181"/>
            <a:ext cx="225028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2981" y="2181913"/>
            <a:ext cx="1271182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System Integrity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04450" y="2413992"/>
            <a:ext cx="3889772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OS-level detection of Alt+Tab events and screen locking to prevent external resource access.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74" y="2991574"/>
            <a:ext cx="250031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4450" y="2995407"/>
            <a:ext cx="135267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JetBrains Mono" pitchFamily="34" charset="-122"/>
                <a:cs typeface="Times New Roman" panose="02020603050405020304" pitchFamily="18" charset="0"/>
              </a:rPr>
              <a:t>Network Analysis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04450" y="3238891"/>
            <a:ext cx="386476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Monitoring for suspicious external socket connections exceeding predefined thresholds.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133975" y="1725596"/>
            <a:ext cx="3714750" cy="2045401"/>
            <a:chOff x="4857750" y="1412174"/>
            <a:chExt cx="3714750" cy="2045401"/>
          </a:xfrm>
        </p:grpSpPr>
        <p:sp>
          <p:nvSpPr>
            <p:cNvPr id="13" name="Shape 7"/>
            <p:cNvSpPr/>
            <p:nvPr/>
          </p:nvSpPr>
          <p:spPr>
            <a:xfrm>
              <a:off x="4857750" y="1440749"/>
              <a:ext cx="3714750" cy="2016826"/>
            </a:xfrm>
            <a:prstGeom prst="rect">
              <a:avLst/>
            </a:prstGeom>
            <a:solidFill>
              <a:srgbClr val="2D3748"/>
            </a:solidFill>
            <a:ln/>
          </p:spPr>
        </p:sp>
        <p:sp>
          <p:nvSpPr>
            <p:cNvPr id="14" name="Shape 8"/>
            <p:cNvSpPr/>
            <p:nvPr/>
          </p:nvSpPr>
          <p:spPr>
            <a:xfrm>
              <a:off x="4857750" y="1412174"/>
              <a:ext cx="3714750" cy="28575"/>
            </a:xfrm>
            <a:prstGeom prst="rect">
              <a:avLst/>
            </a:prstGeom>
            <a:solidFill>
              <a:srgbClr val="F6AD55"/>
            </a:solidFill>
            <a:ln/>
          </p:spPr>
        </p:sp>
        <p:sp>
          <p:nvSpPr>
            <p:cNvPr id="15" name="Text 9"/>
            <p:cNvSpPr/>
            <p:nvPr/>
          </p:nvSpPr>
          <p:spPr>
            <a:xfrm>
              <a:off x="5143500" y="1497899"/>
              <a:ext cx="1205458" cy="1647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b="1" dirty="0">
                  <a:solidFill>
                    <a:srgbClr val="F6AD55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VIOLATION LOGIC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0"/>
            <p:cNvSpPr/>
            <p:nvPr/>
          </p:nvSpPr>
          <p:spPr>
            <a:xfrm>
              <a:off x="5353050" y="1820559"/>
              <a:ext cx="1119409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IF violation_detected: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11"/>
            <p:cNvSpPr/>
            <p:nvPr/>
          </p:nvSpPr>
          <p:spPr>
            <a:xfrm>
              <a:off x="5353050" y="2013440"/>
              <a:ext cx="1141851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log_event(event_type)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2"/>
            <p:cNvSpPr/>
            <p:nvPr/>
          </p:nvSpPr>
          <p:spPr>
            <a:xfrm>
              <a:off x="5353050" y="2206321"/>
              <a:ext cx="1074525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violation_count += 1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5353050" y="2399202"/>
              <a:ext cx="1238031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IF violation_count &gt;= 5: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14"/>
            <p:cNvSpPr/>
            <p:nvPr/>
          </p:nvSpPr>
          <p:spPr>
            <a:xfrm>
              <a:off x="5353050" y="2592084"/>
              <a:ext cx="923843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terminate_exam()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5"/>
            <p:cNvSpPr/>
            <p:nvPr/>
          </p:nvSpPr>
          <p:spPr>
            <a:xfrm>
              <a:off x="5353050" y="2784965"/>
              <a:ext cx="1122615" cy="132857"/>
            </a:xfrm>
            <a:prstGeom prst="rect">
              <a:avLst/>
            </a:prstGeom>
            <a:noFill/>
            <a:ln/>
          </p:spPr>
          <p:txBody>
            <a:bodyPr wrap="none" lIns="102108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E2E8F0"/>
                  </a:solidFill>
                  <a:latin typeface="Times New Roman" panose="02020603050405020304" pitchFamily="18" charset="0"/>
                  <a:ea typeface="JetBrains Mono" pitchFamily="34" charset="-122"/>
                  <a:cs typeface="Times New Roman" panose="02020603050405020304" pitchFamily="18" charset="0"/>
                </a:rPr>
                <a:t>notify_admin(critical)</a:t>
              </a:r>
              <a:endParaRPr 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43500" y="3119828"/>
              <a:ext cx="128588" cy="128588"/>
            </a:xfrm>
            <a:prstGeom prst="rect">
              <a:avLst/>
            </a:prstGeom>
          </p:spPr>
        </p:pic>
        <p:sp>
          <p:nvSpPr>
            <p:cNvPr id="23" name="Text 16"/>
            <p:cNvSpPr/>
            <p:nvPr/>
          </p:nvSpPr>
          <p:spPr>
            <a:xfrm>
              <a:off x="5357813" y="3106434"/>
              <a:ext cx="2398092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1000" b="1" dirty="0">
                  <a:solidFill>
                    <a:srgbClr val="F6AD5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AUTOMATED SESSION TERMINATION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90084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302380" y="4557721"/>
            <a:ext cx="230864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onotype Corsiva" panose="03010101010201010101" pitchFamily="66" charset="0"/>
              </a:rPr>
              <a:t>Team “Double Quotation”</a:t>
            </a:r>
            <a:endParaRPr lang="en-US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Monotype Corsiva" panose="03010101010201010101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73853"/>
            <a:ext cx="9144000" cy="30469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9200" dirty="0" smtClean="0">
                <a:latin typeface="Gabriola" panose="04040605051002020D02" pitchFamily="82" charset="0"/>
              </a:rPr>
              <a:t>Thank You</a:t>
            </a:r>
            <a:endParaRPr lang="en-US" sz="19200" dirty="0">
              <a:latin typeface="Gabriola" panose="04040605051002020D02" pitchFamily="82" charset="0"/>
            </a:endParaRPr>
          </a:p>
        </p:txBody>
      </p:sp>
      <p:sp>
        <p:nvSpPr>
          <p:cNvPr id="4" name="Text 5"/>
          <p:cNvSpPr/>
          <p:nvPr/>
        </p:nvSpPr>
        <p:spPr>
          <a:xfrm>
            <a:off x="2428875" y="3367385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3F3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future of digital education integrity through secure and innovative examination solutions.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drap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768</Words>
  <Application>Microsoft Office PowerPoint</Application>
  <PresentationFormat>On-screen Show (16:9)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Gabriola</vt:lpstr>
      <vt:lpstr>Inter</vt:lpstr>
      <vt:lpstr>JetBrains Mono</vt:lpstr>
      <vt:lpstr>Monotype Corsiva</vt:lpstr>
      <vt:lpstr>Space Grotesk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IT's  RZB</cp:lastModifiedBy>
  <cp:revision>82</cp:revision>
  <dcterms:created xsi:type="dcterms:W3CDTF">2026-02-03T17:03:33Z</dcterms:created>
  <dcterms:modified xsi:type="dcterms:W3CDTF">2026-04-12T14:18:53Z</dcterms:modified>
</cp:coreProperties>
</file>