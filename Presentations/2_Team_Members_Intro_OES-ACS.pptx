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9" r:id="rId2"/>
    <p:sldId id="256" r:id="rId3"/>
    <p:sldId id="268" r:id="rId4"/>
    <p:sldId id="259" r:id="rId5"/>
    <p:sldId id="260" r:id="rId6"/>
    <p:sldId id="261" r:id="rId7"/>
    <p:sldId id="262" r:id="rId8"/>
    <p:sldId id="263" r:id="rId9"/>
    <p:sldId id="264" r:id="rId10"/>
    <p:sldId id="267"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431" autoAdjust="0"/>
  </p:normalViewPr>
  <p:slideViewPr>
    <p:cSldViewPr snapToGrid="0" snapToObjects="1">
      <p:cViewPr varScale="1">
        <p:scale>
          <a:sx n="84" d="100"/>
          <a:sy n="84" d="100"/>
        </p:scale>
        <p:origin x="996"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4.png"/></Relationships>
</file>

<file path=ppt/diagrams/_rels/data2.xml.rels><?xml version="1.0" encoding="UTF-8" standalone="yes"?>
<Relationships xmlns="http://schemas.openxmlformats.org/package/2006/relationships"><Relationship Id="rId1" Type="http://schemas.openxmlformats.org/officeDocument/2006/relationships/image" Target="../media/image5.jpeg"/></Relationships>
</file>

<file path=ppt/diagrams/_rels/data3.xml.rels><?xml version="1.0" encoding="UTF-8" standalone="yes"?>
<Relationships xmlns="http://schemas.openxmlformats.org/package/2006/relationships"><Relationship Id="rId1" Type="http://schemas.openxmlformats.org/officeDocument/2006/relationships/image" Target="../media/image6.jpg"/></Relationships>
</file>

<file path=ppt/diagrams/_rels/data4.xml.rels><?xml version="1.0" encoding="UTF-8" standalone="yes"?>
<Relationships xmlns="http://schemas.openxmlformats.org/package/2006/relationships"><Relationship Id="rId1" Type="http://schemas.openxmlformats.org/officeDocument/2006/relationships/image" Target="../media/image7.jpg"/></Relationships>
</file>

<file path=ppt/diagrams/_rels/data5.xml.rels><?xml version="1.0" encoding="UTF-8" standalone="yes"?>
<Relationships xmlns="http://schemas.openxmlformats.org/package/2006/relationships"><Relationship Id="rId1" Type="http://schemas.openxmlformats.org/officeDocument/2006/relationships/image" Target="../media/image8.jpg"/></Relationships>
</file>

<file path=ppt/diagrams/_rels/drawing1.xml.rels><?xml version="1.0" encoding="UTF-8" standalone="yes"?>
<Relationships xmlns="http://schemas.openxmlformats.org/package/2006/relationships"><Relationship Id="rId1" Type="http://schemas.openxmlformats.org/officeDocument/2006/relationships/image" Target="../media/image4.png"/></Relationships>
</file>

<file path=ppt/diagrams/_rels/drawing2.xml.rels><?xml version="1.0" encoding="UTF-8" standalone="yes"?>
<Relationships xmlns="http://schemas.openxmlformats.org/package/2006/relationships"><Relationship Id="rId1" Type="http://schemas.openxmlformats.org/officeDocument/2006/relationships/image" Target="../media/image5.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6.jpg"/></Relationships>
</file>

<file path=ppt/diagrams/_rels/drawing4.xml.rels><?xml version="1.0" encoding="UTF-8" standalone="yes"?>
<Relationships xmlns="http://schemas.openxmlformats.org/package/2006/relationships"><Relationship Id="rId1" Type="http://schemas.openxmlformats.org/officeDocument/2006/relationships/image" Target="../media/image7.jpg"/></Relationships>
</file>

<file path=ppt/diagrams/_rels/drawing5.xml.rels><?xml version="1.0" encoding="UTF-8" standalone="yes"?>
<Relationships xmlns="http://schemas.openxmlformats.org/package/2006/relationships"><Relationship Id="rId1" Type="http://schemas.openxmlformats.org/officeDocument/2006/relationships/image" Target="../media/image8.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E611EA-B515-4769-B08B-ECDF7F263E92}" type="doc">
      <dgm:prSet loTypeId="urn:microsoft.com/office/officeart/2008/layout/AscendingPictureAccentProcess" loCatId="process" qsTypeId="urn:microsoft.com/office/officeart/2005/8/quickstyle/simple5" qsCatId="simple" csTypeId="urn:microsoft.com/office/officeart/2005/8/colors/accent1_2" csCatId="accent1" phldr="1"/>
      <dgm:spPr/>
    </dgm:pt>
    <dgm:pt modelId="{F7BCB180-7845-4330-9A75-38299ACF1EC0}">
      <dgm:prSet phldrT="[Text]"/>
      <dgm:spPr/>
      <dgm:t>
        <a:bodyPr/>
        <a:lstStyle/>
        <a:p>
          <a:pPr algn="ctr"/>
          <a:r>
            <a:rPr lang="en-US" dirty="0" smtClean="0"/>
            <a:t>Polash</a:t>
          </a:r>
          <a:endParaRPr lang="en-US" dirty="0"/>
        </a:p>
      </dgm:t>
    </dgm:pt>
    <dgm:pt modelId="{3DD732DE-98BD-4219-95DF-312CF3D9ABFA}" type="parTrans" cxnId="{E83F109A-1CA7-4975-B955-93F41E8C0283}">
      <dgm:prSet/>
      <dgm:spPr/>
      <dgm:t>
        <a:bodyPr/>
        <a:lstStyle/>
        <a:p>
          <a:endParaRPr lang="en-US"/>
        </a:p>
      </dgm:t>
    </dgm:pt>
    <dgm:pt modelId="{F3128900-7A63-41F9-A8D5-3E8AA8655B50}" type="sibTrans" cxnId="{E83F109A-1CA7-4975-B955-93F41E8C0283}">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19000" r="-19000"/>
          </a:stretch>
        </a:blipFill>
      </dgm:spPr>
      <dgm:t>
        <a:bodyPr/>
        <a:lstStyle/>
        <a:p>
          <a:endParaRPr lang="en-US"/>
        </a:p>
      </dgm:t>
    </dgm:pt>
    <dgm:pt modelId="{01E1D332-A633-4AC5-BCE2-ED323DE3EDD6}" type="pres">
      <dgm:prSet presAssocID="{17E611EA-B515-4769-B08B-ECDF7F263E92}" presName="Name0" presStyleCnt="0">
        <dgm:presLayoutVars>
          <dgm:chMax val="7"/>
          <dgm:chPref val="7"/>
          <dgm:dir/>
        </dgm:presLayoutVars>
      </dgm:prSet>
      <dgm:spPr/>
    </dgm:pt>
    <dgm:pt modelId="{C0057384-8CA1-433A-9A51-7824AA463809}" type="pres">
      <dgm:prSet presAssocID="{F7BCB180-7845-4330-9A75-38299ACF1EC0}" presName="parTx1" presStyleLbl="node1" presStyleIdx="0" presStyleCnt="1"/>
      <dgm:spPr/>
      <dgm:t>
        <a:bodyPr/>
        <a:lstStyle/>
        <a:p>
          <a:endParaRPr lang="en-US"/>
        </a:p>
      </dgm:t>
    </dgm:pt>
    <dgm:pt modelId="{89B7F782-3DB1-4E0A-8E36-BACBFF643215}" type="pres">
      <dgm:prSet presAssocID="{F3128900-7A63-41F9-A8D5-3E8AA8655B50}" presName="picture1" presStyleCnt="0"/>
      <dgm:spPr/>
    </dgm:pt>
    <dgm:pt modelId="{08279268-8CB9-4F5E-9CB7-1D93790FDB7C}" type="pres">
      <dgm:prSet presAssocID="{F3128900-7A63-41F9-A8D5-3E8AA8655B50}" presName="imageRepeatNode" presStyleLbl="fgImgPlace1" presStyleIdx="0" presStyleCnt="1" custScaleX="104472" custScaleY="103578"/>
      <dgm:spPr/>
      <dgm:t>
        <a:bodyPr/>
        <a:lstStyle/>
        <a:p>
          <a:endParaRPr lang="en-US"/>
        </a:p>
      </dgm:t>
    </dgm:pt>
  </dgm:ptLst>
  <dgm:cxnLst>
    <dgm:cxn modelId="{E83F109A-1CA7-4975-B955-93F41E8C0283}" srcId="{17E611EA-B515-4769-B08B-ECDF7F263E92}" destId="{F7BCB180-7845-4330-9A75-38299ACF1EC0}" srcOrd="0" destOrd="0" parTransId="{3DD732DE-98BD-4219-95DF-312CF3D9ABFA}" sibTransId="{F3128900-7A63-41F9-A8D5-3E8AA8655B50}"/>
    <dgm:cxn modelId="{81179726-B74A-40EF-951F-A78AD89A31AE}" type="presOf" srcId="{F7BCB180-7845-4330-9A75-38299ACF1EC0}" destId="{C0057384-8CA1-433A-9A51-7824AA463809}" srcOrd="0" destOrd="0" presId="urn:microsoft.com/office/officeart/2008/layout/AscendingPictureAccentProcess"/>
    <dgm:cxn modelId="{36DAA7B8-57F9-4F09-BF08-E5E7A8ACD745}" type="presOf" srcId="{F3128900-7A63-41F9-A8D5-3E8AA8655B50}" destId="{08279268-8CB9-4F5E-9CB7-1D93790FDB7C}" srcOrd="0" destOrd="0" presId="urn:microsoft.com/office/officeart/2008/layout/AscendingPictureAccentProcess"/>
    <dgm:cxn modelId="{CCB2CC55-62B3-4D1B-9194-585C942C9447}" type="presOf" srcId="{17E611EA-B515-4769-B08B-ECDF7F263E92}" destId="{01E1D332-A633-4AC5-BCE2-ED323DE3EDD6}" srcOrd="0" destOrd="0" presId="urn:microsoft.com/office/officeart/2008/layout/AscendingPictureAccentProcess"/>
    <dgm:cxn modelId="{C474DF61-750E-40B2-B31B-89B16D662E5E}" type="presParOf" srcId="{01E1D332-A633-4AC5-BCE2-ED323DE3EDD6}" destId="{C0057384-8CA1-433A-9A51-7824AA463809}" srcOrd="0" destOrd="0" presId="urn:microsoft.com/office/officeart/2008/layout/AscendingPictureAccentProcess"/>
    <dgm:cxn modelId="{285D90ED-E531-49ED-AC36-44A3241DE041}" type="presParOf" srcId="{01E1D332-A633-4AC5-BCE2-ED323DE3EDD6}" destId="{89B7F782-3DB1-4E0A-8E36-BACBFF643215}" srcOrd="1" destOrd="0" presId="urn:microsoft.com/office/officeart/2008/layout/AscendingPictureAccentProcess"/>
    <dgm:cxn modelId="{72E2F594-104D-4251-AF6C-8342A6AAD0E2}" type="presParOf" srcId="{89B7F782-3DB1-4E0A-8E36-BACBFF643215}" destId="{08279268-8CB9-4F5E-9CB7-1D93790FDB7C}" srcOrd="0" destOrd="0" presId="urn:microsoft.com/office/officeart/2008/layout/AscendingPictureAccent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FF8D02-9BFC-4B5F-9E15-EF8C6556C094}" type="doc">
      <dgm:prSet loTypeId="urn:microsoft.com/office/officeart/2008/layout/AscendingPictureAccentProcess" loCatId="process" qsTypeId="urn:microsoft.com/office/officeart/2005/8/quickstyle/simple5" qsCatId="simple" csTypeId="urn:microsoft.com/office/officeart/2005/8/colors/accent1_2" csCatId="accent1" phldr="1"/>
      <dgm:spPr/>
    </dgm:pt>
    <dgm:pt modelId="{F877F546-28F4-4967-A2EF-B9B78D5DB6B8}">
      <dgm:prSet phldrT="[Text]"/>
      <dgm:spPr/>
      <dgm:t>
        <a:bodyPr/>
        <a:lstStyle/>
        <a:p>
          <a:pPr algn="ctr"/>
          <a:r>
            <a:rPr lang="en-US" dirty="0" smtClean="0"/>
            <a:t>Ovi</a:t>
          </a:r>
          <a:endParaRPr lang="en-US" dirty="0"/>
        </a:p>
      </dgm:t>
    </dgm:pt>
    <dgm:pt modelId="{B6410EBB-6462-4153-BEB0-5104EA8342CF}" type="parTrans" cxnId="{3C12972F-6ACF-4EB5-A06C-F9B27D68C9A8}">
      <dgm:prSet/>
      <dgm:spPr/>
      <dgm:t>
        <a:bodyPr/>
        <a:lstStyle/>
        <a:p>
          <a:endParaRPr lang="en-US"/>
        </a:p>
      </dgm:t>
    </dgm:pt>
    <dgm:pt modelId="{C128299E-F76A-415C-AFB7-333358DAB264}" type="sibTrans" cxnId="{3C12972F-6ACF-4EB5-A06C-F9B27D68C9A8}">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23000" r="-23000"/>
          </a:stretch>
        </a:blipFill>
      </dgm:spPr>
      <dgm:t>
        <a:bodyPr/>
        <a:lstStyle/>
        <a:p>
          <a:endParaRPr lang="en-US"/>
        </a:p>
      </dgm:t>
    </dgm:pt>
    <dgm:pt modelId="{277BB57E-A099-4AC9-9D9F-68A5C7B4920B}" type="pres">
      <dgm:prSet presAssocID="{19FF8D02-9BFC-4B5F-9E15-EF8C6556C094}" presName="Name0" presStyleCnt="0">
        <dgm:presLayoutVars>
          <dgm:chMax val="7"/>
          <dgm:chPref val="7"/>
          <dgm:dir/>
        </dgm:presLayoutVars>
      </dgm:prSet>
      <dgm:spPr/>
    </dgm:pt>
    <dgm:pt modelId="{22B34567-96A4-4B9C-B1D0-C2498819E68E}" type="pres">
      <dgm:prSet presAssocID="{F877F546-28F4-4967-A2EF-B9B78D5DB6B8}" presName="parTx1" presStyleLbl="node1" presStyleIdx="0" presStyleCnt="1"/>
      <dgm:spPr/>
      <dgm:t>
        <a:bodyPr/>
        <a:lstStyle/>
        <a:p>
          <a:endParaRPr lang="en-US"/>
        </a:p>
      </dgm:t>
    </dgm:pt>
    <dgm:pt modelId="{0D3D7ABF-AECE-4C82-BA57-0FE5918E5921}" type="pres">
      <dgm:prSet presAssocID="{C128299E-F76A-415C-AFB7-333358DAB264}" presName="picture1" presStyleCnt="0"/>
      <dgm:spPr/>
    </dgm:pt>
    <dgm:pt modelId="{142D5DF1-59B0-4600-B1D8-32D83FF6B7FF}" type="pres">
      <dgm:prSet presAssocID="{C128299E-F76A-415C-AFB7-333358DAB264}" presName="imageRepeatNode" presStyleLbl="fgImgPlace1" presStyleIdx="0" presStyleCnt="1"/>
      <dgm:spPr/>
      <dgm:t>
        <a:bodyPr/>
        <a:lstStyle/>
        <a:p>
          <a:endParaRPr lang="en-US"/>
        </a:p>
      </dgm:t>
    </dgm:pt>
  </dgm:ptLst>
  <dgm:cxnLst>
    <dgm:cxn modelId="{90E7D82A-E77A-477F-9422-00F312E61439}" type="presOf" srcId="{F877F546-28F4-4967-A2EF-B9B78D5DB6B8}" destId="{22B34567-96A4-4B9C-B1D0-C2498819E68E}" srcOrd="0" destOrd="0" presId="urn:microsoft.com/office/officeart/2008/layout/AscendingPictureAccentProcess"/>
    <dgm:cxn modelId="{B316A311-A40C-4CEC-AD58-C51AE6E37D97}" type="presOf" srcId="{19FF8D02-9BFC-4B5F-9E15-EF8C6556C094}" destId="{277BB57E-A099-4AC9-9D9F-68A5C7B4920B}" srcOrd="0" destOrd="0" presId="urn:microsoft.com/office/officeart/2008/layout/AscendingPictureAccentProcess"/>
    <dgm:cxn modelId="{3A04EF66-233C-4ADE-8F7E-FFC37FD1F16C}" type="presOf" srcId="{C128299E-F76A-415C-AFB7-333358DAB264}" destId="{142D5DF1-59B0-4600-B1D8-32D83FF6B7FF}" srcOrd="0" destOrd="0" presId="urn:microsoft.com/office/officeart/2008/layout/AscendingPictureAccentProcess"/>
    <dgm:cxn modelId="{3C12972F-6ACF-4EB5-A06C-F9B27D68C9A8}" srcId="{19FF8D02-9BFC-4B5F-9E15-EF8C6556C094}" destId="{F877F546-28F4-4967-A2EF-B9B78D5DB6B8}" srcOrd="0" destOrd="0" parTransId="{B6410EBB-6462-4153-BEB0-5104EA8342CF}" sibTransId="{C128299E-F76A-415C-AFB7-333358DAB264}"/>
    <dgm:cxn modelId="{9386E4E3-84F9-42DE-8B32-BCFC1B6A7B27}" type="presParOf" srcId="{277BB57E-A099-4AC9-9D9F-68A5C7B4920B}" destId="{22B34567-96A4-4B9C-B1D0-C2498819E68E}" srcOrd="0" destOrd="0" presId="urn:microsoft.com/office/officeart/2008/layout/AscendingPictureAccentProcess"/>
    <dgm:cxn modelId="{03BD3CA0-CA3B-4BBA-854C-464298F81774}" type="presParOf" srcId="{277BB57E-A099-4AC9-9D9F-68A5C7B4920B}" destId="{0D3D7ABF-AECE-4C82-BA57-0FE5918E5921}" srcOrd="1" destOrd="0" presId="urn:microsoft.com/office/officeart/2008/layout/AscendingPictureAccentProcess"/>
    <dgm:cxn modelId="{41BA9ABE-A200-46E2-ABB9-687A24577030}" type="presParOf" srcId="{0D3D7ABF-AECE-4C82-BA57-0FE5918E5921}" destId="{142D5DF1-59B0-4600-B1D8-32D83FF6B7FF}" srcOrd="0" destOrd="0" presId="urn:microsoft.com/office/officeart/2008/layout/AscendingPictureAccentProces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9990E8-6B87-464A-BA33-80C87B604C78}" type="doc">
      <dgm:prSet loTypeId="urn:microsoft.com/office/officeart/2008/layout/AscendingPictureAccentProcess" loCatId="process" qsTypeId="urn:microsoft.com/office/officeart/2005/8/quickstyle/simple5" qsCatId="simple" csTypeId="urn:microsoft.com/office/officeart/2005/8/colors/accent1_2" csCatId="accent1" phldr="1"/>
      <dgm:spPr/>
    </dgm:pt>
    <dgm:pt modelId="{E0A1637F-2D01-4452-979E-02E7B22C7C36}">
      <dgm:prSet phldrT="[Text]"/>
      <dgm:spPr/>
      <dgm:t>
        <a:bodyPr/>
        <a:lstStyle/>
        <a:p>
          <a:pPr algn="ctr"/>
          <a:r>
            <a:rPr lang="en-US" dirty="0" smtClean="0"/>
            <a:t>Raja</a:t>
          </a:r>
          <a:endParaRPr lang="en-US" dirty="0"/>
        </a:p>
      </dgm:t>
    </dgm:pt>
    <dgm:pt modelId="{D00C93A4-AC22-4375-857A-3FB9564611AA}" type="parTrans" cxnId="{FD54B095-B2D9-48CD-A489-48D675C83D8E}">
      <dgm:prSet/>
      <dgm:spPr/>
      <dgm:t>
        <a:bodyPr/>
        <a:lstStyle/>
        <a:p>
          <a:endParaRPr lang="en-US"/>
        </a:p>
      </dgm:t>
    </dgm:pt>
    <dgm:pt modelId="{D0C58F89-5B6D-4C87-A7C6-5BEC95E29794}" type="sibTrans" cxnId="{FD54B095-B2D9-48CD-A489-48D675C83D8E}">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23000" r="-23000"/>
          </a:stretch>
        </a:blipFill>
      </dgm:spPr>
      <dgm:t>
        <a:bodyPr/>
        <a:lstStyle/>
        <a:p>
          <a:endParaRPr lang="en-US"/>
        </a:p>
      </dgm:t>
    </dgm:pt>
    <dgm:pt modelId="{64364053-8843-42F9-B4D6-445FD5C572DF}" type="pres">
      <dgm:prSet presAssocID="{D09990E8-6B87-464A-BA33-80C87B604C78}" presName="Name0" presStyleCnt="0">
        <dgm:presLayoutVars>
          <dgm:chMax val="7"/>
          <dgm:chPref val="7"/>
          <dgm:dir/>
        </dgm:presLayoutVars>
      </dgm:prSet>
      <dgm:spPr/>
    </dgm:pt>
    <dgm:pt modelId="{74448191-B235-467C-83D7-D0FB07D20070}" type="pres">
      <dgm:prSet presAssocID="{E0A1637F-2D01-4452-979E-02E7B22C7C36}" presName="parTx1" presStyleLbl="node1" presStyleIdx="0" presStyleCnt="1"/>
      <dgm:spPr/>
      <dgm:t>
        <a:bodyPr/>
        <a:lstStyle/>
        <a:p>
          <a:endParaRPr lang="en-US"/>
        </a:p>
      </dgm:t>
    </dgm:pt>
    <dgm:pt modelId="{AB36F5E1-4100-4E1D-AC96-4D7626713605}" type="pres">
      <dgm:prSet presAssocID="{D0C58F89-5B6D-4C87-A7C6-5BEC95E29794}" presName="picture1" presStyleCnt="0"/>
      <dgm:spPr/>
    </dgm:pt>
    <dgm:pt modelId="{AC858E47-D8FC-4180-BB68-B605B476FDFA}" type="pres">
      <dgm:prSet presAssocID="{D0C58F89-5B6D-4C87-A7C6-5BEC95E29794}" presName="imageRepeatNode" presStyleLbl="fgImgPlace1" presStyleIdx="0" presStyleCnt="1"/>
      <dgm:spPr/>
      <dgm:t>
        <a:bodyPr/>
        <a:lstStyle/>
        <a:p>
          <a:endParaRPr lang="en-US"/>
        </a:p>
      </dgm:t>
    </dgm:pt>
  </dgm:ptLst>
  <dgm:cxnLst>
    <dgm:cxn modelId="{FD54B095-B2D9-48CD-A489-48D675C83D8E}" srcId="{D09990E8-6B87-464A-BA33-80C87B604C78}" destId="{E0A1637F-2D01-4452-979E-02E7B22C7C36}" srcOrd="0" destOrd="0" parTransId="{D00C93A4-AC22-4375-857A-3FB9564611AA}" sibTransId="{D0C58F89-5B6D-4C87-A7C6-5BEC95E29794}"/>
    <dgm:cxn modelId="{420C9F7A-419F-4F77-8F21-7DE0818684EA}" type="presOf" srcId="{E0A1637F-2D01-4452-979E-02E7B22C7C36}" destId="{74448191-B235-467C-83D7-D0FB07D20070}" srcOrd="0" destOrd="0" presId="urn:microsoft.com/office/officeart/2008/layout/AscendingPictureAccentProcess"/>
    <dgm:cxn modelId="{99D129CE-DB91-4208-8D95-C49CB785D751}" type="presOf" srcId="{D0C58F89-5B6D-4C87-A7C6-5BEC95E29794}" destId="{AC858E47-D8FC-4180-BB68-B605B476FDFA}" srcOrd="0" destOrd="0" presId="urn:microsoft.com/office/officeart/2008/layout/AscendingPictureAccentProcess"/>
    <dgm:cxn modelId="{52F2A910-EC5C-445A-862E-2D9C0AAE1F39}" type="presOf" srcId="{D09990E8-6B87-464A-BA33-80C87B604C78}" destId="{64364053-8843-42F9-B4D6-445FD5C572DF}" srcOrd="0" destOrd="0" presId="urn:microsoft.com/office/officeart/2008/layout/AscendingPictureAccentProcess"/>
    <dgm:cxn modelId="{B5DBC720-3880-43BB-A7E4-1AD6132B0112}" type="presParOf" srcId="{64364053-8843-42F9-B4D6-445FD5C572DF}" destId="{74448191-B235-467C-83D7-D0FB07D20070}" srcOrd="0" destOrd="0" presId="urn:microsoft.com/office/officeart/2008/layout/AscendingPictureAccentProcess"/>
    <dgm:cxn modelId="{86D1B303-C4CF-4271-92F3-E311439988E2}" type="presParOf" srcId="{64364053-8843-42F9-B4D6-445FD5C572DF}" destId="{AB36F5E1-4100-4E1D-AC96-4D7626713605}" srcOrd="1" destOrd="0" presId="urn:microsoft.com/office/officeart/2008/layout/AscendingPictureAccentProcess"/>
    <dgm:cxn modelId="{E52833EA-1CAE-461C-A96E-B738FCAA5D9B}" type="presParOf" srcId="{AB36F5E1-4100-4E1D-AC96-4D7626713605}" destId="{AC858E47-D8FC-4180-BB68-B605B476FDFA}" srcOrd="0" destOrd="0" presId="urn:microsoft.com/office/officeart/2008/layout/AscendingPictureAccentProcess"/>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C8B2579-5D47-4EAF-831A-485C585B75A2}" type="doc">
      <dgm:prSet loTypeId="urn:microsoft.com/office/officeart/2008/layout/AscendingPictureAccentProcess" loCatId="process" qsTypeId="urn:microsoft.com/office/officeart/2005/8/quickstyle/simple1" qsCatId="simple" csTypeId="urn:microsoft.com/office/officeart/2005/8/colors/accent1_2" csCatId="accent1" phldr="1"/>
      <dgm:spPr/>
    </dgm:pt>
    <dgm:pt modelId="{9A54CA62-0C9F-4812-B490-03FBBADFAACD}">
      <dgm:prSet phldrT="[Text]"/>
      <dgm:spPr/>
      <dgm:t>
        <a:bodyPr/>
        <a:lstStyle/>
        <a:p>
          <a:pPr algn="ctr"/>
          <a:r>
            <a:rPr lang="en-US" dirty="0" smtClean="0"/>
            <a:t>Sanjida</a:t>
          </a:r>
          <a:endParaRPr lang="en-US" dirty="0"/>
        </a:p>
      </dgm:t>
    </dgm:pt>
    <dgm:pt modelId="{CFDC3A96-EABA-42A6-B961-6850CAA3863F}" type="parTrans" cxnId="{DC2D0AAE-0190-4D36-ADDE-09AB219EF9AA}">
      <dgm:prSet/>
      <dgm:spPr/>
      <dgm:t>
        <a:bodyPr/>
        <a:lstStyle/>
        <a:p>
          <a:endParaRPr lang="en-US"/>
        </a:p>
      </dgm:t>
    </dgm:pt>
    <dgm:pt modelId="{77F2BB91-3D12-41E9-9AF9-78C61F9C463E}" type="sibTrans" cxnId="{DC2D0AAE-0190-4D36-ADDE-09AB219EF9AA}">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38000" r="-38000"/>
          </a:stretch>
        </a:blipFill>
      </dgm:spPr>
      <dgm:t>
        <a:bodyPr/>
        <a:lstStyle/>
        <a:p>
          <a:endParaRPr lang="en-US"/>
        </a:p>
      </dgm:t>
      <dgm:extLst>
        <a:ext uri="{E40237B7-FDA0-4F09-8148-C483321AD2D9}">
          <dgm14:cNvPr xmlns:dgm14="http://schemas.microsoft.com/office/drawing/2010/diagram" id="0" name="" descr="Blank Facebook Profile Female"/>
        </a:ext>
      </dgm:extLst>
    </dgm:pt>
    <dgm:pt modelId="{2FB41C52-7AED-40B3-8BDC-5BB61FBDB0DD}" type="pres">
      <dgm:prSet presAssocID="{6C8B2579-5D47-4EAF-831A-485C585B75A2}" presName="Name0" presStyleCnt="0">
        <dgm:presLayoutVars>
          <dgm:chMax val="7"/>
          <dgm:chPref val="7"/>
          <dgm:dir/>
        </dgm:presLayoutVars>
      </dgm:prSet>
      <dgm:spPr/>
    </dgm:pt>
    <dgm:pt modelId="{0B6A5A89-29A6-4951-A94E-1A35272094BB}" type="pres">
      <dgm:prSet presAssocID="{9A54CA62-0C9F-4812-B490-03FBBADFAACD}" presName="parTx1" presStyleLbl="node1" presStyleIdx="0" presStyleCnt="1"/>
      <dgm:spPr/>
      <dgm:t>
        <a:bodyPr/>
        <a:lstStyle/>
        <a:p>
          <a:endParaRPr lang="en-US"/>
        </a:p>
      </dgm:t>
    </dgm:pt>
    <dgm:pt modelId="{2B5D5DF0-C4EE-4199-A593-92CCAF4F4106}" type="pres">
      <dgm:prSet presAssocID="{77F2BB91-3D12-41E9-9AF9-78C61F9C463E}" presName="picture1" presStyleCnt="0"/>
      <dgm:spPr/>
    </dgm:pt>
    <dgm:pt modelId="{09626D4C-A559-4CCE-A230-12447AD727DF}" type="pres">
      <dgm:prSet presAssocID="{77F2BB91-3D12-41E9-9AF9-78C61F9C463E}" presName="imageRepeatNode" presStyleLbl="fgImgPlace1" presStyleIdx="0" presStyleCnt="1"/>
      <dgm:spPr/>
      <dgm:t>
        <a:bodyPr/>
        <a:lstStyle/>
        <a:p>
          <a:endParaRPr lang="en-US"/>
        </a:p>
      </dgm:t>
    </dgm:pt>
  </dgm:ptLst>
  <dgm:cxnLst>
    <dgm:cxn modelId="{E5A1A5A1-C2A3-4EA5-BAA4-3C12CF54F643}" type="presOf" srcId="{9A54CA62-0C9F-4812-B490-03FBBADFAACD}" destId="{0B6A5A89-29A6-4951-A94E-1A35272094BB}" srcOrd="0" destOrd="0" presId="urn:microsoft.com/office/officeart/2008/layout/AscendingPictureAccentProcess"/>
    <dgm:cxn modelId="{D0FDC6A2-CA4A-412E-8B13-73966CE67129}" type="presOf" srcId="{77F2BB91-3D12-41E9-9AF9-78C61F9C463E}" destId="{09626D4C-A559-4CCE-A230-12447AD727DF}" srcOrd="0" destOrd="0" presId="urn:microsoft.com/office/officeart/2008/layout/AscendingPictureAccentProcess"/>
    <dgm:cxn modelId="{EDEDAF07-E1BE-4FFD-8C6D-CC2FFAA6B392}" type="presOf" srcId="{6C8B2579-5D47-4EAF-831A-485C585B75A2}" destId="{2FB41C52-7AED-40B3-8BDC-5BB61FBDB0DD}" srcOrd="0" destOrd="0" presId="urn:microsoft.com/office/officeart/2008/layout/AscendingPictureAccentProcess"/>
    <dgm:cxn modelId="{DC2D0AAE-0190-4D36-ADDE-09AB219EF9AA}" srcId="{6C8B2579-5D47-4EAF-831A-485C585B75A2}" destId="{9A54CA62-0C9F-4812-B490-03FBBADFAACD}" srcOrd="0" destOrd="0" parTransId="{CFDC3A96-EABA-42A6-B961-6850CAA3863F}" sibTransId="{77F2BB91-3D12-41E9-9AF9-78C61F9C463E}"/>
    <dgm:cxn modelId="{349C1C54-35B6-48FB-B473-2240DEBB24B4}" type="presParOf" srcId="{2FB41C52-7AED-40B3-8BDC-5BB61FBDB0DD}" destId="{0B6A5A89-29A6-4951-A94E-1A35272094BB}" srcOrd="0" destOrd="0" presId="urn:microsoft.com/office/officeart/2008/layout/AscendingPictureAccentProcess"/>
    <dgm:cxn modelId="{9664BB71-60B7-48E9-98A5-972793509751}" type="presParOf" srcId="{2FB41C52-7AED-40B3-8BDC-5BB61FBDB0DD}" destId="{2B5D5DF0-C4EE-4199-A593-92CCAF4F4106}" srcOrd="1" destOrd="0" presId="urn:microsoft.com/office/officeart/2008/layout/AscendingPictureAccentProcess"/>
    <dgm:cxn modelId="{A0834FB7-DCE0-4E5D-A73E-E3019113522B}" type="presParOf" srcId="{2B5D5DF0-C4EE-4199-A593-92CCAF4F4106}" destId="{09626D4C-A559-4CCE-A230-12447AD727DF}" srcOrd="0" destOrd="0" presId="urn:microsoft.com/office/officeart/2008/layout/AscendingPictureAccentProcess"/>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23DD1CF-7954-4E78-8049-0647FDBA0FB7}" type="doc">
      <dgm:prSet loTypeId="urn:microsoft.com/office/officeart/2008/layout/AscendingPictureAccentProcess" loCatId="process" qsTypeId="urn:microsoft.com/office/officeart/2005/8/quickstyle/simple5" qsCatId="simple" csTypeId="urn:microsoft.com/office/officeart/2005/8/colors/accent1_2" csCatId="accent1" phldr="1"/>
      <dgm:spPr/>
    </dgm:pt>
    <dgm:pt modelId="{E37F214B-342B-44AE-88D1-FCDC84047341}">
      <dgm:prSet phldrT="[Text]"/>
      <dgm:spPr/>
      <dgm:t>
        <a:bodyPr/>
        <a:lstStyle/>
        <a:p>
          <a:pPr algn="ctr"/>
          <a:r>
            <a:rPr lang="en-US" dirty="0" smtClean="0"/>
            <a:t>Razab</a:t>
          </a:r>
          <a:endParaRPr lang="en-US" dirty="0"/>
        </a:p>
      </dgm:t>
    </dgm:pt>
    <dgm:pt modelId="{08190DB6-5C5A-4CF9-AD96-E1D053DEA0E8}" type="parTrans" cxnId="{6CDD4EA8-597D-4F9C-B48D-E0F1825105E6}">
      <dgm:prSet/>
      <dgm:spPr/>
      <dgm:t>
        <a:bodyPr/>
        <a:lstStyle/>
        <a:p>
          <a:endParaRPr lang="en-US"/>
        </a:p>
      </dgm:t>
    </dgm:pt>
    <dgm:pt modelId="{4B8CD90D-7F36-4370-9B3E-ACBFAD7EC3B2}" type="sibTrans" cxnId="{6CDD4EA8-597D-4F9C-B48D-E0F1825105E6}">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19000" r="-19000"/>
          </a:stretch>
        </a:blipFill>
      </dgm:spPr>
      <dgm:t>
        <a:bodyPr/>
        <a:lstStyle/>
        <a:p>
          <a:endParaRPr lang="en-US"/>
        </a:p>
      </dgm:t>
    </dgm:pt>
    <dgm:pt modelId="{CF1D947D-6271-4D78-8321-5264916491FF}" type="pres">
      <dgm:prSet presAssocID="{023DD1CF-7954-4E78-8049-0647FDBA0FB7}" presName="Name0" presStyleCnt="0">
        <dgm:presLayoutVars>
          <dgm:chMax val="7"/>
          <dgm:chPref val="7"/>
          <dgm:dir/>
        </dgm:presLayoutVars>
      </dgm:prSet>
      <dgm:spPr/>
    </dgm:pt>
    <dgm:pt modelId="{3208A32A-B2B3-44B3-915E-2518EC1965CC}" type="pres">
      <dgm:prSet presAssocID="{E37F214B-342B-44AE-88D1-FCDC84047341}" presName="parTx1" presStyleLbl="node1" presStyleIdx="0" presStyleCnt="1" custScaleX="76274"/>
      <dgm:spPr/>
      <dgm:t>
        <a:bodyPr/>
        <a:lstStyle/>
        <a:p>
          <a:endParaRPr lang="en-US"/>
        </a:p>
      </dgm:t>
    </dgm:pt>
    <dgm:pt modelId="{6B782C9D-AF15-444F-AD31-865AB119F33D}" type="pres">
      <dgm:prSet presAssocID="{4B8CD90D-7F36-4370-9B3E-ACBFAD7EC3B2}" presName="picture1" presStyleCnt="0"/>
      <dgm:spPr/>
    </dgm:pt>
    <dgm:pt modelId="{F7A1E509-1B6F-41D9-923C-FC991C276133}" type="pres">
      <dgm:prSet presAssocID="{4B8CD90D-7F36-4370-9B3E-ACBFAD7EC3B2}" presName="imageRepeatNode" presStyleLbl="fgImgPlace1" presStyleIdx="0" presStyleCnt="1" custScaleX="135466" custScaleY="135309" custLinFactNeighborX="-2793"/>
      <dgm:spPr/>
      <dgm:t>
        <a:bodyPr/>
        <a:lstStyle/>
        <a:p>
          <a:endParaRPr lang="en-US"/>
        </a:p>
      </dgm:t>
    </dgm:pt>
  </dgm:ptLst>
  <dgm:cxnLst>
    <dgm:cxn modelId="{EBC95699-C5F8-43B8-A42D-D9962AB913A3}" type="presOf" srcId="{023DD1CF-7954-4E78-8049-0647FDBA0FB7}" destId="{CF1D947D-6271-4D78-8321-5264916491FF}" srcOrd="0" destOrd="0" presId="urn:microsoft.com/office/officeart/2008/layout/AscendingPictureAccentProcess"/>
    <dgm:cxn modelId="{6CDD4EA8-597D-4F9C-B48D-E0F1825105E6}" srcId="{023DD1CF-7954-4E78-8049-0647FDBA0FB7}" destId="{E37F214B-342B-44AE-88D1-FCDC84047341}" srcOrd="0" destOrd="0" parTransId="{08190DB6-5C5A-4CF9-AD96-E1D053DEA0E8}" sibTransId="{4B8CD90D-7F36-4370-9B3E-ACBFAD7EC3B2}"/>
    <dgm:cxn modelId="{3325E11D-8A2E-43B9-9EAF-B599C1C50EB6}" type="presOf" srcId="{4B8CD90D-7F36-4370-9B3E-ACBFAD7EC3B2}" destId="{F7A1E509-1B6F-41D9-923C-FC991C276133}" srcOrd="0" destOrd="0" presId="urn:microsoft.com/office/officeart/2008/layout/AscendingPictureAccentProcess"/>
    <dgm:cxn modelId="{342A81DD-9302-4D02-8BC2-5ADC70C40D03}" type="presOf" srcId="{E37F214B-342B-44AE-88D1-FCDC84047341}" destId="{3208A32A-B2B3-44B3-915E-2518EC1965CC}" srcOrd="0" destOrd="0" presId="urn:microsoft.com/office/officeart/2008/layout/AscendingPictureAccentProcess"/>
    <dgm:cxn modelId="{59A4AB4E-3185-4EF8-B15B-FCABA5C40ADB}" type="presParOf" srcId="{CF1D947D-6271-4D78-8321-5264916491FF}" destId="{3208A32A-B2B3-44B3-915E-2518EC1965CC}" srcOrd="0" destOrd="0" presId="urn:microsoft.com/office/officeart/2008/layout/AscendingPictureAccentProcess"/>
    <dgm:cxn modelId="{00D2D7DF-3399-49C9-925D-6E3D76A7A213}" type="presParOf" srcId="{CF1D947D-6271-4D78-8321-5264916491FF}" destId="{6B782C9D-AF15-444F-AD31-865AB119F33D}" srcOrd="1" destOrd="0" presId="urn:microsoft.com/office/officeart/2008/layout/AscendingPictureAccentProcess"/>
    <dgm:cxn modelId="{3E2F4DC9-2A7D-4535-9A46-422AEADF79AF}" type="presParOf" srcId="{6B782C9D-AF15-444F-AD31-865AB119F33D}" destId="{F7A1E509-1B6F-41D9-923C-FC991C276133}" srcOrd="0" destOrd="0" presId="urn:microsoft.com/office/officeart/2008/layout/AscendingPictureAccentProcess"/>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057384-8CA1-433A-9A51-7824AA463809}">
      <dsp:nvSpPr>
        <dsp:cNvPr id="0" name=""/>
        <dsp:cNvSpPr/>
      </dsp:nvSpPr>
      <dsp:spPr>
        <a:xfrm>
          <a:off x="728004" y="1342643"/>
          <a:ext cx="2145357" cy="575358"/>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4101"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Polash</a:t>
          </a:r>
          <a:endParaRPr lang="en-US" sz="2400" kern="1200" dirty="0"/>
        </a:p>
      </dsp:txBody>
      <dsp:txXfrm>
        <a:off x="756091" y="1370730"/>
        <a:ext cx="2089183" cy="519184"/>
      </dsp:txXfrm>
    </dsp:sp>
    <dsp:sp modelId="{08279268-8CB9-4F5E-9CB7-1D93790FDB7C}">
      <dsp:nvSpPr>
        <dsp:cNvPr id="0" name=""/>
        <dsp:cNvSpPr/>
      </dsp:nvSpPr>
      <dsp:spPr>
        <a:xfrm>
          <a:off x="110859" y="760903"/>
          <a:ext cx="1039121" cy="103038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9000" r="-19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B34567-96A4-4B9C-B1D0-C2498819E68E}">
      <dsp:nvSpPr>
        <dsp:cNvPr id="0" name=""/>
        <dsp:cNvSpPr/>
      </dsp:nvSpPr>
      <dsp:spPr>
        <a:xfrm>
          <a:off x="726123" y="1053387"/>
          <a:ext cx="2173005" cy="58277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9953"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Ovi</a:t>
          </a:r>
          <a:endParaRPr lang="en-US" sz="2400" kern="1200" dirty="0"/>
        </a:p>
      </dsp:txBody>
      <dsp:txXfrm>
        <a:off x="754572" y="1081836"/>
        <a:ext cx="2116107" cy="525874"/>
      </dsp:txXfrm>
    </dsp:sp>
    <dsp:sp modelId="{142D5DF1-59B0-4600-B1D8-32D83FF6B7FF}">
      <dsp:nvSpPr>
        <dsp:cNvPr id="0" name=""/>
        <dsp:cNvSpPr/>
      </dsp:nvSpPr>
      <dsp:spPr>
        <a:xfrm>
          <a:off x="123552" y="482175"/>
          <a:ext cx="1007459" cy="100761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3000" r="-23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48191-B235-467C-83D7-D0FB07D20070}">
      <dsp:nvSpPr>
        <dsp:cNvPr id="0" name=""/>
        <dsp:cNvSpPr/>
      </dsp:nvSpPr>
      <dsp:spPr>
        <a:xfrm>
          <a:off x="728735" y="944763"/>
          <a:ext cx="2180821" cy="58486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61607"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Raja</a:t>
          </a:r>
          <a:endParaRPr lang="en-US" sz="2400" kern="1200" dirty="0"/>
        </a:p>
      </dsp:txBody>
      <dsp:txXfrm>
        <a:off x="757286" y="973314"/>
        <a:ext cx="2123719" cy="527767"/>
      </dsp:txXfrm>
    </dsp:sp>
    <dsp:sp modelId="{AC858E47-D8FC-4180-BB68-B605B476FDFA}">
      <dsp:nvSpPr>
        <dsp:cNvPr id="0" name=""/>
        <dsp:cNvSpPr/>
      </dsp:nvSpPr>
      <dsp:spPr>
        <a:xfrm>
          <a:off x="123996" y="371497"/>
          <a:ext cx="1011083" cy="101123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3000" r="-23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6A5A89-29A6-4951-A94E-1A35272094BB}">
      <dsp:nvSpPr>
        <dsp:cNvPr id="0" name=""/>
        <dsp:cNvSpPr/>
      </dsp:nvSpPr>
      <dsp:spPr>
        <a:xfrm>
          <a:off x="751865" y="994139"/>
          <a:ext cx="2250039" cy="60343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258" tIns="95250" rIns="95250" bIns="95250" numCol="1" spcCol="1270" anchor="ctr" anchorCtr="0">
          <a:noAutofit/>
        </a:bodyPr>
        <a:lstStyle/>
        <a:p>
          <a:pPr lvl="0" algn="ctr" defTabSz="1111250">
            <a:lnSpc>
              <a:spcPct val="90000"/>
            </a:lnSpc>
            <a:spcBef>
              <a:spcPct val="0"/>
            </a:spcBef>
            <a:spcAft>
              <a:spcPct val="35000"/>
            </a:spcAft>
          </a:pPr>
          <a:r>
            <a:rPr lang="en-US" sz="2500" kern="1200" dirty="0" smtClean="0"/>
            <a:t>Sanjida</a:t>
          </a:r>
          <a:endParaRPr lang="en-US" sz="2500" kern="1200" dirty="0"/>
        </a:p>
      </dsp:txBody>
      <dsp:txXfrm>
        <a:off x="781322" y="1023596"/>
        <a:ext cx="2191125" cy="544518"/>
      </dsp:txXfrm>
    </dsp:sp>
    <dsp:sp modelId="{09626D4C-A559-4CCE-A230-12447AD727DF}">
      <dsp:nvSpPr>
        <dsp:cNvPr id="0" name=""/>
        <dsp:cNvSpPr/>
      </dsp:nvSpPr>
      <dsp:spPr>
        <a:xfrm>
          <a:off x="127932" y="402678"/>
          <a:ext cx="1043174" cy="1043331"/>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8000" r="-3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08A32A-B2B3-44B3-915E-2518EC1965CC}">
      <dsp:nvSpPr>
        <dsp:cNvPr id="0" name=""/>
        <dsp:cNvSpPr/>
      </dsp:nvSpPr>
      <dsp:spPr>
        <a:xfrm>
          <a:off x="1220202" y="1221710"/>
          <a:ext cx="1682362" cy="591536"/>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66869"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Razab</a:t>
          </a:r>
          <a:endParaRPr lang="en-US" sz="2400" kern="1200" dirty="0"/>
        </a:p>
      </dsp:txBody>
      <dsp:txXfrm>
        <a:off x="1249078" y="1250586"/>
        <a:ext cx="1624610" cy="533784"/>
      </dsp:txXfrm>
    </dsp:sp>
    <dsp:sp modelId="{F7A1E509-1B6F-41D9-923C-FC991C276133}">
      <dsp:nvSpPr>
        <dsp:cNvPr id="0" name=""/>
        <dsp:cNvSpPr/>
      </dsp:nvSpPr>
      <dsp:spPr>
        <a:xfrm>
          <a:off x="137008" y="461346"/>
          <a:ext cx="1385288" cy="138389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9000" r="-19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4460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803743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Hello everyone! Welcome! We are absolutely thrilled to share our super cool project with you today: the Online Exam Simulator with Anti-Cheat System! We're Team "Double Quotation," and our mission is to make exams fair and, dare I say, a little bit fun!</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Now, let me introduce you to the incredible minds behind this innovation. This is our amazing Team "Double Quotation"! Each of us brings a unique superpower to the table, from coding wizards to security guardians, ensuring every aspect of our system is top-notch.</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78135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Here, you'll see the heart of our project: our System Architecture. Think of it as our secret recipe, carefully crafted to ensure everything runs smoothly, securely, and scales beautifully. It's robust, smart, and ready for anything! </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For our wonderful educators, we've designed a special Admin Interface – your command center for managing exams and monitoring everything in real-time. And for students, we've created a super-focused Student Environment, locking down distractions so they can shine!</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When it comes to Security, that's our middle name! We've built a fortress around your exam data, ensuring it's super safe and sound. Our system uses encrypted communication, like a secret language, to keep everything private and protected from prying eyes. </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We've put our Anti-Cheat System through the wringer! We've tried every sneaky trick in the book to outsmart it, but guess what? It's too clever! It catches all those tricky attempts, making sure exams are fair for every single student. </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Our Technical Documentation &amp; Visual Architecture is like your friendly guide to our system. We've created clear, easy-to-follow instructions and beautiful diagrams, so understanding how everything works is a breeze! </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Take a peek at our Advanced Technical Stack! We've handpicked the best tools and technologies to power our system. It's like having a super-powered engine under the hood, making sure everything performs perfectly and reliably</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Thank you so much for your time and attention! We hope you enjoyed about our project. </a:t>
            </a:r>
          </a:p>
          <a:p>
            <a:r>
              <a:rPr lang="en-US" sz="2000" dirty="0" smtClean="0"/>
              <a:t>Thank You.</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26" Type="http://schemas.openxmlformats.org/officeDocument/2006/relationships/diagramColors" Target="../diagrams/colors5.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5" Type="http://schemas.openxmlformats.org/officeDocument/2006/relationships/diagramQuickStyle" Target="../diagrams/quickStyle5.xml"/><Relationship Id="rId2" Type="http://schemas.openxmlformats.org/officeDocument/2006/relationships/notesSlide" Target="../notesSlides/notesSlide3.xml"/><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diagramColors" Target="../diagrams/colors2.xml"/><Relationship Id="rId24" Type="http://schemas.openxmlformats.org/officeDocument/2006/relationships/diagramLayout" Target="../diagrams/layout5.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23" Type="http://schemas.openxmlformats.org/officeDocument/2006/relationships/diagramData" Target="../diagrams/data5.xml"/><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 Id="rId27" Type="http://schemas.microsoft.com/office/2007/relationships/diagramDrawing" Target="../diagrams/drawing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inking Animated 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1697" y="215299"/>
            <a:ext cx="5572833" cy="5257039"/>
          </a:xfrm>
          <a:prstGeom prst="rect">
            <a:avLst/>
          </a:prstGeom>
        </p:spPr>
      </p:pic>
      <p:sp>
        <p:nvSpPr>
          <p:cNvPr id="5" name="Rectangle 4"/>
          <p:cNvSpPr/>
          <p:nvPr/>
        </p:nvSpPr>
        <p:spPr>
          <a:xfrm>
            <a:off x="2116194" y="360798"/>
            <a:ext cx="4573689" cy="1107996"/>
          </a:xfrm>
          <a:prstGeom prst="rect">
            <a:avLst/>
          </a:prstGeom>
          <a:noFill/>
        </p:spPr>
        <p:txBody>
          <a:bodyPr wrap="none" lIns="91440" tIns="45720" rIns="91440" bIns="45720">
            <a:spAutoFit/>
          </a:bodyPr>
          <a:lstStyle/>
          <a:p>
            <a:pPr algn="ctr"/>
            <a:r>
              <a:rPr lang="en-US" sz="6600" b="1" dirty="0" smtClean="0">
                <a:ln w="10160">
                  <a:solidFill>
                    <a:schemeClr val="accent5"/>
                  </a:solidFill>
                  <a:prstDash val="solid"/>
                </a:ln>
                <a:solidFill>
                  <a:schemeClr val="accent1"/>
                </a:solidFill>
                <a:effectLst>
                  <a:outerShdw blurRad="38100" dist="22860" dir="5400000" algn="tl" rotWithShape="0">
                    <a:srgbClr val="000000">
                      <a:alpha val="30000"/>
                    </a:srgbClr>
                  </a:outerShdw>
                </a:effectLst>
                <a:latin typeface="Gabriola" panose="04040605051002020D02" pitchFamily="82" charset="0"/>
              </a:rPr>
              <a:t>Hello &amp; Welcome</a:t>
            </a:r>
            <a:endParaRPr lang="en-US" sz="6600" b="1" cap="none" spc="0" dirty="0">
              <a:ln w="10160">
                <a:solidFill>
                  <a:schemeClr val="accent5"/>
                </a:solidFill>
                <a:prstDash val="solid"/>
              </a:ln>
              <a:solidFill>
                <a:schemeClr val="accent1"/>
              </a:solidFill>
              <a:effectLst>
                <a:outerShdw blurRad="38100" dist="22860" dir="5400000" algn="tl" rotWithShape="0">
                  <a:srgbClr val="000000">
                    <a:alpha val="30000"/>
                  </a:srgbClr>
                </a:outerShdw>
              </a:effectLst>
              <a:latin typeface="Gabriola" panose="04040605051002020D02" pitchFamily="82" charset="0"/>
            </a:endParaRPr>
          </a:p>
        </p:txBody>
      </p:sp>
    </p:spTree>
    <p:extLst>
      <p:ext uri="{BB962C8B-B14F-4D97-AF65-F5344CB8AC3E}">
        <p14:creationId xmlns:p14="http://schemas.microsoft.com/office/powerpoint/2010/main" val="39191159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236"/>
            <a:ext cx="9144000" cy="5143500"/>
          </a:xfrm>
          <a:prstGeom prst="rect">
            <a:avLst/>
          </a:prstGeom>
        </p:spPr>
      </p:pic>
      <p:sp>
        <p:nvSpPr>
          <p:cNvPr id="3" name="Text 0"/>
          <p:cNvSpPr/>
          <p:nvPr/>
        </p:nvSpPr>
        <p:spPr>
          <a:xfrm>
            <a:off x="571500" y="1564677"/>
            <a:ext cx="4914900" cy="1538883"/>
          </a:xfrm>
          <a:prstGeom prst="rect">
            <a:avLst/>
          </a:prstGeom>
          <a:noFill/>
          <a:ln/>
        </p:spPr>
        <p:txBody>
          <a:bodyPr wrap="square" lIns="0" tIns="0" rIns="0" bIns="0" rtlCol="0" anchor="t">
            <a:spAutoFit/>
          </a:bodyPr>
          <a:lstStyle/>
          <a:p>
            <a:pPr marL="0" indent="0" algn="l">
              <a:lnSpc>
                <a:spcPts val="4000"/>
              </a:lnSpc>
              <a:buNone/>
            </a:pPr>
            <a:r>
              <a:rPr lang="en-US" sz="3294" b="1" dirty="0" smtClean="0">
                <a:solidFill>
                  <a:srgbClr val="000000"/>
                </a:solidFill>
              </a:rPr>
              <a:t>Online Exam</a:t>
            </a:r>
          </a:p>
          <a:p>
            <a:pPr marL="0" indent="0" algn="l">
              <a:lnSpc>
                <a:spcPts val="4000"/>
              </a:lnSpc>
              <a:buNone/>
            </a:pPr>
            <a:r>
              <a:rPr lang="en-US" sz="3294" b="1" dirty="0" smtClean="0">
                <a:solidFill>
                  <a:srgbClr val="000000"/>
                </a:solidFill>
              </a:rPr>
              <a:t>Simulator </a:t>
            </a:r>
            <a:r>
              <a:rPr lang="en-US" b="1" dirty="0" smtClean="0">
                <a:solidFill>
                  <a:schemeClr val="bg1">
                    <a:lumMod val="50000"/>
                  </a:schemeClr>
                </a:solidFill>
              </a:rPr>
              <a:t>with</a:t>
            </a:r>
            <a:r>
              <a:rPr lang="en-US" sz="3294" b="1" dirty="0">
                <a:solidFill>
                  <a:srgbClr val="000000"/>
                </a:solidFill>
              </a:rPr>
              <a:t>
</a:t>
            </a:r>
            <a:r>
              <a:rPr lang="en-US" sz="3294" b="1" dirty="0" smtClean="0">
                <a:solidFill>
                  <a:srgbClr val="0055FF"/>
                </a:solidFill>
              </a:rPr>
              <a:t>Anti-Cheat System</a:t>
            </a:r>
            <a:endParaRPr lang="en-US" sz="3294" dirty="0"/>
          </a:p>
        </p:txBody>
      </p:sp>
      <p:sp>
        <p:nvSpPr>
          <p:cNvPr id="4" name="Text 1"/>
          <p:cNvSpPr/>
          <p:nvPr/>
        </p:nvSpPr>
        <p:spPr>
          <a:xfrm>
            <a:off x="571500" y="3244853"/>
            <a:ext cx="4914900" cy="625078"/>
          </a:xfrm>
          <a:prstGeom prst="rect">
            <a:avLst/>
          </a:prstGeom>
          <a:noFill/>
          <a:ln/>
        </p:spPr>
        <p:txBody>
          <a:bodyPr wrap="square" lIns="0" tIns="0" rIns="0" bIns="0" rtlCol="0" anchor="t">
            <a:spAutoFit/>
          </a:bodyPr>
          <a:lstStyle/>
          <a:p>
            <a:pPr marL="0" indent="0" algn="l">
              <a:lnSpc>
                <a:spcPts val="2200"/>
              </a:lnSpc>
              <a:buNone/>
            </a:pPr>
            <a:r>
              <a:rPr lang="en-US" sz="1704" dirty="0">
                <a:solidFill>
                  <a:srgbClr val="333333"/>
                </a:solidFill>
              </a:rPr>
              <a:t>Empowering Academic Integrity Through Innovation</a:t>
            </a:r>
            <a:endParaRPr lang="en-US" sz="1704" dirty="0"/>
          </a:p>
        </p:txBody>
      </p:sp>
      <p:sp>
        <p:nvSpPr>
          <p:cNvPr id="5" name="Text 2"/>
          <p:cNvSpPr/>
          <p:nvPr/>
        </p:nvSpPr>
        <p:spPr>
          <a:xfrm>
            <a:off x="571500" y="4298556"/>
            <a:ext cx="4914900" cy="194667"/>
          </a:xfrm>
          <a:prstGeom prst="rect">
            <a:avLst/>
          </a:prstGeom>
          <a:noFill/>
          <a:ln/>
        </p:spPr>
        <p:txBody>
          <a:bodyPr wrap="none" lIns="0" tIns="0" rIns="0" bIns="0" rtlCol="0" anchor="t">
            <a:spAutoFit/>
          </a:bodyPr>
          <a:lstStyle/>
          <a:p>
            <a:pPr marL="0" indent="0" algn="l">
              <a:lnSpc>
                <a:spcPts val="1400"/>
              </a:lnSpc>
              <a:buNone/>
            </a:pPr>
            <a:r>
              <a:rPr lang="en-US" sz="987" b="1" kern="0" spc="2" dirty="0">
                <a:solidFill>
                  <a:srgbClr val="0055FF"/>
                </a:solidFill>
              </a:rPr>
              <a:t>Team "Double Quotation"</a:t>
            </a:r>
            <a:endParaRPr lang="en-US" sz="987" dirty="0"/>
          </a:p>
        </p:txBody>
      </p:sp>
      <p:sp>
        <p:nvSpPr>
          <p:cNvPr id="10" name="Shape 10"/>
          <p:cNvSpPr/>
          <p:nvPr/>
        </p:nvSpPr>
        <p:spPr>
          <a:xfrm>
            <a:off x="5943600" y="0"/>
            <a:ext cx="3200400" cy="5143500"/>
          </a:xfrm>
          <a:prstGeom prst="rect">
            <a:avLst/>
          </a:prstGeom>
          <a:solidFill>
            <a:srgbClr val="333333"/>
          </a:solidFill>
          <a:ln/>
        </p:spPr>
        <p:txBody>
          <a:bodyPr/>
          <a:lstStyle/>
          <a:p>
            <a:endParaRPr lang="en-US" dirty="0"/>
          </a:p>
        </p:txBody>
      </p:sp>
      <p:pic>
        <p:nvPicPr>
          <p:cNvPr id="12" name="Picture 11" descr="Anti cheat lock symbol stock vector. Illustration of fraud - 269368898"/>
          <p:cNvPicPr>
            <a:picLocks noChangeAspect="1"/>
          </p:cNvPicPr>
          <p:nvPr/>
        </p:nvPicPr>
        <p:blipFill rotWithShape="1">
          <a:blip r:embed="rId4">
            <a:extLst>
              <a:ext uri="{28A0092B-C50C-407E-A947-70E740481C1C}">
                <a14:useLocalDpi xmlns:a14="http://schemas.microsoft.com/office/drawing/2010/main" val="0"/>
              </a:ext>
            </a:extLst>
          </a:blip>
          <a:srcRect l="21759" t="3153" r="22592" b="3513"/>
          <a:stretch/>
        </p:blipFill>
        <p:spPr>
          <a:xfrm>
            <a:off x="6112669" y="171450"/>
            <a:ext cx="2862262" cy="4800600"/>
          </a:xfrm>
          <a:prstGeom prst="rect">
            <a:avLst/>
          </a:prstGeom>
        </p:spPr>
      </p:pic>
      <p:sp>
        <p:nvSpPr>
          <p:cNvPr id="7" name="TextBox 6"/>
          <p:cNvSpPr txBox="1"/>
          <p:nvPr/>
        </p:nvSpPr>
        <p:spPr>
          <a:xfrm>
            <a:off x="7565989" y="4675227"/>
            <a:ext cx="1662546" cy="369332"/>
          </a:xfrm>
          <a:prstGeom prst="rect">
            <a:avLst/>
          </a:prstGeom>
          <a:noFill/>
        </p:spPr>
        <p:txBody>
          <a:bodyPr wrap="square" rtlCol="0">
            <a:spAutoFit/>
          </a:bodyPr>
          <a:lstStyle/>
          <a:p>
            <a:r>
              <a:rPr lang="en-US" dirty="0" smtClean="0"/>
              <a:t>Team No: 08</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Diagram 50"/>
          <p:cNvGraphicFramePr/>
          <p:nvPr>
            <p:extLst>
              <p:ext uri="{D42A27DB-BD31-4B8C-83A1-F6EECF244321}">
                <p14:modId xmlns:p14="http://schemas.microsoft.com/office/powerpoint/2010/main" val="1121175439"/>
              </p:ext>
            </p:extLst>
          </p:nvPr>
        </p:nvGraphicFramePr>
        <p:xfrm>
          <a:off x="347040" y="1434249"/>
          <a:ext cx="2984222" cy="26789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5" name="Diagram 54"/>
          <p:cNvGraphicFramePr/>
          <p:nvPr>
            <p:extLst>
              <p:ext uri="{D42A27DB-BD31-4B8C-83A1-F6EECF244321}">
                <p14:modId xmlns:p14="http://schemas.microsoft.com/office/powerpoint/2010/main" val="4118305547"/>
              </p:ext>
            </p:extLst>
          </p:nvPr>
        </p:nvGraphicFramePr>
        <p:xfrm>
          <a:off x="5669838" y="673989"/>
          <a:ext cx="3022681" cy="211833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57" name="Diagram 56"/>
          <p:cNvGraphicFramePr/>
          <p:nvPr>
            <p:extLst>
              <p:ext uri="{D42A27DB-BD31-4B8C-83A1-F6EECF244321}">
                <p14:modId xmlns:p14="http://schemas.microsoft.com/office/powerpoint/2010/main" val="3291085543"/>
              </p:ext>
            </p:extLst>
          </p:nvPr>
        </p:nvGraphicFramePr>
        <p:xfrm>
          <a:off x="347040" y="3203964"/>
          <a:ext cx="3033553" cy="190113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61" name="Diagram 60"/>
          <p:cNvGraphicFramePr/>
          <p:nvPr>
            <p:extLst>
              <p:ext uri="{D42A27DB-BD31-4B8C-83A1-F6EECF244321}">
                <p14:modId xmlns:p14="http://schemas.microsoft.com/office/powerpoint/2010/main" val="1145304673"/>
              </p:ext>
            </p:extLst>
          </p:nvPr>
        </p:nvGraphicFramePr>
        <p:xfrm>
          <a:off x="5562682" y="2485516"/>
          <a:ext cx="3129837" cy="200025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22" name="Diagram 21"/>
          <p:cNvGraphicFramePr/>
          <p:nvPr>
            <p:extLst>
              <p:ext uri="{D42A27DB-BD31-4B8C-83A1-F6EECF244321}">
                <p14:modId xmlns:p14="http://schemas.microsoft.com/office/powerpoint/2010/main" val="3777072620"/>
              </p:ext>
            </p:extLst>
          </p:nvPr>
        </p:nvGraphicFramePr>
        <p:xfrm>
          <a:off x="347040" y="123533"/>
          <a:ext cx="3068135" cy="2306583"/>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pSp>
        <p:nvGrpSpPr>
          <p:cNvPr id="20" name="Group 19"/>
          <p:cNvGrpSpPr/>
          <p:nvPr/>
        </p:nvGrpSpPr>
        <p:grpSpPr>
          <a:xfrm>
            <a:off x="3281932" y="1367371"/>
            <a:ext cx="1936425" cy="692497"/>
            <a:chOff x="3415175" y="1156756"/>
            <a:chExt cx="1726735" cy="692497"/>
          </a:xfrm>
          <a:noFill/>
        </p:grpSpPr>
        <p:sp>
          <p:nvSpPr>
            <p:cNvPr id="17" name="Rectangle 16"/>
            <p:cNvSpPr/>
            <p:nvPr/>
          </p:nvSpPr>
          <p:spPr>
            <a:xfrm>
              <a:off x="3415175" y="1156756"/>
              <a:ext cx="1680700" cy="55774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3438418" y="1156756"/>
              <a:ext cx="1703492" cy="692497"/>
            </a:xfrm>
            <a:prstGeom prst="rect">
              <a:avLst/>
            </a:prstGeom>
            <a:grpFill/>
            <a:ln>
              <a:noFill/>
            </a:ln>
          </p:spPr>
          <p:txBody>
            <a:bodyPr wrap="square" rtlCol="0">
              <a:spAutoFit/>
            </a:bodyPr>
            <a:lstStyle/>
            <a:p>
              <a:r>
                <a:rPr lang="en-US" sz="1300" b="1" dirty="0">
                  <a:solidFill>
                    <a:srgbClr val="636E72"/>
                  </a:solidFill>
                </a:rPr>
                <a:t>Team </a:t>
              </a:r>
              <a:r>
                <a:rPr lang="en-US" sz="1300" b="1" dirty="0" smtClean="0">
                  <a:solidFill>
                    <a:srgbClr val="636E72"/>
                  </a:solidFill>
                </a:rPr>
                <a:t>Lead, Backend </a:t>
              </a:r>
              <a:r>
                <a:rPr lang="en-US" sz="1300" b="1" dirty="0">
                  <a:solidFill>
                    <a:srgbClr val="636E72"/>
                  </a:solidFill>
                </a:rPr>
                <a:t>Dev. &amp; Anti-Cheat Architect </a:t>
              </a:r>
              <a:endParaRPr lang="en-US" sz="1300" b="1" dirty="0"/>
            </a:p>
          </p:txBody>
        </p:sp>
      </p:grpSp>
      <p:grpSp>
        <p:nvGrpSpPr>
          <p:cNvPr id="27" name="Group 26"/>
          <p:cNvGrpSpPr/>
          <p:nvPr/>
        </p:nvGrpSpPr>
        <p:grpSpPr>
          <a:xfrm>
            <a:off x="3281932" y="2799668"/>
            <a:ext cx="1850337" cy="487420"/>
            <a:chOff x="3415175" y="1156756"/>
            <a:chExt cx="1726735" cy="557744"/>
          </a:xfrm>
          <a:noFill/>
        </p:grpSpPr>
        <p:sp>
          <p:nvSpPr>
            <p:cNvPr id="28" name="Rectangle 27"/>
            <p:cNvSpPr/>
            <p:nvPr/>
          </p:nvSpPr>
          <p:spPr>
            <a:xfrm>
              <a:off x="3415175" y="1156756"/>
              <a:ext cx="1680700" cy="55774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3438418" y="1156756"/>
              <a:ext cx="1703492" cy="516534"/>
            </a:xfrm>
            <a:prstGeom prst="rect">
              <a:avLst/>
            </a:prstGeom>
            <a:grpFill/>
            <a:ln>
              <a:noFill/>
            </a:ln>
          </p:spPr>
          <p:txBody>
            <a:bodyPr wrap="square" rtlCol="0">
              <a:spAutoFit/>
            </a:bodyPr>
            <a:lstStyle/>
            <a:p>
              <a:pPr>
                <a:lnSpc>
                  <a:spcPts val="1400"/>
                </a:lnSpc>
              </a:pPr>
              <a:r>
                <a:rPr lang="en-US" sz="1200" b="1" dirty="0">
                  <a:solidFill>
                    <a:srgbClr val="636E72"/>
                  </a:solidFill>
                </a:rPr>
                <a:t>Desktop Developer (Admin &amp; Student)</a:t>
              </a:r>
              <a:endParaRPr lang="en-US" sz="1200" b="1" dirty="0"/>
            </a:p>
          </p:txBody>
        </p:sp>
      </p:grpSp>
      <p:grpSp>
        <p:nvGrpSpPr>
          <p:cNvPr id="30" name="Group 29"/>
          <p:cNvGrpSpPr/>
          <p:nvPr/>
        </p:nvGrpSpPr>
        <p:grpSpPr>
          <a:xfrm>
            <a:off x="3306598" y="4159498"/>
            <a:ext cx="1850337" cy="582725"/>
            <a:chOff x="3415175" y="1156756"/>
            <a:chExt cx="1726735" cy="557744"/>
          </a:xfrm>
          <a:noFill/>
        </p:grpSpPr>
        <p:sp>
          <p:nvSpPr>
            <p:cNvPr id="31" name="Rectangle 30"/>
            <p:cNvSpPr/>
            <p:nvPr/>
          </p:nvSpPr>
          <p:spPr>
            <a:xfrm>
              <a:off x="3415175" y="1156756"/>
              <a:ext cx="1680700" cy="55774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p:cNvSpPr txBox="1"/>
            <p:nvPr/>
          </p:nvSpPr>
          <p:spPr>
            <a:xfrm>
              <a:off x="3438418" y="1156756"/>
              <a:ext cx="1703492" cy="432055"/>
            </a:xfrm>
            <a:prstGeom prst="rect">
              <a:avLst/>
            </a:prstGeom>
            <a:grpFill/>
            <a:ln>
              <a:noFill/>
            </a:ln>
          </p:spPr>
          <p:txBody>
            <a:bodyPr wrap="square" rtlCol="0">
              <a:spAutoFit/>
            </a:bodyPr>
            <a:lstStyle/>
            <a:p>
              <a:pPr>
                <a:lnSpc>
                  <a:spcPts val="1400"/>
                </a:lnSpc>
              </a:pPr>
              <a:r>
                <a:rPr lang="en-US" sz="1200" b="1" dirty="0">
                  <a:solidFill>
                    <a:srgbClr val="636E72"/>
                  </a:solidFill>
                </a:rPr>
                <a:t>Network &amp; Security </a:t>
              </a:r>
              <a:r>
                <a:rPr lang="en-US" sz="1200" b="1" dirty="0" smtClean="0">
                  <a:solidFill>
                    <a:srgbClr val="636E72"/>
                  </a:solidFill>
                </a:rPr>
                <a:t>Specialist</a:t>
              </a:r>
              <a:endParaRPr lang="en-US" sz="1200" b="1" dirty="0"/>
            </a:p>
          </p:txBody>
        </p:sp>
      </p:grpSp>
      <p:grpSp>
        <p:nvGrpSpPr>
          <p:cNvPr id="33" name="Group 32"/>
          <p:cNvGrpSpPr/>
          <p:nvPr/>
        </p:nvGrpSpPr>
        <p:grpSpPr>
          <a:xfrm>
            <a:off x="6555403" y="2337939"/>
            <a:ext cx="1850337" cy="487420"/>
            <a:chOff x="3415175" y="1156756"/>
            <a:chExt cx="1726735" cy="557744"/>
          </a:xfrm>
          <a:noFill/>
        </p:grpSpPr>
        <p:sp>
          <p:nvSpPr>
            <p:cNvPr id="34" name="Rectangle 33"/>
            <p:cNvSpPr/>
            <p:nvPr/>
          </p:nvSpPr>
          <p:spPr>
            <a:xfrm>
              <a:off x="3415175" y="1156756"/>
              <a:ext cx="1680700" cy="55774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3438418" y="1156756"/>
              <a:ext cx="1703492" cy="516534"/>
            </a:xfrm>
            <a:prstGeom prst="rect">
              <a:avLst/>
            </a:prstGeom>
            <a:grpFill/>
            <a:ln>
              <a:noFill/>
            </a:ln>
          </p:spPr>
          <p:txBody>
            <a:bodyPr wrap="square" rtlCol="0">
              <a:spAutoFit/>
            </a:bodyPr>
            <a:lstStyle/>
            <a:p>
              <a:pPr>
                <a:lnSpc>
                  <a:spcPts val="1400"/>
                </a:lnSpc>
              </a:pPr>
              <a:r>
                <a:rPr lang="en-US" sz="1200" b="1" dirty="0">
                  <a:solidFill>
                    <a:srgbClr val="636E72"/>
                  </a:solidFill>
                </a:rPr>
                <a:t>QA &amp; Anti-Cheat Testing Assistant</a:t>
              </a:r>
              <a:endParaRPr lang="en-US" sz="1200" b="1" dirty="0"/>
            </a:p>
          </p:txBody>
        </p:sp>
      </p:grpSp>
      <p:grpSp>
        <p:nvGrpSpPr>
          <p:cNvPr id="36" name="Group 35"/>
          <p:cNvGrpSpPr/>
          <p:nvPr/>
        </p:nvGrpSpPr>
        <p:grpSpPr>
          <a:xfrm>
            <a:off x="6555403" y="4113635"/>
            <a:ext cx="1850337" cy="487420"/>
            <a:chOff x="3415175" y="1156756"/>
            <a:chExt cx="1726735" cy="557744"/>
          </a:xfrm>
          <a:noFill/>
        </p:grpSpPr>
        <p:sp>
          <p:nvSpPr>
            <p:cNvPr id="37" name="Rectangle 36"/>
            <p:cNvSpPr/>
            <p:nvPr/>
          </p:nvSpPr>
          <p:spPr>
            <a:xfrm>
              <a:off x="3415175" y="1156756"/>
              <a:ext cx="1680700" cy="55774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3438418" y="1156756"/>
              <a:ext cx="1703492" cy="516534"/>
            </a:xfrm>
            <a:prstGeom prst="rect">
              <a:avLst/>
            </a:prstGeom>
            <a:grpFill/>
            <a:ln>
              <a:noFill/>
            </a:ln>
          </p:spPr>
          <p:txBody>
            <a:bodyPr wrap="square" rtlCol="0">
              <a:spAutoFit/>
            </a:bodyPr>
            <a:lstStyle/>
            <a:p>
              <a:pPr>
                <a:lnSpc>
                  <a:spcPts val="1400"/>
                </a:lnSpc>
              </a:pPr>
              <a:r>
                <a:rPr lang="en-US" sz="1200" b="1" dirty="0">
                  <a:solidFill>
                    <a:srgbClr val="636E72"/>
                  </a:solidFill>
                </a:rPr>
                <a:t>Docs, Diagrams &amp; Presentation Lead</a:t>
              </a:r>
              <a:endParaRPr lang="en-US" sz="1200" b="1" dirty="0"/>
            </a:p>
          </p:txBody>
        </p:sp>
      </p:grpSp>
      <p:sp>
        <p:nvSpPr>
          <p:cNvPr id="23" name="Text 0"/>
          <p:cNvSpPr/>
          <p:nvPr/>
        </p:nvSpPr>
        <p:spPr>
          <a:xfrm>
            <a:off x="0" y="266386"/>
            <a:ext cx="9144000" cy="487313"/>
          </a:xfrm>
          <a:prstGeom prst="rect">
            <a:avLst/>
          </a:prstGeom>
          <a:noFill/>
          <a:ln/>
        </p:spPr>
        <p:txBody>
          <a:bodyPr wrap="square" lIns="0" tIns="0" rIns="0" bIns="0" rtlCol="0" anchor="t">
            <a:spAutoFit/>
          </a:bodyPr>
          <a:lstStyle/>
          <a:p>
            <a:pPr marL="0" indent="0" algn="ctr">
              <a:lnSpc>
                <a:spcPts val="3800"/>
              </a:lnSpc>
              <a:buNone/>
            </a:pPr>
            <a:r>
              <a:rPr lang="en-US" sz="3200" b="1" dirty="0" smtClean="0">
                <a:solidFill>
                  <a:srgbClr val="000000"/>
                </a:solidFill>
              </a:rPr>
              <a:t>Team </a:t>
            </a:r>
            <a:r>
              <a:rPr lang="en-US" sz="3200" b="1" dirty="0">
                <a:solidFill>
                  <a:srgbClr val="0055FF"/>
                </a:solidFill>
              </a:rPr>
              <a:t>"Double Quotation"</a:t>
            </a:r>
            <a:endParaRPr lang="en-US" sz="3200" dirty="0"/>
          </a:p>
        </p:txBody>
      </p:sp>
    </p:spTree>
    <p:extLst>
      <p:ext uri="{BB962C8B-B14F-4D97-AF65-F5344CB8AC3E}">
        <p14:creationId xmlns:p14="http://schemas.microsoft.com/office/powerpoint/2010/main" val="59275075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0-#ppt_w/2"/>
                                          </p:val>
                                        </p:tav>
                                        <p:tav tm="100000">
                                          <p:val>
                                            <p:strVal val="#ppt_x"/>
                                          </p:val>
                                        </p:tav>
                                      </p:tavLst>
                                    </p:anim>
                                    <p:anim calcmode="lin" valueType="num">
                                      <p:cBhvr additive="base">
                                        <p:cTn id="14" dur="500" fill="hold"/>
                                        <p:tgtEl>
                                          <p:spTgt spid="20"/>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 presetClass="entr" presetSubtype="8"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0-#ppt_w/2"/>
                                          </p:val>
                                        </p:tav>
                                        <p:tav tm="100000">
                                          <p:val>
                                            <p:strVal val="#ppt_x"/>
                                          </p:val>
                                        </p:tav>
                                      </p:tavLst>
                                    </p:anim>
                                    <p:anim calcmode="lin" valueType="num">
                                      <p:cBhvr additive="base">
                                        <p:cTn id="19" dur="500" fill="hold"/>
                                        <p:tgtEl>
                                          <p:spTgt spid="22"/>
                                        </p:tgtEl>
                                        <p:attrNameLst>
                                          <p:attrName>ppt_y</p:attrName>
                                        </p:attrNameLst>
                                      </p:cBhvr>
                                      <p:tavLst>
                                        <p:tav tm="0">
                                          <p:val>
                                            <p:strVal val="#ppt_y"/>
                                          </p:val>
                                        </p:tav>
                                        <p:tav tm="100000">
                                          <p:val>
                                            <p:strVal val="#ppt_y"/>
                                          </p:val>
                                        </p:tav>
                                      </p:tavLst>
                                    </p:anim>
                                  </p:childTnLst>
                                </p:cTn>
                              </p:par>
                            </p:childTnLst>
                          </p:cTn>
                        </p:par>
                        <p:par>
                          <p:cTn id="20" fill="hold">
                            <p:stCondLst>
                              <p:cond delay="2000"/>
                            </p:stCondLst>
                            <p:childTnLst>
                              <p:par>
                                <p:cTn id="21" presetID="2" presetClass="entr" presetSubtype="8" fill="hold" nodeType="afterEffect">
                                  <p:stCondLst>
                                    <p:cond delay="75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0-#ppt_w/2"/>
                                          </p:val>
                                        </p:tav>
                                        <p:tav tm="100000">
                                          <p:val>
                                            <p:strVal val="#ppt_x"/>
                                          </p:val>
                                        </p:tav>
                                      </p:tavLst>
                                    </p:anim>
                                    <p:anim calcmode="lin" valueType="num">
                                      <p:cBhvr additive="base">
                                        <p:cTn id="24" dur="500" fill="hold"/>
                                        <p:tgtEl>
                                          <p:spTgt spid="27"/>
                                        </p:tgtEl>
                                        <p:attrNameLst>
                                          <p:attrName>ppt_y</p:attrName>
                                        </p:attrNameLst>
                                      </p:cBhvr>
                                      <p:tavLst>
                                        <p:tav tm="0">
                                          <p:val>
                                            <p:strVal val="#ppt_y"/>
                                          </p:val>
                                        </p:tav>
                                        <p:tav tm="100000">
                                          <p:val>
                                            <p:strVal val="#ppt_y"/>
                                          </p:val>
                                        </p:tav>
                                      </p:tavLst>
                                    </p:anim>
                                  </p:childTnLst>
                                </p:cTn>
                              </p:par>
                            </p:childTnLst>
                          </p:cTn>
                        </p:par>
                        <p:par>
                          <p:cTn id="25" fill="hold">
                            <p:stCondLst>
                              <p:cond delay="3250"/>
                            </p:stCondLst>
                            <p:childTnLst>
                              <p:par>
                                <p:cTn id="26" presetID="2" presetClass="entr" presetSubtype="8" fill="hold" grpId="0" nodeType="afterEffect">
                                  <p:stCondLst>
                                    <p:cond delay="0"/>
                                  </p:stCondLst>
                                  <p:childTnLst>
                                    <p:set>
                                      <p:cBhvr>
                                        <p:cTn id="27" dur="1" fill="hold">
                                          <p:stCondLst>
                                            <p:cond delay="0"/>
                                          </p:stCondLst>
                                        </p:cTn>
                                        <p:tgtEl>
                                          <p:spTgt spid="51"/>
                                        </p:tgtEl>
                                        <p:attrNameLst>
                                          <p:attrName>style.visibility</p:attrName>
                                        </p:attrNameLst>
                                      </p:cBhvr>
                                      <p:to>
                                        <p:strVal val="visible"/>
                                      </p:to>
                                    </p:set>
                                    <p:anim calcmode="lin" valueType="num">
                                      <p:cBhvr additive="base">
                                        <p:cTn id="28" dur="500" fill="hold"/>
                                        <p:tgtEl>
                                          <p:spTgt spid="51"/>
                                        </p:tgtEl>
                                        <p:attrNameLst>
                                          <p:attrName>ppt_x</p:attrName>
                                        </p:attrNameLst>
                                      </p:cBhvr>
                                      <p:tavLst>
                                        <p:tav tm="0">
                                          <p:val>
                                            <p:strVal val="0-#ppt_w/2"/>
                                          </p:val>
                                        </p:tav>
                                        <p:tav tm="100000">
                                          <p:val>
                                            <p:strVal val="#ppt_x"/>
                                          </p:val>
                                        </p:tav>
                                      </p:tavLst>
                                    </p:anim>
                                    <p:anim calcmode="lin" valueType="num">
                                      <p:cBhvr additive="base">
                                        <p:cTn id="29" dur="500" fill="hold"/>
                                        <p:tgtEl>
                                          <p:spTgt spid="51"/>
                                        </p:tgtEl>
                                        <p:attrNameLst>
                                          <p:attrName>ppt_y</p:attrName>
                                        </p:attrNameLst>
                                      </p:cBhvr>
                                      <p:tavLst>
                                        <p:tav tm="0">
                                          <p:val>
                                            <p:strVal val="#ppt_y"/>
                                          </p:val>
                                        </p:tav>
                                        <p:tav tm="100000">
                                          <p:val>
                                            <p:strVal val="#ppt_y"/>
                                          </p:val>
                                        </p:tav>
                                      </p:tavLst>
                                    </p:anim>
                                  </p:childTnLst>
                                </p:cTn>
                              </p:par>
                            </p:childTnLst>
                          </p:cTn>
                        </p:par>
                        <p:par>
                          <p:cTn id="30" fill="hold">
                            <p:stCondLst>
                              <p:cond delay="3750"/>
                            </p:stCondLst>
                            <p:childTnLst>
                              <p:par>
                                <p:cTn id="31" presetID="2" presetClass="entr" presetSubtype="4" fill="hold" nodeType="afterEffect">
                                  <p:stCondLst>
                                    <p:cond delay="50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ppt_x"/>
                                          </p:val>
                                        </p:tav>
                                        <p:tav tm="100000">
                                          <p:val>
                                            <p:strVal val="#ppt_x"/>
                                          </p:val>
                                        </p:tav>
                                      </p:tavLst>
                                    </p:anim>
                                    <p:anim calcmode="lin" valueType="num">
                                      <p:cBhvr additive="base">
                                        <p:cTn id="34" dur="500" fill="hold"/>
                                        <p:tgtEl>
                                          <p:spTgt spid="3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anim calcmode="lin" valueType="num">
                                      <p:cBhvr additive="base">
                                        <p:cTn id="37" dur="500" fill="hold"/>
                                        <p:tgtEl>
                                          <p:spTgt spid="57"/>
                                        </p:tgtEl>
                                        <p:attrNameLst>
                                          <p:attrName>ppt_x</p:attrName>
                                        </p:attrNameLst>
                                      </p:cBhvr>
                                      <p:tavLst>
                                        <p:tav tm="0">
                                          <p:val>
                                            <p:strVal val="#ppt_x"/>
                                          </p:val>
                                        </p:tav>
                                        <p:tav tm="100000">
                                          <p:val>
                                            <p:strVal val="#ppt_x"/>
                                          </p:val>
                                        </p:tav>
                                      </p:tavLst>
                                    </p:anim>
                                    <p:anim calcmode="lin" valueType="num">
                                      <p:cBhvr additive="base">
                                        <p:cTn id="38" dur="500" fill="hold"/>
                                        <p:tgtEl>
                                          <p:spTgt spid="57"/>
                                        </p:tgtEl>
                                        <p:attrNameLst>
                                          <p:attrName>ppt_y</p:attrName>
                                        </p:attrNameLst>
                                      </p:cBhvr>
                                      <p:tavLst>
                                        <p:tav tm="0">
                                          <p:val>
                                            <p:strVal val="1+#ppt_h/2"/>
                                          </p:val>
                                        </p:tav>
                                        <p:tav tm="100000">
                                          <p:val>
                                            <p:strVal val="#ppt_y"/>
                                          </p:val>
                                        </p:tav>
                                      </p:tavLst>
                                    </p:anim>
                                  </p:childTnLst>
                                </p:cTn>
                              </p:par>
                            </p:childTnLst>
                          </p:cTn>
                        </p:par>
                        <p:par>
                          <p:cTn id="39" fill="hold">
                            <p:stCondLst>
                              <p:cond delay="4750"/>
                            </p:stCondLst>
                            <p:childTnLst>
                              <p:par>
                                <p:cTn id="40" presetID="2" presetClass="entr" presetSubtype="2" fill="hold" grpId="0" nodeType="afterEffect">
                                  <p:stCondLst>
                                    <p:cond delay="500"/>
                                  </p:stCondLst>
                                  <p:childTnLst>
                                    <p:set>
                                      <p:cBhvr>
                                        <p:cTn id="41" dur="1" fill="hold">
                                          <p:stCondLst>
                                            <p:cond delay="0"/>
                                          </p:stCondLst>
                                        </p:cTn>
                                        <p:tgtEl>
                                          <p:spTgt spid="55"/>
                                        </p:tgtEl>
                                        <p:attrNameLst>
                                          <p:attrName>style.visibility</p:attrName>
                                        </p:attrNameLst>
                                      </p:cBhvr>
                                      <p:to>
                                        <p:strVal val="visible"/>
                                      </p:to>
                                    </p:set>
                                    <p:anim calcmode="lin" valueType="num">
                                      <p:cBhvr additive="base">
                                        <p:cTn id="42" dur="500" fill="hold"/>
                                        <p:tgtEl>
                                          <p:spTgt spid="55"/>
                                        </p:tgtEl>
                                        <p:attrNameLst>
                                          <p:attrName>ppt_x</p:attrName>
                                        </p:attrNameLst>
                                      </p:cBhvr>
                                      <p:tavLst>
                                        <p:tav tm="0">
                                          <p:val>
                                            <p:strVal val="1+#ppt_w/2"/>
                                          </p:val>
                                        </p:tav>
                                        <p:tav tm="100000">
                                          <p:val>
                                            <p:strVal val="#ppt_x"/>
                                          </p:val>
                                        </p:tav>
                                      </p:tavLst>
                                    </p:anim>
                                    <p:anim calcmode="lin" valueType="num">
                                      <p:cBhvr additive="base">
                                        <p:cTn id="43" dur="500" fill="hold"/>
                                        <p:tgtEl>
                                          <p:spTgt spid="55"/>
                                        </p:tgtEl>
                                        <p:attrNameLst>
                                          <p:attrName>ppt_y</p:attrName>
                                        </p:attrNameLst>
                                      </p:cBhvr>
                                      <p:tavLst>
                                        <p:tav tm="0">
                                          <p:val>
                                            <p:strVal val="#ppt_y"/>
                                          </p:val>
                                        </p:tav>
                                        <p:tav tm="100000">
                                          <p:val>
                                            <p:strVal val="#ppt_y"/>
                                          </p:val>
                                        </p:tav>
                                      </p:tavLst>
                                    </p:anim>
                                  </p:childTnLst>
                                </p:cTn>
                              </p:par>
                            </p:childTnLst>
                          </p:cTn>
                        </p:par>
                        <p:par>
                          <p:cTn id="44" fill="hold">
                            <p:stCondLst>
                              <p:cond delay="5750"/>
                            </p:stCondLst>
                            <p:childTnLst>
                              <p:par>
                                <p:cTn id="45" presetID="2" presetClass="entr" presetSubtype="2" fill="hold" nodeType="after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1+#ppt_w/2"/>
                                          </p:val>
                                        </p:tav>
                                        <p:tav tm="100000">
                                          <p:val>
                                            <p:strVal val="#ppt_x"/>
                                          </p:val>
                                        </p:tav>
                                      </p:tavLst>
                                    </p:anim>
                                    <p:anim calcmode="lin" valueType="num">
                                      <p:cBhvr additive="base">
                                        <p:cTn id="48" dur="500" fill="hold"/>
                                        <p:tgtEl>
                                          <p:spTgt spid="33"/>
                                        </p:tgtEl>
                                        <p:attrNameLst>
                                          <p:attrName>ppt_y</p:attrName>
                                        </p:attrNameLst>
                                      </p:cBhvr>
                                      <p:tavLst>
                                        <p:tav tm="0">
                                          <p:val>
                                            <p:strVal val="#ppt_y"/>
                                          </p:val>
                                        </p:tav>
                                        <p:tav tm="100000">
                                          <p:val>
                                            <p:strVal val="#ppt_y"/>
                                          </p:val>
                                        </p:tav>
                                      </p:tavLst>
                                    </p:anim>
                                  </p:childTnLst>
                                </p:cTn>
                              </p:par>
                            </p:childTnLst>
                          </p:cTn>
                        </p:par>
                        <p:par>
                          <p:cTn id="49" fill="hold">
                            <p:stCondLst>
                              <p:cond delay="6250"/>
                            </p:stCondLst>
                            <p:childTnLst>
                              <p:par>
                                <p:cTn id="50" presetID="2" presetClass="entr" presetSubtype="4" fill="hold" grpId="0" nodeType="afterEffect">
                                  <p:stCondLst>
                                    <p:cond delay="500"/>
                                  </p:stCondLst>
                                  <p:childTnLst>
                                    <p:set>
                                      <p:cBhvr>
                                        <p:cTn id="51" dur="1" fill="hold">
                                          <p:stCondLst>
                                            <p:cond delay="0"/>
                                          </p:stCondLst>
                                        </p:cTn>
                                        <p:tgtEl>
                                          <p:spTgt spid="61"/>
                                        </p:tgtEl>
                                        <p:attrNameLst>
                                          <p:attrName>style.visibility</p:attrName>
                                        </p:attrNameLst>
                                      </p:cBhvr>
                                      <p:to>
                                        <p:strVal val="visible"/>
                                      </p:to>
                                    </p:set>
                                    <p:anim calcmode="lin" valueType="num">
                                      <p:cBhvr additive="base">
                                        <p:cTn id="52" dur="500" fill="hold"/>
                                        <p:tgtEl>
                                          <p:spTgt spid="61"/>
                                        </p:tgtEl>
                                        <p:attrNameLst>
                                          <p:attrName>ppt_x</p:attrName>
                                        </p:attrNameLst>
                                      </p:cBhvr>
                                      <p:tavLst>
                                        <p:tav tm="0">
                                          <p:val>
                                            <p:strVal val="#ppt_x"/>
                                          </p:val>
                                        </p:tav>
                                        <p:tav tm="100000">
                                          <p:val>
                                            <p:strVal val="#ppt_x"/>
                                          </p:val>
                                        </p:tav>
                                      </p:tavLst>
                                    </p:anim>
                                    <p:anim calcmode="lin" valueType="num">
                                      <p:cBhvr additive="base">
                                        <p:cTn id="53" dur="500" fill="hold"/>
                                        <p:tgtEl>
                                          <p:spTgt spid="61"/>
                                        </p:tgtEl>
                                        <p:attrNameLst>
                                          <p:attrName>ppt_y</p:attrName>
                                        </p:attrNameLst>
                                      </p:cBhvr>
                                      <p:tavLst>
                                        <p:tav tm="0">
                                          <p:val>
                                            <p:strVal val="1+#ppt_h/2"/>
                                          </p:val>
                                        </p:tav>
                                        <p:tav tm="100000">
                                          <p:val>
                                            <p:strVal val="#ppt_y"/>
                                          </p:val>
                                        </p:tav>
                                      </p:tavLst>
                                    </p:anim>
                                  </p:childTnLst>
                                </p:cTn>
                              </p:par>
                            </p:childTnLst>
                          </p:cTn>
                        </p:par>
                        <p:par>
                          <p:cTn id="54" fill="hold">
                            <p:stCondLst>
                              <p:cond delay="7250"/>
                            </p:stCondLst>
                            <p:childTnLst>
                              <p:par>
                                <p:cTn id="55" presetID="2" presetClass="entr" presetSubtype="4" fill="hold" nodeType="afterEffect">
                                  <p:stCondLst>
                                    <p:cond delay="0"/>
                                  </p:stCondLst>
                                  <p:childTnLst>
                                    <p:set>
                                      <p:cBhvr>
                                        <p:cTn id="56" dur="1" fill="hold">
                                          <p:stCondLst>
                                            <p:cond delay="0"/>
                                          </p:stCondLst>
                                        </p:cTn>
                                        <p:tgtEl>
                                          <p:spTgt spid="36"/>
                                        </p:tgtEl>
                                        <p:attrNameLst>
                                          <p:attrName>style.visibility</p:attrName>
                                        </p:attrNameLst>
                                      </p:cBhvr>
                                      <p:to>
                                        <p:strVal val="visible"/>
                                      </p:to>
                                    </p:set>
                                    <p:anim calcmode="lin" valueType="num">
                                      <p:cBhvr additive="base">
                                        <p:cTn id="57" dur="500" fill="hold"/>
                                        <p:tgtEl>
                                          <p:spTgt spid="36"/>
                                        </p:tgtEl>
                                        <p:attrNameLst>
                                          <p:attrName>ppt_x</p:attrName>
                                        </p:attrNameLst>
                                      </p:cBhvr>
                                      <p:tavLst>
                                        <p:tav tm="0">
                                          <p:val>
                                            <p:strVal val="#ppt_x"/>
                                          </p:val>
                                        </p:tav>
                                        <p:tav tm="100000">
                                          <p:val>
                                            <p:strVal val="#ppt_x"/>
                                          </p:val>
                                        </p:tav>
                                      </p:tavLst>
                                    </p:anim>
                                    <p:anim calcmode="lin" valueType="num">
                                      <p:cBhvr additive="base">
                                        <p:cTn id="5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1" grpId="0">
        <p:bldAsOne/>
      </p:bldGraphic>
      <p:bldGraphic spid="55" grpId="0">
        <p:bldAsOne/>
      </p:bldGraphic>
      <p:bldGraphic spid="57" grpId="0">
        <p:bldAsOne/>
      </p:bldGraphic>
      <p:bldGraphic spid="61" grpId="0">
        <p:bldAsOne/>
      </p:bldGraphic>
      <p:bldGraphic spid="22" grpId="0">
        <p:bldAsOne/>
      </p:bldGraphic>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2" name="Text 9"/>
          <p:cNvSpPr/>
          <p:nvPr/>
        </p:nvSpPr>
        <p:spPr>
          <a:xfrm>
            <a:off x="4314825" y="3907631"/>
            <a:ext cx="4257675" cy="38576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rPr>
              <a:t>Planning scalable schemas for secure storage of exam data, student logs, and automated evidence collection.</a:t>
            </a:r>
            <a:endParaRPr lang="en-US" sz="1200" dirty="0"/>
          </a:p>
        </p:txBody>
      </p:sp>
      <p:sp>
        <p:nvSpPr>
          <p:cNvPr id="11" name="Text 8"/>
          <p:cNvSpPr/>
          <p:nvPr/>
        </p:nvSpPr>
        <p:spPr>
          <a:xfrm>
            <a:off x="4314825" y="3577233"/>
            <a:ext cx="1730667"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0055FF"/>
                </a:solidFill>
              </a:rPr>
              <a:t>Database Management</a:t>
            </a:r>
          </a:p>
        </p:txBody>
      </p:sp>
      <p:sp>
        <p:nvSpPr>
          <p:cNvPr id="10" name="Text 7"/>
          <p:cNvSpPr/>
          <p:nvPr/>
        </p:nvSpPr>
        <p:spPr>
          <a:xfrm>
            <a:off x="4314825" y="2905720"/>
            <a:ext cx="4257675" cy="38576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rPr>
              <a:t>Engineering the core logic that detects unauthorized system calls, background processes, and suspicious behavior.</a:t>
            </a:r>
            <a:endParaRPr lang="en-US" sz="1200" dirty="0"/>
          </a:p>
        </p:txBody>
      </p:sp>
      <p:sp>
        <p:nvSpPr>
          <p:cNvPr id="9" name="Text 6"/>
          <p:cNvSpPr/>
          <p:nvPr/>
        </p:nvSpPr>
        <p:spPr>
          <a:xfrm>
            <a:off x="4314825" y="2575322"/>
            <a:ext cx="1335174"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0055FF"/>
                </a:solidFill>
              </a:rPr>
              <a:t>Anti-Cheat Engine</a:t>
            </a:r>
          </a:p>
        </p:txBody>
      </p:sp>
      <p:sp>
        <p:nvSpPr>
          <p:cNvPr id="8" name="Text 5"/>
          <p:cNvSpPr/>
          <p:nvPr/>
        </p:nvSpPr>
        <p:spPr>
          <a:xfrm>
            <a:off x="4314825" y="1903809"/>
            <a:ext cx="4257675" cy="38576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rPr>
              <a:t>Developing a high-performance asynchronous server to handle concurrent exam sessions with minimal latency.</a:t>
            </a:r>
            <a:endParaRPr lang="en-US" sz="1200" dirty="0"/>
          </a:p>
        </p:txBody>
      </p:sp>
      <p:sp>
        <p:nvSpPr>
          <p:cNvPr id="7" name="Text 4"/>
          <p:cNvSpPr/>
          <p:nvPr/>
        </p:nvSpPr>
        <p:spPr>
          <a:xfrm>
            <a:off x="4314825" y="1573411"/>
            <a:ext cx="1219245"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0055FF"/>
                </a:solidFill>
              </a:rPr>
              <a:t>FastAPI Backend</a:t>
            </a:r>
          </a:p>
        </p:txBody>
      </p:sp>
      <p:sp>
        <p:nvSpPr>
          <p:cNvPr id="6" name="Text 3"/>
          <p:cNvSpPr/>
          <p:nvPr/>
        </p:nvSpPr>
        <p:spPr>
          <a:xfrm>
            <a:off x="4314825" y="901898"/>
            <a:ext cx="4257675" cy="38576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rPr>
              <a:t>Designing the high-level technical blueprint for robust client-server communication and system scalability.</a:t>
            </a:r>
            <a:endParaRPr lang="en-US" sz="1200" dirty="0"/>
          </a:p>
        </p:txBody>
      </p:sp>
      <p:sp>
        <p:nvSpPr>
          <p:cNvPr id="5" name="Text 2"/>
          <p:cNvSpPr/>
          <p:nvPr/>
        </p:nvSpPr>
        <p:spPr>
          <a:xfrm>
            <a:off x="4314825" y="571500"/>
            <a:ext cx="1495409"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0055FF"/>
                </a:solidFill>
              </a:rPr>
              <a:t>System Architecture</a:t>
            </a:r>
          </a:p>
        </p:txBody>
      </p:sp>
      <p:grpSp>
        <p:nvGrpSpPr>
          <p:cNvPr id="27" name="Group 26"/>
          <p:cNvGrpSpPr/>
          <p:nvPr/>
        </p:nvGrpSpPr>
        <p:grpSpPr>
          <a:xfrm>
            <a:off x="0" y="3572"/>
            <a:ext cx="4194312" cy="5143500"/>
            <a:chOff x="0" y="3572"/>
            <a:chExt cx="4164496" cy="5143500"/>
          </a:xfrm>
        </p:grpSpPr>
        <p:sp>
          <p:nvSpPr>
            <p:cNvPr id="23" name="Rectangle 22"/>
            <p:cNvSpPr/>
            <p:nvPr/>
          </p:nvSpPr>
          <p:spPr>
            <a:xfrm>
              <a:off x="0" y="3572"/>
              <a:ext cx="4164496"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71500" y="571500"/>
              <a:ext cx="422413" cy="422413"/>
            </a:xfrm>
            <a:prstGeom prst="rect">
              <a:avLst/>
            </a:prstGeom>
            <a:solidFill>
              <a:srgbClr val="0055FF"/>
            </a:solidFill>
            <a:ln>
              <a:solidFill>
                <a:srgbClr val="0055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0"/>
          <p:cNvSpPr/>
          <p:nvPr/>
        </p:nvSpPr>
        <p:spPr>
          <a:xfrm>
            <a:off x="571500" y="1285875"/>
            <a:ext cx="3543300" cy="880077"/>
          </a:xfrm>
          <a:prstGeom prst="rect">
            <a:avLst/>
          </a:prstGeom>
          <a:noFill/>
          <a:ln/>
        </p:spPr>
        <p:txBody>
          <a:bodyPr wrap="square" lIns="0" tIns="0" rIns="0" bIns="0" rtlCol="0" anchor="t">
            <a:spAutoFit/>
          </a:bodyPr>
          <a:lstStyle/>
          <a:p>
            <a:pPr marL="0" indent="0" algn="l">
              <a:lnSpc>
                <a:spcPts val="3500"/>
              </a:lnSpc>
              <a:buNone/>
            </a:pPr>
            <a:r>
              <a:rPr lang="en-US" sz="2862" b="1" dirty="0">
                <a:solidFill>
                  <a:srgbClr val="000000"/>
                </a:solidFill>
              </a:rPr>
              <a:t>Md. Razab
Ali</a:t>
            </a:r>
            <a:endParaRPr lang="en-US" sz="2862" dirty="0"/>
          </a:p>
        </p:txBody>
      </p:sp>
      <p:sp>
        <p:nvSpPr>
          <p:cNvPr id="4" name="Text 1"/>
          <p:cNvSpPr/>
          <p:nvPr/>
        </p:nvSpPr>
        <p:spPr>
          <a:xfrm>
            <a:off x="571500" y="2308827"/>
            <a:ext cx="3543300" cy="410369"/>
          </a:xfrm>
          <a:prstGeom prst="rect">
            <a:avLst/>
          </a:prstGeom>
          <a:noFill/>
          <a:ln/>
        </p:spPr>
        <p:txBody>
          <a:bodyPr wrap="square" lIns="0" tIns="0" rIns="0" bIns="0" rtlCol="0" anchor="t">
            <a:spAutoFit/>
          </a:bodyPr>
          <a:lstStyle/>
          <a:p>
            <a:pPr marL="0" indent="0" algn="l">
              <a:lnSpc>
                <a:spcPts val="1600"/>
              </a:lnSpc>
              <a:buNone/>
            </a:pPr>
            <a:r>
              <a:rPr lang="en-US" sz="1300" b="1" kern="0" spc="2" dirty="0" smtClean="0">
                <a:solidFill>
                  <a:srgbClr val="0055FF"/>
                </a:solidFill>
              </a:rPr>
              <a:t>Leader, Backend Dev. &amp;</a:t>
            </a:r>
          </a:p>
          <a:p>
            <a:pPr marL="0" indent="0" algn="l">
              <a:lnSpc>
                <a:spcPts val="1600"/>
              </a:lnSpc>
              <a:buNone/>
            </a:pPr>
            <a:r>
              <a:rPr lang="en-US" sz="1300" b="1" kern="0" spc="2" dirty="0" smtClean="0">
                <a:solidFill>
                  <a:srgbClr val="0055FF"/>
                </a:solidFill>
              </a:rPr>
              <a:t>Anti-Cheat Architect</a:t>
            </a:r>
            <a:endParaRPr lang="en-US" sz="1300" dirty="0"/>
          </a:p>
        </p:txBody>
      </p:sp>
      <p:cxnSp>
        <p:nvCxnSpPr>
          <p:cNvPr id="15" name="Straight Connector 14"/>
          <p:cNvCxnSpPr/>
          <p:nvPr/>
        </p:nvCxnSpPr>
        <p:spPr>
          <a:xfrm>
            <a:off x="4194313" y="571500"/>
            <a:ext cx="0" cy="81997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197626" y="1573411"/>
            <a:ext cx="0" cy="81997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194313" y="2575322"/>
            <a:ext cx="0" cy="81997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200939" y="3577233"/>
            <a:ext cx="0" cy="819978"/>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500"/>
                            </p:stCondLst>
                            <p:childTnLst>
                              <p:par>
                                <p:cTn id="11" presetID="2" presetClass="entr" presetSubtype="8"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1000" fill="hold"/>
                                        <p:tgtEl>
                                          <p:spTgt spid="4"/>
                                        </p:tgtEl>
                                        <p:attrNameLst>
                                          <p:attrName>ppt_x</p:attrName>
                                        </p:attrNameLst>
                                      </p:cBhvr>
                                      <p:tavLst>
                                        <p:tav tm="0">
                                          <p:val>
                                            <p:strVal val="0-#ppt_w/2"/>
                                          </p:val>
                                        </p:tav>
                                        <p:tav tm="100000">
                                          <p:val>
                                            <p:strVal val="#ppt_x"/>
                                          </p:val>
                                        </p:tav>
                                      </p:tavLst>
                                    </p:anim>
                                    <p:anim calcmode="lin" valueType="num">
                                      <p:cBhvr additive="base">
                                        <p:cTn id="14" dur="1000" fill="hold"/>
                                        <p:tgtEl>
                                          <p:spTgt spid="4"/>
                                        </p:tgtEl>
                                        <p:attrNameLst>
                                          <p:attrName>ppt_y</p:attrName>
                                        </p:attrNameLst>
                                      </p:cBhvr>
                                      <p:tavLst>
                                        <p:tav tm="0">
                                          <p:val>
                                            <p:strVal val="#ppt_y"/>
                                          </p:val>
                                        </p:tav>
                                        <p:tav tm="100000">
                                          <p:val>
                                            <p:strVal val="#ppt_y"/>
                                          </p:val>
                                        </p:tav>
                                      </p:tavLst>
                                    </p:anim>
                                  </p:childTnLst>
                                </p:cTn>
                              </p:par>
                            </p:childTnLst>
                          </p:cTn>
                        </p:par>
                        <p:par>
                          <p:cTn id="15" fill="hold">
                            <p:stCondLst>
                              <p:cond delay="2500"/>
                            </p:stCondLst>
                            <p:childTnLst>
                              <p:par>
                                <p:cTn id="16" presetID="10" presetClass="entr" presetSubtype="0" fill="hold"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par>
                          <p:cTn id="19" fill="hold">
                            <p:stCondLst>
                              <p:cond delay="3000"/>
                            </p:stCondLst>
                            <p:childTnLst>
                              <p:par>
                                <p:cTn id="20" presetID="2" presetClass="entr" presetSubtype="8" fill="hold" grpId="0" nodeType="afterEffect">
                                  <p:stCondLst>
                                    <p:cond delay="25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0-#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par>
                          <p:cTn id="24" fill="hold">
                            <p:stCondLst>
                              <p:cond delay="3750"/>
                            </p:stCondLst>
                            <p:childTnLst>
                              <p:par>
                                <p:cTn id="25" presetID="2" presetClass="entr" presetSubtype="8" fill="hold" grpId="0" nodeType="afterEffect">
                                  <p:stCondLst>
                                    <p:cond delay="25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0-#ppt_w/2"/>
                                          </p:val>
                                        </p:tav>
                                        <p:tav tm="100000">
                                          <p:val>
                                            <p:strVal val="#ppt_x"/>
                                          </p:val>
                                        </p:tav>
                                      </p:tavLst>
                                    </p:anim>
                                    <p:anim calcmode="lin" valueType="num">
                                      <p:cBhvr additive="base">
                                        <p:cTn id="28" dur="500" fill="hold"/>
                                        <p:tgtEl>
                                          <p:spTgt spid="6"/>
                                        </p:tgtEl>
                                        <p:attrNameLst>
                                          <p:attrName>ppt_y</p:attrName>
                                        </p:attrNameLst>
                                      </p:cBhvr>
                                      <p:tavLst>
                                        <p:tav tm="0">
                                          <p:val>
                                            <p:strVal val="#ppt_y"/>
                                          </p:val>
                                        </p:tav>
                                        <p:tav tm="100000">
                                          <p:val>
                                            <p:strVal val="#ppt_y"/>
                                          </p:val>
                                        </p:tav>
                                      </p:tavLst>
                                    </p:anim>
                                  </p:childTnLst>
                                </p:cTn>
                              </p:par>
                            </p:childTnLst>
                          </p:cTn>
                        </p:par>
                        <p:par>
                          <p:cTn id="29" fill="hold">
                            <p:stCondLst>
                              <p:cond delay="4500"/>
                            </p:stCondLst>
                            <p:childTnLst>
                              <p:par>
                                <p:cTn id="30" presetID="10" presetClass="entr" presetSubtype="0" fill="hold" nodeType="afterEffect">
                                  <p:stCondLst>
                                    <p:cond delay="50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par>
                          <p:cTn id="33" fill="hold">
                            <p:stCondLst>
                              <p:cond delay="5500"/>
                            </p:stCondLst>
                            <p:childTnLst>
                              <p:par>
                                <p:cTn id="34" presetID="2" presetClass="entr" presetSubtype="8" fill="hold" grpId="0" nodeType="afterEffect">
                                  <p:stCondLst>
                                    <p:cond delay="25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0-#ppt_w/2"/>
                                          </p:val>
                                        </p:tav>
                                        <p:tav tm="100000">
                                          <p:val>
                                            <p:strVal val="#ppt_x"/>
                                          </p:val>
                                        </p:tav>
                                      </p:tavLst>
                                    </p:anim>
                                    <p:anim calcmode="lin" valueType="num">
                                      <p:cBhvr additive="base">
                                        <p:cTn id="37" dur="500" fill="hold"/>
                                        <p:tgtEl>
                                          <p:spTgt spid="7"/>
                                        </p:tgtEl>
                                        <p:attrNameLst>
                                          <p:attrName>ppt_y</p:attrName>
                                        </p:attrNameLst>
                                      </p:cBhvr>
                                      <p:tavLst>
                                        <p:tav tm="0">
                                          <p:val>
                                            <p:strVal val="#ppt_y"/>
                                          </p:val>
                                        </p:tav>
                                        <p:tav tm="100000">
                                          <p:val>
                                            <p:strVal val="#ppt_y"/>
                                          </p:val>
                                        </p:tav>
                                      </p:tavLst>
                                    </p:anim>
                                  </p:childTnLst>
                                </p:cTn>
                              </p:par>
                            </p:childTnLst>
                          </p:cTn>
                        </p:par>
                        <p:par>
                          <p:cTn id="38" fill="hold">
                            <p:stCondLst>
                              <p:cond delay="6250"/>
                            </p:stCondLst>
                            <p:childTnLst>
                              <p:par>
                                <p:cTn id="39" presetID="2" presetClass="entr" presetSubtype="8" fill="hold" grpId="0" nodeType="afterEffect">
                                  <p:stCondLst>
                                    <p:cond delay="25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0-#ppt_w/2"/>
                                          </p:val>
                                        </p:tav>
                                        <p:tav tm="100000">
                                          <p:val>
                                            <p:strVal val="#ppt_x"/>
                                          </p:val>
                                        </p:tav>
                                      </p:tavLst>
                                    </p:anim>
                                    <p:anim calcmode="lin" valueType="num">
                                      <p:cBhvr additive="base">
                                        <p:cTn id="42" dur="500" fill="hold"/>
                                        <p:tgtEl>
                                          <p:spTgt spid="8"/>
                                        </p:tgtEl>
                                        <p:attrNameLst>
                                          <p:attrName>ppt_y</p:attrName>
                                        </p:attrNameLst>
                                      </p:cBhvr>
                                      <p:tavLst>
                                        <p:tav tm="0">
                                          <p:val>
                                            <p:strVal val="#ppt_y"/>
                                          </p:val>
                                        </p:tav>
                                        <p:tav tm="100000">
                                          <p:val>
                                            <p:strVal val="#ppt_y"/>
                                          </p:val>
                                        </p:tav>
                                      </p:tavLst>
                                    </p:anim>
                                  </p:childTnLst>
                                </p:cTn>
                              </p:par>
                            </p:childTnLst>
                          </p:cTn>
                        </p:par>
                        <p:par>
                          <p:cTn id="43" fill="hold">
                            <p:stCondLst>
                              <p:cond delay="7000"/>
                            </p:stCondLst>
                            <p:childTnLst>
                              <p:par>
                                <p:cTn id="44" presetID="10" presetClass="entr" presetSubtype="0" fill="hold" nodeType="after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par>
                          <p:cTn id="47" fill="hold">
                            <p:stCondLst>
                              <p:cond delay="8000"/>
                            </p:stCondLst>
                            <p:childTnLst>
                              <p:par>
                                <p:cTn id="48" presetID="2" presetClass="entr" presetSubtype="8" fill="hold" grpId="0" nodeType="afterEffect">
                                  <p:stCondLst>
                                    <p:cond delay="250"/>
                                  </p:stCondLst>
                                  <p:childTnLst>
                                    <p:set>
                                      <p:cBhvr>
                                        <p:cTn id="49" dur="1" fill="hold">
                                          <p:stCondLst>
                                            <p:cond delay="0"/>
                                          </p:stCondLst>
                                        </p:cTn>
                                        <p:tgtEl>
                                          <p:spTgt spid="9"/>
                                        </p:tgtEl>
                                        <p:attrNameLst>
                                          <p:attrName>style.visibility</p:attrName>
                                        </p:attrNameLst>
                                      </p:cBhvr>
                                      <p:to>
                                        <p:strVal val="visible"/>
                                      </p:to>
                                    </p:set>
                                    <p:anim calcmode="lin" valueType="num">
                                      <p:cBhvr additive="base">
                                        <p:cTn id="50" dur="500" fill="hold"/>
                                        <p:tgtEl>
                                          <p:spTgt spid="9"/>
                                        </p:tgtEl>
                                        <p:attrNameLst>
                                          <p:attrName>ppt_x</p:attrName>
                                        </p:attrNameLst>
                                      </p:cBhvr>
                                      <p:tavLst>
                                        <p:tav tm="0">
                                          <p:val>
                                            <p:strVal val="0-#ppt_w/2"/>
                                          </p:val>
                                        </p:tav>
                                        <p:tav tm="100000">
                                          <p:val>
                                            <p:strVal val="#ppt_x"/>
                                          </p:val>
                                        </p:tav>
                                      </p:tavLst>
                                    </p:anim>
                                    <p:anim calcmode="lin" valueType="num">
                                      <p:cBhvr additive="base">
                                        <p:cTn id="51" dur="500" fill="hold"/>
                                        <p:tgtEl>
                                          <p:spTgt spid="9"/>
                                        </p:tgtEl>
                                        <p:attrNameLst>
                                          <p:attrName>ppt_y</p:attrName>
                                        </p:attrNameLst>
                                      </p:cBhvr>
                                      <p:tavLst>
                                        <p:tav tm="0">
                                          <p:val>
                                            <p:strVal val="#ppt_y"/>
                                          </p:val>
                                        </p:tav>
                                        <p:tav tm="100000">
                                          <p:val>
                                            <p:strVal val="#ppt_y"/>
                                          </p:val>
                                        </p:tav>
                                      </p:tavLst>
                                    </p:anim>
                                  </p:childTnLst>
                                </p:cTn>
                              </p:par>
                            </p:childTnLst>
                          </p:cTn>
                        </p:par>
                        <p:par>
                          <p:cTn id="52" fill="hold">
                            <p:stCondLst>
                              <p:cond delay="8750"/>
                            </p:stCondLst>
                            <p:childTnLst>
                              <p:par>
                                <p:cTn id="53" presetID="2" presetClass="entr" presetSubtype="8" fill="hold" grpId="0" nodeType="afterEffect">
                                  <p:stCondLst>
                                    <p:cond delay="25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0-#ppt_w/2"/>
                                          </p:val>
                                        </p:tav>
                                        <p:tav tm="100000">
                                          <p:val>
                                            <p:strVal val="#ppt_x"/>
                                          </p:val>
                                        </p:tav>
                                      </p:tavLst>
                                    </p:anim>
                                    <p:anim calcmode="lin" valueType="num">
                                      <p:cBhvr additive="base">
                                        <p:cTn id="56" dur="500" fill="hold"/>
                                        <p:tgtEl>
                                          <p:spTgt spid="10"/>
                                        </p:tgtEl>
                                        <p:attrNameLst>
                                          <p:attrName>ppt_y</p:attrName>
                                        </p:attrNameLst>
                                      </p:cBhvr>
                                      <p:tavLst>
                                        <p:tav tm="0">
                                          <p:val>
                                            <p:strVal val="#ppt_y"/>
                                          </p:val>
                                        </p:tav>
                                        <p:tav tm="100000">
                                          <p:val>
                                            <p:strVal val="#ppt_y"/>
                                          </p:val>
                                        </p:tav>
                                      </p:tavLst>
                                    </p:anim>
                                  </p:childTnLst>
                                </p:cTn>
                              </p:par>
                            </p:childTnLst>
                          </p:cTn>
                        </p:par>
                        <p:par>
                          <p:cTn id="57" fill="hold">
                            <p:stCondLst>
                              <p:cond delay="9500"/>
                            </p:stCondLst>
                            <p:childTnLst>
                              <p:par>
                                <p:cTn id="58" presetID="10" presetClass="entr" presetSubtype="0" fill="hold" nodeType="afterEffect">
                                  <p:stCondLst>
                                    <p:cond delay="50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childTnLst>
                          </p:cTn>
                        </p:par>
                        <p:par>
                          <p:cTn id="61" fill="hold">
                            <p:stCondLst>
                              <p:cond delay="10500"/>
                            </p:stCondLst>
                            <p:childTnLst>
                              <p:par>
                                <p:cTn id="62" presetID="2" presetClass="entr" presetSubtype="8" fill="hold" grpId="0" nodeType="afterEffect">
                                  <p:stCondLst>
                                    <p:cond delay="250"/>
                                  </p:stCondLst>
                                  <p:childTnLst>
                                    <p:set>
                                      <p:cBhvr>
                                        <p:cTn id="63" dur="1" fill="hold">
                                          <p:stCondLst>
                                            <p:cond delay="0"/>
                                          </p:stCondLst>
                                        </p:cTn>
                                        <p:tgtEl>
                                          <p:spTgt spid="11"/>
                                        </p:tgtEl>
                                        <p:attrNameLst>
                                          <p:attrName>style.visibility</p:attrName>
                                        </p:attrNameLst>
                                      </p:cBhvr>
                                      <p:to>
                                        <p:strVal val="visible"/>
                                      </p:to>
                                    </p:set>
                                    <p:anim calcmode="lin" valueType="num">
                                      <p:cBhvr additive="base">
                                        <p:cTn id="64" dur="500" fill="hold"/>
                                        <p:tgtEl>
                                          <p:spTgt spid="11"/>
                                        </p:tgtEl>
                                        <p:attrNameLst>
                                          <p:attrName>ppt_x</p:attrName>
                                        </p:attrNameLst>
                                      </p:cBhvr>
                                      <p:tavLst>
                                        <p:tav tm="0">
                                          <p:val>
                                            <p:strVal val="0-#ppt_w/2"/>
                                          </p:val>
                                        </p:tav>
                                        <p:tav tm="100000">
                                          <p:val>
                                            <p:strVal val="#ppt_x"/>
                                          </p:val>
                                        </p:tav>
                                      </p:tavLst>
                                    </p:anim>
                                    <p:anim calcmode="lin" valueType="num">
                                      <p:cBhvr additive="base">
                                        <p:cTn id="65" dur="500" fill="hold"/>
                                        <p:tgtEl>
                                          <p:spTgt spid="11"/>
                                        </p:tgtEl>
                                        <p:attrNameLst>
                                          <p:attrName>ppt_y</p:attrName>
                                        </p:attrNameLst>
                                      </p:cBhvr>
                                      <p:tavLst>
                                        <p:tav tm="0">
                                          <p:val>
                                            <p:strVal val="#ppt_y"/>
                                          </p:val>
                                        </p:tav>
                                        <p:tav tm="100000">
                                          <p:val>
                                            <p:strVal val="#ppt_y"/>
                                          </p:val>
                                        </p:tav>
                                      </p:tavLst>
                                    </p:anim>
                                  </p:childTnLst>
                                </p:cTn>
                              </p:par>
                            </p:childTnLst>
                          </p:cTn>
                        </p:par>
                        <p:par>
                          <p:cTn id="66" fill="hold">
                            <p:stCondLst>
                              <p:cond delay="11250"/>
                            </p:stCondLst>
                            <p:childTnLst>
                              <p:par>
                                <p:cTn id="67" presetID="2" presetClass="entr" presetSubtype="8" fill="hold" nodeType="afterEffect">
                                  <p:stCondLst>
                                    <p:cond delay="250"/>
                                  </p:stCondLst>
                                  <p:childTnLst>
                                    <p:set>
                                      <p:cBhvr>
                                        <p:cTn id="68" dur="1" fill="hold">
                                          <p:stCondLst>
                                            <p:cond delay="0"/>
                                          </p:stCondLst>
                                        </p:cTn>
                                        <p:tgtEl>
                                          <p:spTgt spid="12">
                                            <p:txEl>
                                              <p:pRg st="0" end="0"/>
                                            </p:txEl>
                                          </p:spTgt>
                                        </p:tgtEl>
                                        <p:attrNameLst>
                                          <p:attrName>style.visibility</p:attrName>
                                        </p:attrNameLst>
                                      </p:cBhvr>
                                      <p:to>
                                        <p:strVal val="visible"/>
                                      </p:to>
                                    </p:set>
                                    <p:anim calcmode="lin" valueType="num">
                                      <p:cBhvr additive="base">
                                        <p:cTn id="69"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70"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P spid="9" grpId="0" animBg="1"/>
      <p:bldP spid="8" grpId="0" animBg="1"/>
      <p:bldP spid="7" grpId="0" animBg="1"/>
      <p:bldP spid="6" grpId="0" animBg="1"/>
      <p:bldP spid="5" grpId="0" animBg="1"/>
      <p:bldP spid="3"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grpSp>
        <p:nvGrpSpPr>
          <p:cNvPr id="21" name="Group 20"/>
          <p:cNvGrpSpPr/>
          <p:nvPr/>
        </p:nvGrpSpPr>
        <p:grpSpPr>
          <a:xfrm>
            <a:off x="2686878" y="581439"/>
            <a:ext cx="5888935" cy="797537"/>
            <a:chOff x="2683565" y="561561"/>
            <a:chExt cx="5888935" cy="797537"/>
          </a:xfrm>
        </p:grpSpPr>
        <p:sp>
          <p:nvSpPr>
            <p:cNvPr id="6" name="Text 3"/>
            <p:cNvSpPr/>
            <p:nvPr/>
          </p:nvSpPr>
          <p:spPr>
            <a:xfrm>
              <a:off x="2870671" y="571500"/>
              <a:ext cx="1195520"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0055FF"/>
                  </a:solidFill>
                </a:rPr>
                <a:t>Admin Interface</a:t>
              </a:r>
              <a:endParaRPr lang="en-US" sz="1400" b="1" dirty="0"/>
            </a:p>
          </p:txBody>
        </p:sp>
        <p:sp>
          <p:nvSpPr>
            <p:cNvPr id="7" name="Text 4"/>
            <p:cNvSpPr/>
            <p:nvPr/>
          </p:nvSpPr>
          <p:spPr>
            <a:xfrm>
              <a:off x="2870671" y="930473"/>
              <a:ext cx="5701829" cy="428625"/>
            </a:xfrm>
            <a:prstGeom prst="rect">
              <a:avLst/>
            </a:prstGeom>
            <a:noFill/>
            <a:ln/>
          </p:spPr>
          <p:txBody>
            <a:bodyPr wrap="square" lIns="0" tIns="0" rIns="0" bIns="0" rtlCol="0" anchor="t">
              <a:spAutoFit/>
            </a:bodyPr>
            <a:lstStyle/>
            <a:p>
              <a:pPr marL="0" indent="0" algn="l">
                <a:lnSpc>
                  <a:spcPts val="1700"/>
                </a:lnSpc>
                <a:buNone/>
              </a:pPr>
              <a:r>
                <a:rPr lang="en-US" sz="1200" dirty="0">
                  <a:solidFill>
                    <a:srgbClr val="333333"/>
                  </a:solidFill>
                </a:rPr>
                <a:t>Creating a robust dashboard for educators to manage exams and monitor live sessions with real-time data visualization.</a:t>
              </a:r>
              <a:endParaRPr lang="en-US" sz="1200" dirty="0"/>
            </a:p>
          </p:txBody>
        </p:sp>
        <p:cxnSp>
          <p:nvCxnSpPr>
            <p:cNvPr id="17" name="Straight Connector 16"/>
            <p:cNvCxnSpPr/>
            <p:nvPr/>
          </p:nvCxnSpPr>
          <p:spPr>
            <a:xfrm>
              <a:off x="2683565" y="561561"/>
              <a:ext cx="0" cy="787598"/>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2683565" y="1701998"/>
            <a:ext cx="5888935" cy="787599"/>
            <a:chOff x="2683565" y="1701998"/>
            <a:chExt cx="5888935" cy="787599"/>
          </a:xfrm>
        </p:grpSpPr>
        <p:sp>
          <p:nvSpPr>
            <p:cNvPr id="8" name="Text 5"/>
            <p:cNvSpPr/>
            <p:nvPr/>
          </p:nvSpPr>
          <p:spPr>
            <a:xfrm>
              <a:off x="2870671" y="1701998"/>
              <a:ext cx="1585306"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0055FF"/>
                  </a:solidFill>
                </a:rPr>
                <a:t>Student Environment</a:t>
              </a:r>
              <a:endParaRPr lang="en-US" sz="1400" b="1" dirty="0"/>
            </a:p>
          </p:txBody>
        </p:sp>
        <p:sp>
          <p:nvSpPr>
            <p:cNvPr id="9" name="Text 6"/>
            <p:cNvSpPr/>
            <p:nvPr/>
          </p:nvSpPr>
          <p:spPr>
            <a:xfrm>
              <a:off x="2870671" y="2060972"/>
              <a:ext cx="5701829" cy="428625"/>
            </a:xfrm>
            <a:prstGeom prst="rect">
              <a:avLst/>
            </a:prstGeom>
            <a:noFill/>
            <a:ln/>
          </p:spPr>
          <p:txBody>
            <a:bodyPr wrap="square" lIns="0" tIns="0" rIns="0" bIns="0" rtlCol="0" anchor="t">
              <a:spAutoFit/>
            </a:bodyPr>
            <a:lstStyle/>
            <a:p>
              <a:pPr marL="0" indent="0" algn="l">
                <a:lnSpc>
                  <a:spcPts val="1700"/>
                </a:lnSpc>
                <a:buNone/>
              </a:pPr>
              <a:r>
                <a:rPr lang="en-US" sz="1200" dirty="0">
                  <a:solidFill>
                    <a:srgbClr val="333333"/>
                  </a:solidFill>
                </a:rPr>
                <a:t>Building a secure, distraction-free interface using Python (Tkinter/PyQt) that locks down system resources during testing.</a:t>
              </a:r>
              <a:endParaRPr lang="en-US" sz="1200" dirty="0"/>
            </a:p>
          </p:txBody>
        </p:sp>
        <p:cxnSp>
          <p:nvCxnSpPr>
            <p:cNvPr id="18" name="Straight Connector 17"/>
            <p:cNvCxnSpPr/>
            <p:nvPr/>
          </p:nvCxnSpPr>
          <p:spPr>
            <a:xfrm>
              <a:off x="2683565" y="1701998"/>
              <a:ext cx="0" cy="787598"/>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2683565" y="2832497"/>
            <a:ext cx="5888935" cy="787598"/>
            <a:chOff x="2683565" y="2832497"/>
            <a:chExt cx="5888935" cy="787598"/>
          </a:xfrm>
        </p:grpSpPr>
        <p:sp>
          <p:nvSpPr>
            <p:cNvPr id="10" name="Text 7"/>
            <p:cNvSpPr/>
            <p:nvPr/>
          </p:nvSpPr>
          <p:spPr>
            <a:xfrm>
              <a:off x="2870671" y="2832497"/>
              <a:ext cx="1448795"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0055FF"/>
                  </a:solidFill>
                </a:rPr>
                <a:t>Integrated Features</a:t>
              </a:r>
              <a:endParaRPr lang="en-US" sz="1400" b="1" dirty="0"/>
            </a:p>
          </p:txBody>
        </p:sp>
        <p:sp>
          <p:nvSpPr>
            <p:cNvPr id="11" name="Text 8"/>
            <p:cNvSpPr/>
            <p:nvPr/>
          </p:nvSpPr>
          <p:spPr>
            <a:xfrm>
              <a:off x="2870671" y="3191470"/>
              <a:ext cx="5701829" cy="428625"/>
            </a:xfrm>
            <a:prstGeom prst="rect">
              <a:avLst/>
            </a:prstGeom>
            <a:noFill/>
            <a:ln/>
          </p:spPr>
          <p:txBody>
            <a:bodyPr wrap="square" lIns="0" tIns="0" rIns="0" bIns="0" rtlCol="0" anchor="t">
              <a:spAutoFit/>
            </a:bodyPr>
            <a:lstStyle/>
            <a:p>
              <a:pPr marL="0" indent="0" algn="l">
                <a:lnSpc>
                  <a:spcPts val="1700"/>
                </a:lnSpc>
                <a:buNone/>
              </a:pPr>
              <a:r>
                <a:rPr lang="en-US" sz="1200" dirty="0">
                  <a:solidFill>
                    <a:srgbClr val="333333"/>
                  </a:solidFill>
                </a:rPr>
                <a:t>Implementing countdown timers, auto-save functions, and intuitive answer submission flows for a seamless user experience.</a:t>
              </a:r>
              <a:endParaRPr lang="en-US" sz="1200" dirty="0"/>
            </a:p>
          </p:txBody>
        </p:sp>
        <p:cxnSp>
          <p:nvCxnSpPr>
            <p:cNvPr id="19" name="Straight Connector 18"/>
            <p:cNvCxnSpPr/>
            <p:nvPr/>
          </p:nvCxnSpPr>
          <p:spPr>
            <a:xfrm>
              <a:off x="2683565" y="2832497"/>
              <a:ext cx="0" cy="787598"/>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2686878" y="3952927"/>
            <a:ext cx="5885622" cy="797667"/>
            <a:chOff x="2686878" y="3952927"/>
            <a:chExt cx="5885622" cy="797667"/>
          </a:xfrm>
        </p:grpSpPr>
        <p:sp>
          <p:nvSpPr>
            <p:cNvPr id="12" name="Text 9"/>
            <p:cNvSpPr/>
            <p:nvPr/>
          </p:nvSpPr>
          <p:spPr>
            <a:xfrm>
              <a:off x="2870671" y="3962995"/>
              <a:ext cx="1753429"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0055FF"/>
                  </a:solidFill>
                </a:rPr>
                <a:t>Cross-Platform Stability</a:t>
              </a:r>
              <a:endParaRPr lang="en-US" sz="1400" b="1" dirty="0"/>
            </a:p>
          </p:txBody>
        </p:sp>
        <p:sp>
          <p:nvSpPr>
            <p:cNvPr id="13" name="Text 10"/>
            <p:cNvSpPr/>
            <p:nvPr/>
          </p:nvSpPr>
          <p:spPr>
            <a:xfrm>
              <a:off x="2870671" y="4321969"/>
              <a:ext cx="5701829" cy="428625"/>
            </a:xfrm>
            <a:prstGeom prst="rect">
              <a:avLst/>
            </a:prstGeom>
            <a:noFill/>
            <a:ln/>
          </p:spPr>
          <p:txBody>
            <a:bodyPr wrap="square" lIns="0" tIns="0" rIns="0" bIns="0" rtlCol="0" anchor="t">
              <a:spAutoFit/>
            </a:bodyPr>
            <a:lstStyle/>
            <a:p>
              <a:pPr marL="0" indent="0" algn="l">
                <a:lnSpc>
                  <a:spcPts val="1700"/>
                </a:lnSpc>
                <a:buNone/>
              </a:pPr>
              <a:r>
                <a:rPr lang="en-US" sz="1200" dirty="0">
                  <a:solidFill>
                    <a:srgbClr val="333333"/>
                  </a:solidFill>
                </a:rPr>
                <a:t>Ensuring consistent performance and security across various Windows desktop environments and hardware configurations.</a:t>
              </a:r>
              <a:endParaRPr lang="en-US" sz="1200" dirty="0"/>
            </a:p>
          </p:txBody>
        </p:sp>
        <p:cxnSp>
          <p:nvCxnSpPr>
            <p:cNvPr id="20" name="Straight Connector 19"/>
            <p:cNvCxnSpPr/>
            <p:nvPr/>
          </p:nvCxnSpPr>
          <p:spPr>
            <a:xfrm>
              <a:off x="2686878" y="3952927"/>
              <a:ext cx="0" cy="787598"/>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3" name="Shape 0"/>
          <p:cNvSpPr/>
          <p:nvPr/>
        </p:nvSpPr>
        <p:spPr>
          <a:xfrm>
            <a:off x="0" y="0"/>
            <a:ext cx="2099146" cy="5143500"/>
          </a:xfrm>
          <a:prstGeom prst="rect">
            <a:avLst/>
          </a:prstGeom>
          <a:solidFill>
            <a:schemeClr val="accent1">
              <a:lumMod val="60000"/>
              <a:lumOff val="40000"/>
            </a:schemeClr>
          </a:solidFill>
          <a:ln/>
        </p:spPr>
      </p:sp>
      <p:sp>
        <p:nvSpPr>
          <p:cNvPr id="4" name="Text 1"/>
          <p:cNvSpPr/>
          <p:nvPr/>
        </p:nvSpPr>
        <p:spPr>
          <a:xfrm>
            <a:off x="428625" y="1340077"/>
            <a:ext cx="1670521" cy="755720"/>
          </a:xfrm>
          <a:prstGeom prst="rect">
            <a:avLst/>
          </a:prstGeom>
          <a:noFill/>
          <a:ln/>
        </p:spPr>
        <p:txBody>
          <a:bodyPr wrap="square" lIns="0" tIns="0" rIns="0" bIns="0" rtlCol="0" anchor="t">
            <a:spAutoFit/>
          </a:bodyPr>
          <a:lstStyle/>
          <a:p>
            <a:pPr marL="0" indent="0" algn="l">
              <a:lnSpc>
                <a:spcPts val="3000"/>
              </a:lnSpc>
              <a:buNone/>
            </a:pPr>
            <a:r>
              <a:rPr lang="en-US" sz="2436" b="1" dirty="0"/>
              <a:t>Md. Polash
Ali</a:t>
            </a:r>
            <a:endParaRPr lang="en-US" sz="2436" dirty="0"/>
          </a:p>
        </p:txBody>
      </p:sp>
      <p:sp>
        <p:nvSpPr>
          <p:cNvPr id="5" name="Text 2"/>
          <p:cNvSpPr/>
          <p:nvPr/>
        </p:nvSpPr>
        <p:spPr>
          <a:xfrm>
            <a:off x="428625" y="2188778"/>
            <a:ext cx="1670521" cy="359073"/>
          </a:xfrm>
          <a:prstGeom prst="rect">
            <a:avLst/>
          </a:prstGeom>
          <a:noFill/>
          <a:ln/>
        </p:spPr>
        <p:txBody>
          <a:bodyPr wrap="square" lIns="0" tIns="0" rIns="0" bIns="0" rtlCol="0" anchor="t">
            <a:spAutoFit/>
          </a:bodyPr>
          <a:lstStyle/>
          <a:p>
            <a:pPr marL="0" indent="0" algn="l">
              <a:lnSpc>
                <a:spcPts val="1400"/>
              </a:lnSpc>
              <a:buNone/>
            </a:pPr>
            <a:r>
              <a:rPr lang="en-US" sz="1200" kern="0" dirty="0">
                <a:ln w="0"/>
                <a:solidFill>
                  <a:srgbClr val="0055FF"/>
                </a:solidFill>
                <a:effectLst>
                  <a:outerShdw blurRad="38100" dist="25400" dir="5400000" algn="ctr" rotWithShape="0">
                    <a:srgbClr val="6E747A">
                      <a:alpha val="43000"/>
                    </a:srgbClr>
                  </a:outerShdw>
                </a:effectLst>
              </a:rPr>
              <a:t>Desktop Software Engineer</a:t>
            </a:r>
            <a:endParaRPr lang="en-US" sz="1200" dirty="0">
              <a:ln w="0"/>
              <a:solidFill>
                <a:srgbClr val="0055FF"/>
              </a:solidFill>
              <a:effectLst>
                <a:outerShdw blurRad="38100" dist="25400" dir="5400000" algn="ctr" rotWithShape="0">
                  <a:srgbClr val="6E747A">
                    <a:alpha val="43000"/>
                  </a:srgbClr>
                </a:outerShdw>
              </a:effectLst>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 presetClass="entr" presetSubtype="8" fill="hold" nodeType="afterEffect">
                                  <p:stCondLst>
                                    <p:cond delay="25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0-#ppt_w/2"/>
                                          </p:val>
                                        </p:tav>
                                        <p:tav tm="100000">
                                          <p:val>
                                            <p:strVal val="#ppt_x"/>
                                          </p:val>
                                        </p:tav>
                                      </p:tavLst>
                                    </p:anim>
                                    <p:anim calcmode="lin" valueType="num">
                                      <p:cBhvr additive="base">
                                        <p:cTn id="20" dur="500" fill="hold"/>
                                        <p:tgtEl>
                                          <p:spTgt spid="21"/>
                                        </p:tgtEl>
                                        <p:attrNameLst>
                                          <p:attrName>ppt_y</p:attrName>
                                        </p:attrNameLst>
                                      </p:cBhvr>
                                      <p:tavLst>
                                        <p:tav tm="0">
                                          <p:val>
                                            <p:strVal val="#ppt_y"/>
                                          </p:val>
                                        </p:tav>
                                        <p:tav tm="100000">
                                          <p:val>
                                            <p:strVal val="#ppt_y"/>
                                          </p:val>
                                        </p:tav>
                                      </p:tavLst>
                                    </p:anim>
                                  </p:childTnLst>
                                </p:cTn>
                              </p:par>
                            </p:childTnLst>
                          </p:cTn>
                        </p:par>
                        <p:par>
                          <p:cTn id="21" fill="hold">
                            <p:stCondLst>
                              <p:cond delay="2750"/>
                            </p:stCondLst>
                            <p:childTnLst>
                              <p:par>
                                <p:cTn id="22" presetID="2" presetClass="entr" presetSubtype="8" fill="hold" nodeType="afterEffect">
                                  <p:stCondLst>
                                    <p:cond delay="500"/>
                                  </p:stCondLst>
                                  <p:childTnLst>
                                    <p:set>
                                      <p:cBhvr>
                                        <p:cTn id="23" dur="1" fill="hold">
                                          <p:stCondLst>
                                            <p:cond delay="0"/>
                                          </p:stCondLst>
                                        </p:cTn>
                                        <p:tgtEl>
                                          <p:spTgt spid="22"/>
                                        </p:tgtEl>
                                        <p:attrNameLst>
                                          <p:attrName>style.visibility</p:attrName>
                                        </p:attrNameLst>
                                      </p:cBhvr>
                                      <p:to>
                                        <p:strVal val="visible"/>
                                      </p:to>
                                    </p:set>
                                    <p:anim calcmode="lin" valueType="num">
                                      <p:cBhvr additive="base">
                                        <p:cTn id="24" dur="500" fill="hold"/>
                                        <p:tgtEl>
                                          <p:spTgt spid="22"/>
                                        </p:tgtEl>
                                        <p:attrNameLst>
                                          <p:attrName>ppt_x</p:attrName>
                                        </p:attrNameLst>
                                      </p:cBhvr>
                                      <p:tavLst>
                                        <p:tav tm="0">
                                          <p:val>
                                            <p:strVal val="0-#ppt_w/2"/>
                                          </p:val>
                                        </p:tav>
                                        <p:tav tm="100000">
                                          <p:val>
                                            <p:strVal val="#ppt_x"/>
                                          </p:val>
                                        </p:tav>
                                      </p:tavLst>
                                    </p:anim>
                                    <p:anim calcmode="lin" valueType="num">
                                      <p:cBhvr additive="base">
                                        <p:cTn id="25" dur="500" fill="hold"/>
                                        <p:tgtEl>
                                          <p:spTgt spid="22"/>
                                        </p:tgtEl>
                                        <p:attrNameLst>
                                          <p:attrName>ppt_y</p:attrName>
                                        </p:attrNameLst>
                                      </p:cBhvr>
                                      <p:tavLst>
                                        <p:tav tm="0">
                                          <p:val>
                                            <p:strVal val="#ppt_y"/>
                                          </p:val>
                                        </p:tav>
                                        <p:tav tm="100000">
                                          <p:val>
                                            <p:strVal val="#ppt_y"/>
                                          </p:val>
                                        </p:tav>
                                      </p:tavLst>
                                    </p:anim>
                                  </p:childTnLst>
                                </p:cTn>
                              </p:par>
                            </p:childTnLst>
                          </p:cTn>
                        </p:par>
                        <p:par>
                          <p:cTn id="26" fill="hold">
                            <p:stCondLst>
                              <p:cond delay="3750"/>
                            </p:stCondLst>
                            <p:childTnLst>
                              <p:par>
                                <p:cTn id="27" presetID="2" presetClass="entr" presetSubtype="8" fill="hold" nodeType="afterEffect">
                                  <p:stCondLst>
                                    <p:cond delay="50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0-#ppt_w/2"/>
                                          </p:val>
                                        </p:tav>
                                        <p:tav tm="100000">
                                          <p:val>
                                            <p:strVal val="#ppt_x"/>
                                          </p:val>
                                        </p:tav>
                                      </p:tavLst>
                                    </p:anim>
                                    <p:anim calcmode="lin" valueType="num">
                                      <p:cBhvr additive="base">
                                        <p:cTn id="30" dur="500" fill="hold"/>
                                        <p:tgtEl>
                                          <p:spTgt spid="23"/>
                                        </p:tgtEl>
                                        <p:attrNameLst>
                                          <p:attrName>ppt_y</p:attrName>
                                        </p:attrNameLst>
                                      </p:cBhvr>
                                      <p:tavLst>
                                        <p:tav tm="0">
                                          <p:val>
                                            <p:strVal val="#ppt_y"/>
                                          </p:val>
                                        </p:tav>
                                        <p:tav tm="100000">
                                          <p:val>
                                            <p:strVal val="#ppt_y"/>
                                          </p:val>
                                        </p:tav>
                                      </p:tavLst>
                                    </p:anim>
                                  </p:childTnLst>
                                </p:cTn>
                              </p:par>
                            </p:childTnLst>
                          </p:cTn>
                        </p:par>
                        <p:par>
                          <p:cTn id="31" fill="hold">
                            <p:stCondLst>
                              <p:cond delay="4750"/>
                            </p:stCondLst>
                            <p:childTnLst>
                              <p:par>
                                <p:cTn id="32" presetID="2" presetClass="entr" presetSubtype="8" fill="hold" nodeType="afterEffect">
                                  <p:stCondLst>
                                    <p:cond delay="50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500" fill="hold"/>
                                        <p:tgtEl>
                                          <p:spTgt spid="24"/>
                                        </p:tgtEl>
                                        <p:attrNameLst>
                                          <p:attrName>ppt_x</p:attrName>
                                        </p:attrNameLst>
                                      </p:cBhvr>
                                      <p:tavLst>
                                        <p:tav tm="0">
                                          <p:val>
                                            <p:strVal val="0-#ppt_w/2"/>
                                          </p:val>
                                        </p:tav>
                                        <p:tav tm="100000">
                                          <p:val>
                                            <p:strVal val="#ppt_x"/>
                                          </p:val>
                                        </p:tav>
                                      </p:tavLst>
                                    </p:anim>
                                    <p:anim calcmode="lin" valueType="num">
                                      <p:cBhvr additive="base">
                                        <p:cTn id="35"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2792146" cy="5143500"/>
          </a:xfrm>
          <a:prstGeom prst="rect">
            <a:avLst/>
          </a:prstGeom>
          <a:solidFill>
            <a:schemeClr val="accent1">
              <a:lumMod val="60000"/>
              <a:lumOff val="40000"/>
            </a:schemeClr>
          </a:solidFill>
          <a:ln/>
        </p:spPr>
      </p:sp>
      <p:sp>
        <p:nvSpPr>
          <p:cNvPr id="4" name="Text 1"/>
          <p:cNvSpPr/>
          <p:nvPr/>
        </p:nvSpPr>
        <p:spPr>
          <a:xfrm>
            <a:off x="571500" y="2561592"/>
            <a:ext cx="3086100" cy="754335"/>
          </a:xfrm>
          <a:prstGeom prst="rect">
            <a:avLst/>
          </a:prstGeom>
          <a:noFill/>
          <a:ln/>
        </p:spPr>
        <p:txBody>
          <a:bodyPr wrap="square" lIns="0" tIns="0" rIns="0" bIns="0" rtlCol="0" anchor="t">
            <a:spAutoFit/>
          </a:bodyPr>
          <a:lstStyle/>
          <a:p>
            <a:pPr marL="0" indent="0" algn="l">
              <a:lnSpc>
                <a:spcPts val="3000"/>
              </a:lnSpc>
              <a:buNone/>
            </a:pPr>
            <a:r>
              <a:rPr lang="en-US" sz="2436" b="1" dirty="0"/>
              <a:t>Md. Raja
Hossein</a:t>
            </a:r>
            <a:endParaRPr lang="en-US" sz="2436" dirty="0"/>
          </a:p>
        </p:txBody>
      </p:sp>
      <p:sp>
        <p:nvSpPr>
          <p:cNvPr id="5" name="Text 2"/>
          <p:cNvSpPr/>
          <p:nvPr/>
        </p:nvSpPr>
        <p:spPr>
          <a:xfrm>
            <a:off x="571500" y="3458803"/>
            <a:ext cx="1895775" cy="179536"/>
          </a:xfrm>
          <a:prstGeom prst="rect">
            <a:avLst/>
          </a:prstGeom>
          <a:noFill/>
          <a:ln/>
        </p:spPr>
        <p:txBody>
          <a:bodyPr wrap="none" lIns="0" tIns="0" rIns="0" bIns="0" rtlCol="0" anchor="t">
            <a:spAutoFit/>
          </a:bodyPr>
          <a:lstStyle/>
          <a:p>
            <a:pPr marL="0" indent="0" algn="l">
              <a:lnSpc>
                <a:spcPts val="1400"/>
              </a:lnSpc>
              <a:buNone/>
            </a:pPr>
            <a:r>
              <a:rPr lang="en-US" sz="1200" b="1" kern="0" spc="2" dirty="0">
                <a:solidFill>
                  <a:srgbClr val="0055FF"/>
                </a:solidFill>
              </a:rPr>
              <a:t>Network &amp; Security Specialist</a:t>
            </a:r>
            <a:endParaRPr lang="en-US" sz="1200" dirty="0"/>
          </a:p>
        </p:txBody>
      </p:sp>
      <p:grpSp>
        <p:nvGrpSpPr>
          <p:cNvPr id="14" name="Group 13"/>
          <p:cNvGrpSpPr/>
          <p:nvPr/>
        </p:nvGrpSpPr>
        <p:grpSpPr>
          <a:xfrm>
            <a:off x="4128757" y="1435001"/>
            <a:ext cx="2100263" cy="1091208"/>
            <a:chOff x="4128757" y="1435001"/>
            <a:chExt cx="2100263" cy="1091208"/>
          </a:xfrm>
        </p:grpSpPr>
        <p:sp>
          <p:nvSpPr>
            <p:cNvPr id="6" name="Text 3"/>
            <p:cNvSpPr/>
            <p:nvPr/>
          </p:nvSpPr>
          <p:spPr>
            <a:xfrm>
              <a:off x="4128757" y="1435001"/>
              <a:ext cx="2100263" cy="208006"/>
            </a:xfrm>
            <a:prstGeom prst="rect">
              <a:avLst/>
            </a:prstGeom>
            <a:noFill/>
            <a:ln/>
          </p:spPr>
          <p:txBody>
            <a:bodyPr wrap="square" lIns="0" tIns="0" rIns="0" bIns="0" rtlCol="0" anchor="t">
              <a:spAutoFit/>
            </a:bodyPr>
            <a:lstStyle/>
            <a:p>
              <a:pPr marL="0" indent="0" algn="l">
                <a:lnSpc>
                  <a:spcPts val="1600"/>
                </a:lnSpc>
                <a:buNone/>
              </a:pPr>
              <a:r>
                <a:rPr lang="en-US" sz="1400" b="1" dirty="0">
                  <a:solidFill>
                    <a:srgbClr val="0055FF"/>
                  </a:solidFill>
                </a:rPr>
                <a:t>Secure Communication</a:t>
              </a:r>
              <a:endParaRPr lang="en-US" sz="1400" b="1" dirty="0"/>
            </a:p>
          </p:txBody>
        </p:sp>
        <p:sp>
          <p:nvSpPr>
            <p:cNvPr id="7" name="Text 4"/>
            <p:cNvSpPr/>
            <p:nvPr/>
          </p:nvSpPr>
          <p:spPr>
            <a:xfrm>
              <a:off x="4128757" y="1754684"/>
              <a:ext cx="2100263" cy="771525"/>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rPr>
                <a:t>Designing encrypted API request handling to prevent data interception and man-in-the-middle attacks.</a:t>
              </a:r>
              <a:endParaRPr lang="en-US" sz="1200" dirty="0"/>
            </a:p>
          </p:txBody>
        </p:sp>
      </p:grpSp>
      <p:grpSp>
        <p:nvGrpSpPr>
          <p:cNvPr id="15" name="Group 14"/>
          <p:cNvGrpSpPr/>
          <p:nvPr/>
        </p:nvGrpSpPr>
        <p:grpSpPr>
          <a:xfrm>
            <a:off x="6514770" y="1435001"/>
            <a:ext cx="2100263" cy="1067244"/>
            <a:chOff x="6514770" y="1435001"/>
            <a:chExt cx="2100263" cy="1067244"/>
          </a:xfrm>
        </p:grpSpPr>
        <p:sp>
          <p:nvSpPr>
            <p:cNvPr id="8" name="Text 5"/>
            <p:cNvSpPr/>
            <p:nvPr/>
          </p:nvSpPr>
          <p:spPr>
            <a:xfrm>
              <a:off x="6514770" y="1435001"/>
              <a:ext cx="1591398"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0055FF"/>
                  </a:solidFill>
                </a:rPr>
                <a:t>Session Management</a:t>
              </a:r>
              <a:endParaRPr lang="en-US" sz="1400" b="1" dirty="0"/>
            </a:p>
          </p:txBody>
        </p:sp>
        <p:sp>
          <p:nvSpPr>
            <p:cNvPr id="9" name="Text 6"/>
            <p:cNvSpPr/>
            <p:nvPr/>
          </p:nvSpPr>
          <p:spPr>
            <a:xfrm>
              <a:off x="6514770" y="1730720"/>
              <a:ext cx="2100263" cy="771525"/>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rPr>
                <a:t>Implementing token-based authentication and advanced session control to maintain secure user states.</a:t>
              </a:r>
              <a:endParaRPr lang="en-US" sz="1200" dirty="0"/>
            </a:p>
          </p:txBody>
        </p:sp>
      </p:grpSp>
      <p:grpSp>
        <p:nvGrpSpPr>
          <p:cNvPr id="17" name="Group 16"/>
          <p:cNvGrpSpPr/>
          <p:nvPr/>
        </p:nvGrpSpPr>
        <p:grpSpPr>
          <a:xfrm>
            <a:off x="4128757" y="3203079"/>
            <a:ext cx="2100263" cy="1073164"/>
            <a:chOff x="4128757" y="3203079"/>
            <a:chExt cx="2100263" cy="1073164"/>
          </a:xfrm>
        </p:grpSpPr>
        <p:sp>
          <p:nvSpPr>
            <p:cNvPr id="10" name="Text 7"/>
            <p:cNvSpPr/>
            <p:nvPr/>
          </p:nvSpPr>
          <p:spPr>
            <a:xfrm>
              <a:off x="4128757" y="3203079"/>
              <a:ext cx="1434175"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0055FF"/>
                  </a:solidFill>
                </a:rPr>
                <a:t>Network Resilience</a:t>
              </a:r>
              <a:endParaRPr lang="en-US" sz="1400" b="1" dirty="0"/>
            </a:p>
          </p:txBody>
        </p:sp>
        <p:sp>
          <p:nvSpPr>
            <p:cNvPr id="11" name="Text 8"/>
            <p:cNvSpPr/>
            <p:nvPr/>
          </p:nvSpPr>
          <p:spPr>
            <a:xfrm>
              <a:off x="4128757" y="3504718"/>
              <a:ext cx="2100263" cy="771525"/>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rPr>
                <a:t>Developing "Reconnect &amp; Resume" logic to protect student progress during unexpected network outages.</a:t>
              </a:r>
              <a:endParaRPr lang="en-US" sz="1200" dirty="0"/>
            </a:p>
          </p:txBody>
        </p:sp>
      </p:grpSp>
      <p:grpSp>
        <p:nvGrpSpPr>
          <p:cNvPr id="16" name="Group 15"/>
          <p:cNvGrpSpPr/>
          <p:nvPr/>
        </p:nvGrpSpPr>
        <p:grpSpPr>
          <a:xfrm>
            <a:off x="6514770" y="3203079"/>
            <a:ext cx="2100263" cy="898327"/>
            <a:chOff x="6514770" y="3203079"/>
            <a:chExt cx="2100263" cy="898327"/>
          </a:xfrm>
        </p:grpSpPr>
        <p:sp>
          <p:nvSpPr>
            <p:cNvPr id="12" name="Text 9"/>
            <p:cNvSpPr/>
            <p:nvPr/>
          </p:nvSpPr>
          <p:spPr>
            <a:xfrm>
              <a:off x="6514770" y="3203079"/>
              <a:ext cx="1023485"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0055FF"/>
                  </a:solidFill>
                </a:rPr>
                <a:t>Data Integrity</a:t>
              </a:r>
              <a:endParaRPr lang="en-US" sz="1400" b="1" dirty="0"/>
            </a:p>
          </p:txBody>
        </p:sp>
        <p:sp>
          <p:nvSpPr>
            <p:cNvPr id="13" name="Text 10"/>
            <p:cNvSpPr/>
            <p:nvPr/>
          </p:nvSpPr>
          <p:spPr>
            <a:xfrm>
              <a:off x="6514770" y="3522762"/>
              <a:ext cx="2100263" cy="578644"/>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rPr>
                <a:t>Validating end-to-end security to ensure that exam submissions are authentic and untampered.</a:t>
              </a:r>
              <a:endParaRPr lang="en-US" sz="1200" dirty="0"/>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7" presetClass="entr" presetSubtype="0" fill="hold" nodeType="afterEffect">
                                  <p:stCondLst>
                                    <p:cond delay="50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000"/>
                                        <p:tgtEl>
                                          <p:spTgt spid="14"/>
                                        </p:tgtEl>
                                      </p:cBhvr>
                                    </p:animEffect>
                                    <p:anim calcmode="lin" valueType="num">
                                      <p:cBhvr>
                                        <p:cTn id="19" dur="1000" fill="hold"/>
                                        <p:tgtEl>
                                          <p:spTgt spid="14"/>
                                        </p:tgtEl>
                                        <p:attrNameLst>
                                          <p:attrName>ppt_x</p:attrName>
                                        </p:attrNameLst>
                                      </p:cBhvr>
                                      <p:tavLst>
                                        <p:tav tm="0">
                                          <p:val>
                                            <p:strVal val="#ppt_x"/>
                                          </p:val>
                                        </p:tav>
                                        <p:tav tm="100000">
                                          <p:val>
                                            <p:strVal val="#ppt_x"/>
                                          </p:val>
                                        </p:tav>
                                      </p:tavLst>
                                    </p:anim>
                                    <p:anim calcmode="lin" valueType="num">
                                      <p:cBhvr>
                                        <p:cTn id="20" dur="1000" fill="hold"/>
                                        <p:tgtEl>
                                          <p:spTgt spid="14"/>
                                        </p:tgtEl>
                                        <p:attrNameLst>
                                          <p:attrName>ppt_y</p:attrName>
                                        </p:attrNameLst>
                                      </p:cBhvr>
                                      <p:tavLst>
                                        <p:tav tm="0">
                                          <p:val>
                                            <p:strVal val="#ppt_y-.1"/>
                                          </p:val>
                                        </p:tav>
                                        <p:tav tm="100000">
                                          <p:val>
                                            <p:strVal val="#ppt_y"/>
                                          </p:val>
                                        </p:tav>
                                      </p:tavLst>
                                    </p:anim>
                                  </p:childTnLst>
                                </p:cTn>
                              </p:par>
                            </p:childTnLst>
                          </p:cTn>
                        </p:par>
                        <p:par>
                          <p:cTn id="21" fill="hold">
                            <p:stCondLst>
                              <p:cond delay="3000"/>
                            </p:stCondLst>
                            <p:childTnLst>
                              <p:par>
                                <p:cTn id="22" presetID="47" presetClass="entr" presetSubtype="0" fill="hold" nodeType="afterEffect">
                                  <p:stCondLst>
                                    <p:cond delay="50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childTnLst>
                          </p:cTn>
                        </p:par>
                        <p:par>
                          <p:cTn id="27" fill="hold">
                            <p:stCondLst>
                              <p:cond delay="4500"/>
                            </p:stCondLst>
                            <p:childTnLst>
                              <p:par>
                                <p:cTn id="28" presetID="47" presetClass="entr" presetSubtype="0" fill="hold" nodeType="afterEffect">
                                  <p:stCondLst>
                                    <p:cond delay="50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1000"/>
                                        <p:tgtEl>
                                          <p:spTgt spid="17"/>
                                        </p:tgtEl>
                                      </p:cBhvr>
                                    </p:animEffect>
                                    <p:anim calcmode="lin" valueType="num">
                                      <p:cBhvr>
                                        <p:cTn id="31" dur="1000" fill="hold"/>
                                        <p:tgtEl>
                                          <p:spTgt spid="17"/>
                                        </p:tgtEl>
                                        <p:attrNameLst>
                                          <p:attrName>ppt_x</p:attrName>
                                        </p:attrNameLst>
                                      </p:cBhvr>
                                      <p:tavLst>
                                        <p:tav tm="0">
                                          <p:val>
                                            <p:strVal val="#ppt_x"/>
                                          </p:val>
                                        </p:tav>
                                        <p:tav tm="100000">
                                          <p:val>
                                            <p:strVal val="#ppt_x"/>
                                          </p:val>
                                        </p:tav>
                                      </p:tavLst>
                                    </p:anim>
                                    <p:anim calcmode="lin" valueType="num">
                                      <p:cBhvr>
                                        <p:cTn id="32" dur="1000" fill="hold"/>
                                        <p:tgtEl>
                                          <p:spTgt spid="17"/>
                                        </p:tgtEl>
                                        <p:attrNameLst>
                                          <p:attrName>ppt_y</p:attrName>
                                        </p:attrNameLst>
                                      </p:cBhvr>
                                      <p:tavLst>
                                        <p:tav tm="0">
                                          <p:val>
                                            <p:strVal val="#ppt_y-.1"/>
                                          </p:val>
                                        </p:tav>
                                        <p:tav tm="100000">
                                          <p:val>
                                            <p:strVal val="#ppt_y"/>
                                          </p:val>
                                        </p:tav>
                                      </p:tavLst>
                                    </p:anim>
                                  </p:childTnLst>
                                </p:cTn>
                              </p:par>
                            </p:childTnLst>
                          </p:cTn>
                        </p:par>
                        <p:par>
                          <p:cTn id="33" fill="hold">
                            <p:stCondLst>
                              <p:cond delay="6000"/>
                            </p:stCondLst>
                            <p:childTnLst>
                              <p:par>
                                <p:cTn id="34" presetID="47" presetClass="entr" presetSubtype="0" fill="hold" nodeType="afterEffect">
                                  <p:stCondLst>
                                    <p:cond delay="50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1000"/>
                                        <p:tgtEl>
                                          <p:spTgt spid="16"/>
                                        </p:tgtEl>
                                      </p:cBhvr>
                                    </p:animEffect>
                                    <p:anim calcmode="lin" valueType="num">
                                      <p:cBhvr>
                                        <p:cTn id="37" dur="1000" fill="hold"/>
                                        <p:tgtEl>
                                          <p:spTgt spid="16"/>
                                        </p:tgtEl>
                                        <p:attrNameLst>
                                          <p:attrName>ppt_x</p:attrName>
                                        </p:attrNameLst>
                                      </p:cBhvr>
                                      <p:tavLst>
                                        <p:tav tm="0">
                                          <p:val>
                                            <p:strVal val="#ppt_x"/>
                                          </p:val>
                                        </p:tav>
                                        <p:tav tm="100000">
                                          <p:val>
                                            <p:strVal val="#ppt_x"/>
                                          </p:val>
                                        </p:tav>
                                      </p:tavLst>
                                    </p:anim>
                                    <p:anim calcmode="lin" valueType="num">
                                      <p:cBhvr>
                                        <p:cTn id="3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2792146" cy="5143500"/>
          </a:xfrm>
          <a:prstGeom prst="rect">
            <a:avLst/>
          </a:prstGeom>
          <a:solidFill>
            <a:schemeClr val="accent1">
              <a:lumMod val="60000"/>
              <a:lumOff val="40000"/>
            </a:schemeClr>
          </a:solidFill>
          <a:ln/>
        </p:spPr>
      </p:sp>
      <p:grpSp>
        <p:nvGrpSpPr>
          <p:cNvPr id="17" name="Group 16"/>
          <p:cNvGrpSpPr/>
          <p:nvPr/>
        </p:nvGrpSpPr>
        <p:grpSpPr>
          <a:xfrm>
            <a:off x="428625" y="942975"/>
            <a:ext cx="2363521" cy="2277269"/>
            <a:chOff x="428625" y="942975"/>
            <a:chExt cx="2363521" cy="2277269"/>
          </a:xfrm>
        </p:grpSpPr>
        <p:sp>
          <p:nvSpPr>
            <p:cNvPr id="4" name="Text 1"/>
            <p:cNvSpPr/>
            <p:nvPr/>
          </p:nvSpPr>
          <p:spPr>
            <a:xfrm>
              <a:off x="428625" y="942975"/>
              <a:ext cx="1694182" cy="208006"/>
            </a:xfrm>
            <a:prstGeom prst="rect">
              <a:avLst/>
            </a:prstGeom>
            <a:noFill/>
            <a:ln/>
          </p:spPr>
          <p:txBody>
            <a:bodyPr wrap="none" lIns="0" tIns="0" rIns="0" bIns="0" rtlCol="0" anchor="t">
              <a:spAutoFit/>
            </a:bodyPr>
            <a:lstStyle/>
            <a:p>
              <a:pPr marL="0" indent="0" algn="l">
                <a:lnSpc>
                  <a:spcPts val="1600"/>
                </a:lnSpc>
                <a:buNone/>
              </a:pPr>
              <a:r>
                <a:rPr lang="en-US" sz="1600" b="1" kern="0" spc="2" dirty="0">
                  <a:solidFill>
                    <a:srgbClr val="0055FF"/>
                  </a:solidFill>
                </a:rPr>
                <a:t>Md. Shakibul Hasan</a:t>
              </a:r>
              <a:endParaRPr lang="en-US" sz="1600" b="1" dirty="0"/>
            </a:p>
          </p:txBody>
        </p:sp>
        <p:sp>
          <p:nvSpPr>
            <p:cNvPr id="5" name="Text 2"/>
            <p:cNvSpPr/>
            <p:nvPr/>
          </p:nvSpPr>
          <p:spPr>
            <a:xfrm>
              <a:off x="428625" y="1578769"/>
              <a:ext cx="2363521" cy="1641475"/>
            </a:xfrm>
            <a:prstGeom prst="rect">
              <a:avLst/>
            </a:prstGeom>
            <a:noFill/>
            <a:ln/>
          </p:spPr>
          <p:txBody>
            <a:bodyPr wrap="square" lIns="0" tIns="0" rIns="0" bIns="0" rtlCol="0" anchor="t">
              <a:spAutoFit/>
            </a:bodyPr>
            <a:lstStyle/>
            <a:p>
              <a:pPr marL="0" indent="0" algn="l">
                <a:lnSpc>
                  <a:spcPts val="3200"/>
                </a:lnSpc>
                <a:buNone/>
              </a:pPr>
              <a:r>
                <a:rPr lang="en-US" sz="2862" b="1" dirty="0"/>
                <a:t>Rigorous
Testing &amp;
Quality
Assurance</a:t>
              </a:r>
              <a:endParaRPr lang="en-US" sz="2862" dirty="0"/>
            </a:p>
          </p:txBody>
        </p:sp>
      </p:grpSp>
      <p:sp>
        <p:nvSpPr>
          <p:cNvPr id="6" name="Text 3"/>
          <p:cNvSpPr/>
          <p:nvPr/>
        </p:nvSpPr>
        <p:spPr>
          <a:xfrm>
            <a:off x="146747" y="4184605"/>
            <a:ext cx="2498651" cy="872034"/>
          </a:xfrm>
          <a:prstGeom prst="rect">
            <a:avLst/>
          </a:prstGeom>
          <a:noFill/>
          <a:ln/>
        </p:spPr>
        <p:txBody>
          <a:bodyPr wrap="square" lIns="0" tIns="0" rIns="0" bIns="0" rtlCol="0" anchor="t">
            <a:spAutoFit/>
          </a:bodyPr>
          <a:lstStyle/>
          <a:p>
            <a:pPr marL="0" indent="0" algn="l">
              <a:lnSpc>
                <a:spcPts val="6800"/>
              </a:lnSpc>
              <a:buNone/>
            </a:pPr>
            <a:r>
              <a:rPr lang="en-US" sz="6615" dirty="0">
                <a:solidFill>
                  <a:schemeClr val="bg2">
                    <a:lumMod val="50000"/>
                  </a:schemeClr>
                </a:solidFill>
              </a:rPr>
              <a:t>QA/QC</a:t>
            </a:r>
          </a:p>
        </p:txBody>
      </p:sp>
      <p:grpSp>
        <p:nvGrpSpPr>
          <p:cNvPr id="18" name="Group 17"/>
          <p:cNvGrpSpPr/>
          <p:nvPr/>
        </p:nvGrpSpPr>
        <p:grpSpPr>
          <a:xfrm>
            <a:off x="3338348" y="1000125"/>
            <a:ext cx="5234152" cy="578644"/>
            <a:chOff x="3338348" y="1000125"/>
            <a:chExt cx="5234152" cy="578644"/>
          </a:xfrm>
        </p:grpSpPr>
        <p:sp>
          <p:nvSpPr>
            <p:cNvPr id="7" name="Text 4"/>
            <p:cNvSpPr/>
            <p:nvPr/>
          </p:nvSpPr>
          <p:spPr>
            <a:xfrm>
              <a:off x="3338348" y="1179235"/>
              <a:ext cx="2005125" cy="205184"/>
            </a:xfrm>
            <a:prstGeom prst="rect">
              <a:avLst/>
            </a:prstGeom>
            <a:noFill/>
            <a:ln/>
          </p:spPr>
          <p:txBody>
            <a:bodyPr wrap="square" lIns="0" tIns="0" rIns="0" bIns="0" rtlCol="0" anchor="t">
              <a:spAutoFit/>
            </a:bodyPr>
            <a:lstStyle/>
            <a:p>
              <a:pPr marL="0" indent="0" algn="r">
                <a:lnSpc>
                  <a:spcPts val="1600"/>
                </a:lnSpc>
                <a:buNone/>
              </a:pPr>
              <a:r>
                <a:rPr lang="en-US" sz="1400" b="1" dirty="0">
                  <a:solidFill>
                    <a:srgbClr val="0055FF"/>
                  </a:solidFill>
                </a:rPr>
                <a:t>Anti-Cheat Validation</a:t>
              </a:r>
            </a:p>
          </p:txBody>
        </p:sp>
        <p:sp>
          <p:nvSpPr>
            <p:cNvPr id="8" name="Text 5"/>
            <p:cNvSpPr/>
            <p:nvPr/>
          </p:nvSpPr>
          <p:spPr>
            <a:xfrm>
              <a:off x="5506771" y="1000125"/>
              <a:ext cx="3065729" cy="578644"/>
            </a:xfrm>
            <a:prstGeom prst="rect">
              <a:avLst/>
            </a:prstGeom>
            <a:noFill/>
            <a:ln/>
          </p:spPr>
          <p:txBody>
            <a:bodyPr wrap="square" lIns="0" tIns="0" rIns="0" bIns="0" rtlCol="0" anchor="t">
              <a:spAutoFit/>
            </a:bodyPr>
            <a:lstStyle/>
            <a:p>
              <a:pPr marL="0" indent="0" algn="just">
                <a:lnSpc>
                  <a:spcPts val="1500"/>
                </a:lnSpc>
                <a:buNone/>
              </a:pPr>
              <a:r>
                <a:rPr lang="en-US" sz="1200" dirty="0"/>
                <a:t>Simulating "black-hat" tactics like Alt+Tab, browser access, and virtual machines to verify system triggers and security responses.</a:t>
              </a:r>
            </a:p>
          </p:txBody>
        </p:sp>
      </p:grpSp>
      <p:grpSp>
        <p:nvGrpSpPr>
          <p:cNvPr id="19" name="Group 18"/>
          <p:cNvGrpSpPr/>
          <p:nvPr/>
        </p:nvGrpSpPr>
        <p:grpSpPr>
          <a:xfrm>
            <a:off x="3202787" y="1921669"/>
            <a:ext cx="5369713" cy="578644"/>
            <a:chOff x="3202787" y="1921669"/>
            <a:chExt cx="5369713" cy="578644"/>
          </a:xfrm>
        </p:grpSpPr>
        <p:sp>
          <p:nvSpPr>
            <p:cNvPr id="9" name="Text 6"/>
            <p:cNvSpPr/>
            <p:nvPr/>
          </p:nvSpPr>
          <p:spPr>
            <a:xfrm>
              <a:off x="3202787" y="2108467"/>
              <a:ext cx="2143124" cy="208007"/>
            </a:xfrm>
            <a:prstGeom prst="rect">
              <a:avLst/>
            </a:prstGeom>
            <a:noFill/>
            <a:ln/>
          </p:spPr>
          <p:txBody>
            <a:bodyPr wrap="square" lIns="0" tIns="0" rIns="0" bIns="0" rtlCol="0" anchor="t">
              <a:spAutoFit/>
            </a:bodyPr>
            <a:lstStyle/>
            <a:p>
              <a:pPr marL="0" indent="0" algn="r">
                <a:lnSpc>
                  <a:spcPts val="1600"/>
                </a:lnSpc>
                <a:buNone/>
              </a:pPr>
              <a:r>
                <a:rPr lang="en-US" sz="1400" b="1" dirty="0">
                  <a:solidFill>
                    <a:srgbClr val="0055FF"/>
                  </a:solidFill>
                </a:rPr>
                <a:t>Edge Case Analysis</a:t>
              </a:r>
            </a:p>
          </p:txBody>
        </p:sp>
        <p:sp>
          <p:nvSpPr>
            <p:cNvPr id="10" name="Text 7"/>
            <p:cNvSpPr/>
            <p:nvPr/>
          </p:nvSpPr>
          <p:spPr>
            <a:xfrm>
              <a:off x="5506771" y="1921669"/>
              <a:ext cx="3065729" cy="578644"/>
            </a:xfrm>
            <a:prstGeom prst="rect">
              <a:avLst/>
            </a:prstGeom>
            <a:noFill/>
            <a:ln/>
          </p:spPr>
          <p:txBody>
            <a:bodyPr wrap="square" lIns="0" tIns="0" rIns="0" bIns="0" rtlCol="0" anchor="t">
              <a:spAutoFit/>
            </a:bodyPr>
            <a:lstStyle/>
            <a:p>
              <a:pPr marL="0" indent="0" algn="just">
                <a:lnSpc>
                  <a:spcPts val="1500"/>
                </a:lnSpc>
                <a:buNone/>
              </a:pPr>
              <a:r>
                <a:rPr lang="en-US" sz="1200" dirty="0"/>
                <a:t>Identifying potential vulnerabilities in low-bandwidth or low-resource environments to ensure platform stability for all users.</a:t>
              </a:r>
            </a:p>
          </p:txBody>
        </p:sp>
      </p:grpSp>
      <p:grpSp>
        <p:nvGrpSpPr>
          <p:cNvPr id="20" name="Group 19"/>
          <p:cNvGrpSpPr/>
          <p:nvPr/>
        </p:nvGrpSpPr>
        <p:grpSpPr>
          <a:xfrm>
            <a:off x="3207729" y="2843213"/>
            <a:ext cx="5364771" cy="578644"/>
            <a:chOff x="3207729" y="2843213"/>
            <a:chExt cx="5364771" cy="578644"/>
          </a:xfrm>
        </p:grpSpPr>
        <p:sp>
          <p:nvSpPr>
            <p:cNvPr id="11" name="Text 8"/>
            <p:cNvSpPr/>
            <p:nvPr/>
          </p:nvSpPr>
          <p:spPr>
            <a:xfrm>
              <a:off x="3207729" y="3026108"/>
              <a:ext cx="2143124" cy="205184"/>
            </a:xfrm>
            <a:prstGeom prst="rect">
              <a:avLst/>
            </a:prstGeom>
            <a:noFill/>
            <a:ln/>
          </p:spPr>
          <p:txBody>
            <a:bodyPr wrap="square" lIns="0" tIns="0" rIns="0" bIns="0" rtlCol="0" anchor="t">
              <a:spAutoFit/>
            </a:bodyPr>
            <a:lstStyle/>
            <a:p>
              <a:pPr marL="0" indent="0" algn="r">
                <a:lnSpc>
                  <a:spcPts val="1600"/>
                </a:lnSpc>
                <a:buNone/>
              </a:pPr>
              <a:r>
                <a:rPr lang="en-US" sz="1400" b="1" dirty="0">
                  <a:solidFill>
                    <a:srgbClr val="0055FF"/>
                  </a:solidFill>
                </a:rPr>
                <a:t>Log</a:t>
              </a:r>
              <a:r>
                <a:rPr lang="en-US" sz="1400" dirty="0">
                  <a:solidFill>
                    <a:srgbClr val="0055FF"/>
                  </a:solidFill>
                </a:rPr>
                <a:t> </a:t>
              </a:r>
              <a:r>
                <a:rPr lang="en-US" sz="1400" b="1" dirty="0">
                  <a:solidFill>
                    <a:srgbClr val="0055FF"/>
                  </a:solidFill>
                </a:rPr>
                <a:t>Collection</a:t>
              </a:r>
            </a:p>
          </p:txBody>
        </p:sp>
        <p:sp>
          <p:nvSpPr>
            <p:cNvPr id="12" name="Text 9"/>
            <p:cNvSpPr/>
            <p:nvPr/>
          </p:nvSpPr>
          <p:spPr>
            <a:xfrm>
              <a:off x="5506771" y="2843213"/>
              <a:ext cx="3065729" cy="578644"/>
            </a:xfrm>
            <a:prstGeom prst="rect">
              <a:avLst/>
            </a:prstGeom>
            <a:noFill/>
            <a:ln/>
          </p:spPr>
          <p:txBody>
            <a:bodyPr wrap="square" lIns="0" tIns="0" rIns="0" bIns="0" rtlCol="0" anchor="t">
              <a:spAutoFit/>
            </a:bodyPr>
            <a:lstStyle/>
            <a:p>
              <a:pPr marL="0" indent="0" algn="l">
                <a:lnSpc>
                  <a:spcPts val="1500"/>
                </a:lnSpc>
                <a:buNone/>
              </a:pPr>
              <a:r>
                <a:rPr lang="en-US" sz="1200" dirty="0"/>
                <a:t>Managing the automated evidence collection system, including encrypted screenshots and system logs for administrative review.</a:t>
              </a:r>
            </a:p>
          </p:txBody>
        </p:sp>
      </p:grpSp>
      <p:grpSp>
        <p:nvGrpSpPr>
          <p:cNvPr id="21" name="Group 20"/>
          <p:cNvGrpSpPr/>
          <p:nvPr/>
        </p:nvGrpSpPr>
        <p:grpSpPr>
          <a:xfrm>
            <a:off x="3197935" y="3764756"/>
            <a:ext cx="5374565" cy="578644"/>
            <a:chOff x="3197935" y="3764756"/>
            <a:chExt cx="5374565" cy="578644"/>
          </a:xfrm>
        </p:grpSpPr>
        <p:sp>
          <p:nvSpPr>
            <p:cNvPr id="13" name="Text 10"/>
            <p:cNvSpPr/>
            <p:nvPr/>
          </p:nvSpPr>
          <p:spPr>
            <a:xfrm>
              <a:off x="3197935" y="3946180"/>
              <a:ext cx="2143125" cy="205184"/>
            </a:xfrm>
            <a:prstGeom prst="rect">
              <a:avLst/>
            </a:prstGeom>
            <a:noFill/>
            <a:ln/>
          </p:spPr>
          <p:txBody>
            <a:bodyPr wrap="square" lIns="0" tIns="0" rIns="0" bIns="0" rtlCol="0" anchor="t">
              <a:spAutoFit/>
            </a:bodyPr>
            <a:lstStyle/>
            <a:p>
              <a:pPr marL="0" indent="0" algn="r">
                <a:lnSpc>
                  <a:spcPts val="1600"/>
                </a:lnSpc>
                <a:buNone/>
              </a:pPr>
              <a:r>
                <a:rPr lang="en-US" sz="1400" b="1" dirty="0">
                  <a:solidFill>
                    <a:srgbClr val="0055FF"/>
                  </a:solidFill>
                </a:rPr>
                <a:t>Performance Benchmarking</a:t>
              </a:r>
            </a:p>
          </p:txBody>
        </p:sp>
        <p:sp>
          <p:nvSpPr>
            <p:cNvPr id="14" name="Text 11"/>
            <p:cNvSpPr/>
            <p:nvPr/>
          </p:nvSpPr>
          <p:spPr>
            <a:xfrm>
              <a:off x="5506771" y="3764756"/>
              <a:ext cx="3065729" cy="578644"/>
            </a:xfrm>
            <a:prstGeom prst="rect">
              <a:avLst/>
            </a:prstGeom>
            <a:noFill/>
            <a:ln/>
          </p:spPr>
          <p:txBody>
            <a:bodyPr wrap="square" lIns="0" tIns="0" rIns="0" bIns="0" rtlCol="0" anchor="t">
              <a:spAutoFit/>
            </a:bodyPr>
            <a:lstStyle/>
            <a:p>
              <a:pPr marL="0" indent="0" algn="l">
                <a:lnSpc>
                  <a:spcPts val="1500"/>
                </a:lnSpc>
                <a:buNone/>
              </a:pPr>
              <a:r>
                <a:rPr lang="en-US" sz="1200" dirty="0"/>
                <a:t>Ensuring the application remains lightweight and responsive while maintaining high-level security monitoring.</a:t>
              </a: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 presetClass="entr" presetSubtype="4" fill="hold" nodeType="afterEffect">
                                  <p:stCondLst>
                                    <p:cond delay="500"/>
                                  </p:stCondLst>
                                  <p:childTnLst>
                                    <p:set>
                                      <p:cBhvr>
                                        <p:cTn id="17" dur="1" fill="hold">
                                          <p:stCondLst>
                                            <p:cond delay="0"/>
                                          </p:stCondLst>
                                        </p:cTn>
                                        <p:tgtEl>
                                          <p:spTgt spid="18"/>
                                        </p:tgtEl>
                                        <p:attrNameLst>
                                          <p:attrName>style.visibility</p:attrName>
                                        </p:attrNameLst>
                                      </p:cBhvr>
                                      <p:to>
                                        <p:strVal val="visible"/>
                                      </p:to>
                                    </p:set>
                                    <p:anim calcmode="lin" valueType="num">
                                      <p:cBhvr additive="base">
                                        <p:cTn id="18" dur="500" fill="hold"/>
                                        <p:tgtEl>
                                          <p:spTgt spid="18"/>
                                        </p:tgtEl>
                                        <p:attrNameLst>
                                          <p:attrName>ppt_x</p:attrName>
                                        </p:attrNameLst>
                                      </p:cBhvr>
                                      <p:tavLst>
                                        <p:tav tm="0">
                                          <p:val>
                                            <p:strVal val="#ppt_x"/>
                                          </p:val>
                                        </p:tav>
                                        <p:tav tm="100000">
                                          <p:val>
                                            <p:strVal val="#ppt_x"/>
                                          </p:val>
                                        </p:tav>
                                      </p:tavLst>
                                    </p:anim>
                                    <p:anim calcmode="lin" valueType="num">
                                      <p:cBhvr additive="base">
                                        <p:cTn id="19" dur="500" fill="hold"/>
                                        <p:tgtEl>
                                          <p:spTgt spid="18"/>
                                        </p:tgtEl>
                                        <p:attrNameLst>
                                          <p:attrName>ppt_y</p:attrName>
                                        </p:attrNameLst>
                                      </p:cBhvr>
                                      <p:tavLst>
                                        <p:tav tm="0">
                                          <p:val>
                                            <p:strVal val="1+#ppt_h/2"/>
                                          </p:val>
                                        </p:tav>
                                        <p:tav tm="100000">
                                          <p:val>
                                            <p:strVal val="#ppt_y"/>
                                          </p:val>
                                        </p:tav>
                                      </p:tavLst>
                                    </p:anim>
                                  </p:childTnLst>
                                </p:cTn>
                              </p:par>
                            </p:childTnLst>
                          </p:cTn>
                        </p:par>
                        <p:par>
                          <p:cTn id="20" fill="hold">
                            <p:stCondLst>
                              <p:cond delay="2500"/>
                            </p:stCondLst>
                            <p:childTnLst>
                              <p:par>
                                <p:cTn id="21" presetID="2" presetClass="entr" presetSubtype="4" fill="hold" nodeType="afterEffect">
                                  <p:stCondLst>
                                    <p:cond delay="50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childTnLst>
                          </p:cTn>
                        </p:par>
                        <p:par>
                          <p:cTn id="25" fill="hold">
                            <p:stCondLst>
                              <p:cond delay="3500"/>
                            </p:stCondLst>
                            <p:childTnLst>
                              <p:par>
                                <p:cTn id="26" presetID="2" presetClass="entr" presetSubtype="4" fill="hold" nodeType="afterEffect">
                                  <p:stCondLst>
                                    <p:cond delay="500"/>
                                  </p:stCondLst>
                                  <p:childTnLst>
                                    <p:set>
                                      <p:cBhvr>
                                        <p:cTn id="27" dur="1" fill="hold">
                                          <p:stCondLst>
                                            <p:cond delay="0"/>
                                          </p:stCondLst>
                                        </p:cTn>
                                        <p:tgtEl>
                                          <p:spTgt spid="20"/>
                                        </p:tgtEl>
                                        <p:attrNameLst>
                                          <p:attrName>style.visibility</p:attrName>
                                        </p:attrNameLst>
                                      </p:cBhvr>
                                      <p:to>
                                        <p:strVal val="visible"/>
                                      </p:to>
                                    </p:set>
                                    <p:anim calcmode="lin" valueType="num">
                                      <p:cBhvr additive="base">
                                        <p:cTn id="28" dur="500" fill="hold"/>
                                        <p:tgtEl>
                                          <p:spTgt spid="20"/>
                                        </p:tgtEl>
                                        <p:attrNameLst>
                                          <p:attrName>ppt_x</p:attrName>
                                        </p:attrNameLst>
                                      </p:cBhvr>
                                      <p:tavLst>
                                        <p:tav tm="0">
                                          <p:val>
                                            <p:strVal val="#ppt_x"/>
                                          </p:val>
                                        </p:tav>
                                        <p:tav tm="100000">
                                          <p:val>
                                            <p:strVal val="#ppt_x"/>
                                          </p:val>
                                        </p:tav>
                                      </p:tavLst>
                                    </p:anim>
                                    <p:anim calcmode="lin" valueType="num">
                                      <p:cBhvr additive="base">
                                        <p:cTn id="29" dur="500" fill="hold"/>
                                        <p:tgtEl>
                                          <p:spTgt spid="20"/>
                                        </p:tgtEl>
                                        <p:attrNameLst>
                                          <p:attrName>ppt_y</p:attrName>
                                        </p:attrNameLst>
                                      </p:cBhvr>
                                      <p:tavLst>
                                        <p:tav tm="0">
                                          <p:val>
                                            <p:strVal val="1+#ppt_h/2"/>
                                          </p:val>
                                        </p:tav>
                                        <p:tav tm="100000">
                                          <p:val>
                                            <p:strVal val="#ppt_y"/>
                                          </p:val>
                                        </p:tav>
                                      </p:tavLst>
                                    </p:anim>
                                  </p:childTnLst>
                                </p:cTn>
                              </p:par>
                            </p:childTnLst>
                          </p:cTn>
                        </p:par>
                        <p:par>
                          <p:cTn id="30" fill="hold">
                            <p:stCondLst>
                              <p:cond delay="4500"/>
                            </p:stCondLst>
                            <p:childTnLst>
                              <p:par>
                                <p:cTn id="31" presetID="2" presetClass="entr" presetSubtype="4" fill="hold" nodeType="afterEffect">
                                  <p:stCondLst>
                                    <p:cond delay="50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ppt_x"/>
                                          </p:val>
                                        </p:tav>
                                        <p:tav tm="100000">
                                          <p:val>
                                            <p:strVal val="#ppt_x"/>
                                          </p:val>
                                        </p:tav>
                                      </p:tavLst>
                                    </p:anim>
                                    <p:anim calcmode="lin" valueType="num">
                                      <p:cBhvr additive="base">
                                        <p:cTn id="3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4"/>
            <a:ext cx="9144000" cy="5143500"/>
          </a:xfrm>
          <a:prstGeom prst="rect">
            <a:avLst/>
          </a:prstGeom>
        </p:spPr>
      </p:pic>
      <p:grpSp>
        <p:nvGrpSpPr>
          <p:cNvPr id="15" name="Group 14"/>
          <p:cNvGrpSpPr/>
          <p:nvPr/>
        </p:nvGrpSpPr>
        <p:grpSpPr>
          <a:xfrm>
            <a:off x="571500" y="664158"/>
            <a:ext cx="5372100" cy="1110761"/>
            <a:chOff x="571500" y="664158"/>
            <a:chExt cx="5372100" cy="1110761"/>
          </a:xfrm>
        </p:grpSpPr>
        <p:sp>
          <p:nvSpPr>
            <p:cNvPr id="3" name="Text 0"/>
            <p:cNvSpPr/>
            <p:nvPr/>
          </p:nvSpPr>
          <p:spPr>
            <a:xfrm>
              <a:off x="571500" y="664158"/>
              <a:ext cx="5372100" cy="754335"/>
            </a:xfrm>
            <a:prstGeom prst="rect">
              <a:avLst/>
            </a:prstGeom>
            <a:noFill/>
            <a:ln/>
          </p:spPr>
          <p:txBody>
            <a:bodyPr wrap="square" lIns="0" tIns="0" rIns="0" bIns="0" rtlCol="0" anchor="t">
              <a:spAutoFit/>
            </a:bodyPr>
            <a:lstStyle/>
            <a:p>
              <a:pPr marL="0" indent="0" algn="l">
                <a:lnSpc>
                  <a:spcPts val="3000"/>
                </a:lnSpc>
                <a:buNone/>
              </a:pPr>
              <a:r>
                <a:rPr lang="en-US" sz="2400" b="1" dirty="0">
                  <a:solidFill>
                    <a:srgbClr val="000000"/>
                  </a:solidFill>
                </a:rPr>
                <a:t>Technical Documentation
&amp; Visual Architecture</a:t>
              </a:r>
              <a:endParaRPr lang="en-US" sz="2400" dirty="0"/>
            </a:p>
          </p:txBody>
        </p:sp>
        <p:sp>
          <p:nvSpPr>
            <p:cNvPr id="4" name="Text 1"/>
            <p:cNvSpPr/>
            <p:nvPr/>
          </p:nvSpPr>
          <p:spPr>
            <a:xfrm>
              <a:off x="571500" y="1569735"/>
              <a:ext cx="3424592" cy="205184"/>
            </a:xfrm>
            <a:prstGeom prst="rect">
              <a:avLst/>
            </a:prstGeom>
            <a:noFill/>
            <a:ln/>
          </p:spPr>
          <p:txBody>
            <a:bodyPr wrap="none" lIns="0" tIns="0" rIns="0" bIns="0" rtlCol="0" anchor="t">
              <a:spAutoFit/>
            </a:bodyPr>
            <a:lstStyle/>
            <a:p>
              <a:pPr marL="0" indent="0" algn="l">
                <a:lnSpc>
                  <a:spcPts val="1600"/>
                </a:lnSpc>
                <a:buNone/>
              </a:pPr>
              <a:r>
                <a:rPr lang="en-US" sz="1400" b="1" kern="0" spc="1" dirty="0">
                  <a:solidFill>
                    <a:srgbClr val="0055FF"/>
                  </a:solidFill>
                </a:rPr>
                <a:t>Mst. Sanjida Emros </a:t>
              </a:r>
              <a:r>
                <a:rPr lang="en-US" sz="1400" b="1" kern="0" spc="1" dirty="0" smtClean="0">
                  <a:solidFill>
                    <a:srgbClr val="0055FF"/>
                  </a:solidFill>
                </a:rPr>
                <a:t>— </a:t>
              </a:r>
              <a:r>
                <a:rPr lang="en-US" sz="1400" b="1" kern="0" spc="1" dirty="0">
                  <a:solidFill>
                    <a:srgbClr val="0055FF"/>
                  </a:solidFill>
                </a:rPr>
                <a:t>Docs &amp; Diagrams Lead</a:t>
              </a:r>
              <a:endParaRPr lang="en-US" sz="1400" dirty="0"/>
            </a:p>
          </p:txBody>
        </p:sp>
      </p:grpSp>
      <p:grpSp>
        <p:nvGrpSpPr>
          <p:cNvPr id="16" name="Group 15"/>
          <p:cNvGrpSpPr/>
          <p:nvPr/>
        </p:nvGrpSpPr>
        <p:grpSpPr>
          <a:xfrm>
            <a:off x="573692" y="2264337"/>
            <a:ext cx="5369908" cy="377283"/>
            <a:chOff x="573692" y="2264337"/>
            <a:chExt cx="5369908" cy="377283"/>
          </a:xfrm>
        </p:grpSpPr>
        <p:sp>
          <p:nvSpPr>
            <p:cNvPr id="5" name="Text 2"/>
            <p:cNvSpPr/>
            <p:nvPr/>
          </p:nvSpPr>
          <p:spPr>
            <a:xfrm>
              <a:off x="573692" y="2356798"/>
              <a:ext cx="1714500" cy="192360"/>
            </a:xfrm>
            <a:prstGeom prst="rect">
              <a:avLst/>
            </a:prstGeom>
            <a:noFill/>
            <a:ln/>
          </p:spPr>
          <p:txBody>
            <a:bodyPr wrap="square" lIns="0" tIns="0" rIns="0" bIns="0" rtlCol="0" anchor="t">
              <a:spAutoFit/>
            </a:bodyPr>
            <a:lstStyle/>
            <a:p>
              <a:pPr marL="0" indent="0" algn="l">
                <a:lnSpc>
                  <a:spcPts val="1500"/>
                </a:lnSpc>
                <a:buNone/>
              </a:pPr>
              <a:r>
                <a:rPr lang="en-US" sz="1400" b="1" dirty="0">
                  <a:solidFill>
                    <a:srgbClr val="0055FF"/>
                  </a:solidFill>
                </a:rPr>
                <a:t>Technical Reporting</a:t>
              </a:r>
              <a:endParaRPr lang="en-US" sz="1400" dirty="0">
                <a:solidFill>
                  <a:srgbClr val="0055FF"/>
                </a:solidFill>
              </a:endParaRPr>
            </a:p>
          </p:txBody>
        </p:sp>
        <p:sp>
          <p:nvSpPr>
            <p:cNvPr id="6" name="Text 3"/>
            <p:cNvSpPr/>
            <p:nvPr/>
          </p:nvSpPr>
          <p:spPr>
            <a:xfrm>
              <a:off x="2286000" y="2264337"/>
              <a:ext cx="3657600" cy="377283"/>
            </a:xfrm>
            <a:prstGeom prst="rect">
              <a:avLst/>
            </a:prstGeom>
            <a:noFill/>
            <a:ln/>
          </p:spPr>
          <p:txBody>
            <a:bodyPr wrap="square" lIns="0" tIns="0" rIns="0" bIns="0" rtlCol="0" anchor="t">
              <a:spAutoFit/>
            </a:bodyPr>
            <a:lstStyle/>
            <a:p>
              <a:pPr>
                <a:lnSpc>
                  <a:spcPts val="1500"/>
                </a:lnSpc>
              </a:pPr>
              <a:r>
                <a:rPr lang="en-US" sz="1200" dirty="0"/>
                <a:t>Authoring </a:t>
              </a:r>
              <a:r>
                <a:rPr lang="en-US" sz="1200" dirty="0" smtClean="0"/>
                <a:t>project </a:t>
              </a:r>
              <a:r>
                <a:rPr lang="en-US" sz="1200" dirty="0"/>
                <a:t>reports and professional research proposalcomprehensives to ensure technical clarity.</a:t>
              </a:r>
            </a:p>
          </p:txBody>
        </p:sp>
      </p:grpSp>
      <p:grpSp>
        <p:nvGrpSpPr>
          <p:cNvPr id="17" name="Group 16"/>
          <p:cNvGrpSpPr/>
          <p:nvPr/>
        </p:nvGrpSpPr>
        <p:grpSpPr>
          <a:xfrm>
            <a:off x="569296" y="2902609"/>
            <a:ext cx="5202854" cy="385763"/>
            <a:chOff x="569296" y="2902609"/>
            <a:chExt cx="5202854" cy="385763"/>
          </a:xfrm>
        </p:grpSpPr>
        <p:sp>
          <p:nvSpPr>
            <p:cNvPr id="7" name="Text 4"/>
            <p:cNvSpPr/>
            <p:nvPr/>
          </p:nvSpPr>
          <p:spPr>
            <a:xfrm>
              <a:off x="569296" y="3029732"/>
              <a:ext cx="1714500" cy="192360"/>
            </a:xfrm>
            <a:prstGeom prst="rect">
              <a:avLst/>
            </a:prstGeom>
            <a:noFill/>
            <a:ln/>
          </p:spPr>
          <p:txBody>
            <a:bodyPr wrap="square" lIns="0" tIns="0" rIns="0" bIns="0" rtlCol="0" anchor="t">
              <a:spAutoFit/>
            </a:bodyPr>
            <a:lstStyle/>
            <a:p>
              <a:pPr marL="0" indent="0" algn="l">
                <a:lnSpc>
                  <a:spcPts val="1500"/>
                </a:lnSpc>
                <a:buNone/>
              </a:pPr>
              <a:r>
                <a:rPr lang="en-US" sz="1400" b="1" dirty="0">
                  <a:solidFill>
                    <a:srgbClr val="0055FF"/>
                  </a:solidFill>
                </a:rPr>
                <a:t>Diagrammatic Design</a:t>
              </a:r>
              <a:endParaRPr lang="en-US" sz="1400" dirty="0">
                <a:solidFill>
                  <a:srgbClr val="0055FF"/>
                </a:solidFill>
              </a:endParaRPr>
            </a:p>
          </p:txBody>
        </p:sp>
        <p:sp>
          <p:nvSpPr>
            <p:cNvPr id="8" name="Text 5"/>
            <p:cNvSpPr/>
            <p:nvPr/>
          </p:nvSpPr>
          <p:spPr>
            <a:xfrm>
              <a:off x="2288192" y="2902609"/>
              <a:ext cx="3483958" cy="385763"/>
            </a:xfrm>
            <a:prstGeom prst="rect">
              <a:avLst/>
            </a:prstGeom>
            <a:noFill/>
            <a:ln/>
          </p:spPr>
          <p:txBody>
            <a:bodyPr wrap="square" lIns="0" tIns="0" rIns="0" bIns="0" rtlCol="0" anchor="t">
              <a:spAutoFit/>
            </a:bodyPr>
            <a:lstStyle/>
            <a:p>
              <a:pPr marL="0" indent="0">
                <a:lnSpc>
                  <a:spcPts val="1500"/>
                </a:lnSpc>
                <a:buNone/>
              </a:pPr>
              <a:r>
                <a:rPr lang="en-US" sz="1200" dirty="0"/>
                <a:t>Creating essential visualizations including Data Flow (DFD) and ER Diagrams for system transparency.</a:t>
              </a:r>
            </a:p>
          </p:txBody>
        </p:sp>
      </p:grpSp>
      <p:grpSp>
        <p:nvGrpSpPr>
          <p:cNvPr id="18" name="Group 17"/>
          <p:cNvGrpSpPr/>
          <p:nvPr/>
        </p:nvGrpSpPr>
        <p:grpSpPr>
          <a:xfrm>
            <a:off x="569296" y="3567793"/>
            <a:ext cx="5374304" cy="569643"/>
            <a:chOff x="569296" y="3567793"/>
            <a:chExt cx="5374304" cy="569643"/>
          </a:xfrm>
        </p:grpSpPr>
        <p:sp>
          <p:nvSpPr>
            <p:cNvPr id="9" name="Text 6"/>
            <p:cNvSpPr/>
            <p:nvPr/>
          </p:nvSpPr>
          <p:spPr>
            <a:xfrm>
              <a:off x="569296" y="3697950"/>
              <a:ext cx="1025922"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0055FF"/>
                  </a:solidFill>
                </a:rPr>
                <a:t>User Manuals</a:t>
              </a:r>
              <a:endParaRPr lang="en-US" sz="1400" dirty="0">
                <a:solidFill>
                  <a:srgbClr val="0055FF"/>
                </a:solidFill>
              </a:endParaRPr>
            </a:p>
          </p:txBody>
        </p:sp>
        <p:sp>
          <p:nvSpPr>
            <p:cNvPr id="10" name="Text 7"/>
            <p:cNvSpPr/>
            <p:nvPr/>
          </p:nvSpPr>
          <p:spPr>
            <a:xfrm>
              <a:off x="2286000" y="3567793"/>
              <a:ext cx="3657600" cy="569643"/>
            </a:xfrm>
            <a:prstGeom prst="rect">
              <a:avLst/>
            </a:prstGeom>
            <a:noFill/>
            <a:ln/>
          </p:spPr>
          <p:txBody>
            <a:bodyPr wrap="square" lIns="0" tIns="0" rIns="0" bIns="0" rtlCol="0" anchor="t">
              <a:spAutoFit/>
            </a:bodyPr>
            <a:lstStyle/>
            <a:p>
              <a:pPr marL="0" indent="0">
                <a:lnSpc>
                  <a:spcPts val="1500"/>
                </a:lnSpc>
                <a:buNone/>
              </a:pPr>
              <a:r>
                <a:rPr lang="en-US" sz="1200" dirty="0"/>
                <a:t>Developing clear, step-by-step guides for both administrators and students to ensure platform accessibility.</a:t>
              </a:r>
            </a:p>
          </p:txBody>
        </p:sp>
      </p:grpSp>
      <p:grpSp>
        <p:nvGrpSpPr>
          <p:cNvPr id="19" name="Group 18"/>
          <p:cNvGrpSpPr/>
          <p:nvPr/>
        </p:nvGrpSpPr>
        <p:grpSpPr>
          <a:xfrm>
            <a:off x="571500" y="4199551"/>
            <a:ext cx="5372100" cy="385763"/>
            <a:chOff x="571500" y="4199551"/>
            <a:chExt cx="5372100" cy="385763"/>
          </a:xfrm>
        </p:grpSpPr>
        <p:sp>
          <p:nvSpPr>
            <p:cNvPr id="11" name="Text 8"/>
            <p:cNvSpPr/>
            <p:nvPr/>
          </p:nvSpPr>
          <p:spPr>
            <a:xfrm>
              <a:off x="571500" y="4309744"/>
              <a:ext cx="1714500" cy="192360"/>
            </a:xfrm>
            <a:prstGeom prst="rect">
              <a:avLst/>
            </a:prstGeom>
            <a:noFill/>
            <a:ln/>
          </p:spPr>
          <p:txBody>
            <a:bodyPr wrap="square" lIns="0" tIns="0" rIns="0" bIns="0" rtlCol="0" anchor="t">
              <a:spAutoFit/>
            </a:bodyPr>
            <a:lstStyle/>
            <a:p>
              <a:pPr marL="0" indent="0" algn="l">
                <a:lnSpc>
                  <a:spcPts val="1500"/>
                </a:lnSpc>
                <a:buNone/>
              </a:pPr>
              <a:r>
                <a:rPr lang="en-US" sz="1400" b="1" dirty="0">
                  <a:solidFill>
                    <a:srgbClr val="0055FF"/>
                  </a:solidFill>
                </a:rPr>
                <a:t>Visual Presentation</a:t>
              </a:r>
              <a:endParaRPr lang="en-US" sz="1400" dirty="0">
                <a:solidFill>
                  <a:srgbClr val="0055FF"/>
                </a:solidFill>
              </a:endParaRPr>
            </a:p>
          </p:txBody>
        </p:sp>
        <p:sp>
          <p:nvSpPr>
            <p:cNvPr id="12" name="Text 9"/>
            <p:cNvSpPr/>
            <p:nvPr/>
          </p:nvSpPr>
          <p:spPr>
            <a:xfrm>
              <a:off x="2286000" y="4199551"/>
              <a:ext cx="3657600" cy="385763"/>
            </a:xfrm>
            <a:prstGeom prst="rect">
              <a:avLst/>
            </a:prstGeom>
            <a:noFill/>
            <a:ln/>
          </p:spPr>
          <p:txBody>
            <a:bodyPr wrap="square" lIns="0" tIns="0" rIns="0" bIns="0" rtlCol="0" anchor="t">
              <a:spAutoFit/>
            </a:bodyPr>
            <a:lstStyle/>
            <a:p>
              <a:pPr marL="0" indent="0" algn="l">
                <a:lnSpc>
                  <a:spcPts val="1500"/>
                </a:lnSpc>
                <a:buNone/>
              </a:pPr>
              <a:r>
                <a:rPr lang="en-US" sz="1200" dirty="0" smtClean="0"/>
                <a:t>Crafting professional materials to communicate complex technical concepts effectively to stakeholders.</a:t>
              </a:r>
              <a:endParaRPr lang="en-US" sz="1200" dirty="0"/>
            </a:p>
          </p:txBody>
        </p:sp>
      </p:grpSp>
      <p:sp>
        <p:nvSpPr>
          <p:cNvPr id="13" name="Shape 10"/>
          <p:cNvSpPr/>
          <p:nvPr/>
        </p:nvSpPr>
        <p:spPr>
          <a:xfrm>
            <a:off x="5943600" y="0"/>
            <a:ext cx="3200400" cy="5143500"/>
          </a:xfrm>
          <a:prstGeom prst="rect">
            <a:avLst/>
          </a:prstGeom>
          <a:solidFill>
            <a:srgbClr val="333333"/>
          </a:solidFill>
          <a:ln/>
        </p:spPr>
      </p:sp>
      <p:pic>
        <p:nvPicPr>
          <p:cNvPr id="14" name="Image 1" descr="preencoded.png"/>
          <p:cNvPicPr>
            <a:picLocks noChangeAspect="1"/>
          </p:cNvPicPr>
          <p:nvPr/>
        </p:nvPicPr>
        <p:blipFill>
          <a:blip r:embed="rId4"/>
          <a:stretch>
            <a:fillRect/>
          </a:stretch>
        </p:blipFill>
        <p:spPr>
          <a:xfrm>
            <a:off x="6115050" y="428625"/>
            <a:ext cx="2857500" cy="428625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1000"/>
                                        <p:tgtEl>
                                          <p:spTgt spid="18"/>
                                        </p:tgtEl>
                                      </p:cBhvr>
                                    </p:animEffect>
                                    <p:anim calcmode="lin" valueType="num">
                                      <p:cBhvr>
                                        <p:cTn id="26" dur="1000" fill="hold"/>
                                        <p:tgtEl>
                                          <p:spTgt spid="18"/>
                                        </p:tgtEl>
                                        <p:attrNameLst>
                                          <p:attrName>ppt_x</p:attrName>
                                        </p:attrNameLst>
                                      </p:cBhvr>
                                      <p:tavLst>
                                        <p:tav tm="0">
                                          <p:val>
                                            <p:strVal val="#ppt_x"/>
                                          </p:val>
                                        </p:tav>
                                        <p:tav tm="100000">
                                          <p:val>
                                            <p:strVal val="#ppt_x"/>
                                          </p:val>
                                        </p:tav>
                                      </p:tavLst>
                                    </p:anim>
                                    <p:anim calcmode="lin" valueType="num">
                                      <p:cBhvr>
                                        <p:cTn id="27" dur="1000" fill="hold"/>
                                        <p:tgtEl>
                                          <p:spTgt spid="18"/>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571500" y="428625"/>
            <a:ext cx="5863149" cy="673298"/>
          </a:xfrm>
          <a:prstGeom prst="rect">
            <a:avLst/>
          </a:prstGeom>
          <a:noFill/>
          <a:ln/>
        </p:spPr>
        <p:txBody>
          <a:bodyPr wrap="none" lIns="0" tIns="0" rIns="0" bIns="85090" rtlCol="0" anchor="t">
            <a:spAutoFit/>
          </a:bodyPr>
          <a:lstStyle/>
          <a:p>
            <a:pPr marL="0" indent="0" algn="l">
              <a:lnSpc>
                <a:spcPts val="3800"/>
              </a:lnSpc>
              <a:buNone/>
            </a:pPr>
            <a:r>
              <a:rPr lang="en-US" sz="2862" b="1" dirty="0">
                <a:solidFill>
                  <a:srgbClr val="000000"/>
                </a:solidFill>
              </a:rPr>
              <a:t>Advanced Technical Stack</a:t>
            </a:r>
            <a:endParaRPr lang="en-US" sz="2862" dirty="0"/>
          </a:p>
        </p:txBody>
      </p:sp>
      <p:grpSp>
        <p:nvGrpSpPr>
          <p:cNvPr id="38" name="Group 37"/>
          <p:cNvGrpSpPr/>
          <p:nvPr/>
        </p:nvGrpSpPr>
        <p:grpSpPr>
          <a:xfrm>
            <a:off x="571500" y="1530548"/>
            <a:ext cx="857250" cy="857250"/>
            <a:chOff x="571500" y="1530548"/>
            <a:chExt cx="857250" cy="857250"/>
          </a:xfrm>
        </p:grpSpPr>
        <p:sp>
          <p:nvSpPr>
            <p:cNvPr id="4" name="Shape 1"/>
            <p:cNvSpPr/>
            <p:nvPr/>
          </p:nvSpPr>
          <p:spPr>
            <a:xfrm>
              <a:off x="571500" y="1530548"/>
              <a:ext cx="857250" cy="857250"/>
            </a:xfrm>
            <a:prstGeom prst="rect">
              <a:avLst/>
            </a:prstGeom>
            <a:solidFill>
              <a:srgbClr val="000000"/>
            </a:solidFill>
            <a:ln/>
          </p:spPr>
        </p:sp>
        <p:pic>
          <p:nvPicPr>
            <p:cNvPr id="5" name="Image 1" descr="preencoded.png"/>
            <p:cNvPicPr>
              <a:picLocks noChangeAspect="1"/>
            </p:cNvPicPr>
            <p:nvPr/>
          </p:nvPicPr>
          <p:blipFill>
            <a:blip r:embed="rId3"/>
            <a:stretch>
              <a:fillRect/>
            </a:stretch>
          </p:blipFill>
          <p:spPr>
            <a:xfrm>
              <a:off x="714375" y="1673423"/>
              <a:ext cx="571500" cy="571500"/>
            </a:xfrm>
            <a:prstGeom prst="rect">
              <a:avLst/>
            </a:prstGeom>
          </p:spPr>
        </p:pic>
      </p:grpSp>
      <p:sp>
        <p:nvSpPr>
          <p:cNvPr id="6" name="Text 2"/>
          <p:cNvSpPr/>
          <p:nvPr/>
        </p:nvSpPr>
        <p:spPr>
          <a:xfrm>
            <a:off x="571500" y="2616398"/>
            <a:ext cx="1591333"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0055FF"/>
                </a:solidFill>
              </a:rPr>
              <a:t>Backend Architecture</a:t>
            </a:r>
            <a:endParaRPr lang="en-US" sz="1400" dirty="0"/>
          </a:p>
        </p:txBody>
      </p:sp>
      <p:grpSp>
        <p:nvGrpSpPr>
          <p:cNvPr id="42" name="Group 41"/>
          <p:cNvGrpSpPr/>
          <p:nvPr/>
        </p:nvGrpSpPr>
        <p:grpSpPr>
          <a:xfrm>
            <a:off x="580735" y="3037918"/>
            <a:ext cx="2113740" cy="903988"/>
            <a:chOff x="571500" y="3077170"/>
            <a:chExt cx="2113740" cy="903988"/>
          </a:xfrm>
        </p:grpSpPr>
        <p:sp>
          <p:nvSpPr>
            <p:cNvPr id="7" name="Shape 3"/>
            <p:cNvSpPr/>
            <p:nvPr/>
          </p:nvSpPr>
          <p:spPr>
            <a:xfrm>
              <a:off x="571500" y="3180163"/>
              <a:ext cx="57150" cy="57150"/>
            </a:xfrm>
            <a:prstGeom prst="rect">
              <a:avLst/>
            </a:prstGeom>
            <a:solidFill>
              <a:srgbClr val="333333"/>
            </a:solidFill>
            <a:ln/>
          </p:spPr>
        </p:sp>
        <p:sp>
          <p:nvSpPr>
            <p:cNvPr id="8" name="Text 4"/>
            <p:cNvSpPr/>
            <p:nvPr/>
          </p:nvSpPr>
          <p:spPr>
            <a:xfrm>
              <a:off x="714375" y="3077170"/>
              <a:ext cx="751405" cy="194667"/>
            </a:xfrm>
            <a:prstGeom prst="rect">
              <a:avLst/>
            </a:prstGeom>
            <a:noFill/>
            <a:ln/>
          </p:spPr>
          <p:txBody>
            <a:bodyPr wrap="none" lIns="0" tIns="0" rIns="0" bIns="0" rtlCol="0" anchor="t">
              <a:spAutoFit/>
            </a:bodyPr>
            <a:lstStyle/>
            <a:p>
              <a:pPr marL="0" indent="0" algn="l">
                <a:lnSpc>
                  <a:spcPts val="1800"/>
                </a:lnSpc>
                <a:buNone/>
              </a:pPr>
              <a:r>
                <a:rPr lang="en-US" sz="987" b="1" dirty="0">
                  <a:solidFill>
                    <a:srgbClr val="000000"/>
                  </a:solidFill>
                </a:rPr>
                <a:t>Python 3.x</a:t>
              </a:r>
              <a:endParaRPr lang="en-US" sz="987" dirty="0"/>
            </a:p>
          </p:txBody>
        </p:sp>
        <p:sp>
          <p:nvSpPr>
            <p:cNvPr id="9" name="Text 5"/>
            <p:cNvSpPr/>
            <p:nvPr/>
          </p:nvSpPr>
          <p:spPr>
            <a:xfrm>
              <a:off x="1465780" y="3077170"/>
              <a:ext cx="914400" cy="194667"/>
            </a:xfrm>
            <a:prstGeom prst="rect">
              <a:avLst/>
            </a:prstGeom>
            <a:noFill/>
            <a:ln/>
          </p:spPr>
          <p:txBody>
            <a:bodyPr wrap="none" lIns="0" tIns="0" rIns="0" bIns="0" rtlCol="0" anchor="t">
              <a:spAutoFit/>
            </a:bodyPr>
            <a:lstStyle/>
            <a:p>
              <a:pPr marL="0" indent="0" algn="l">
                <a:lnSpc>
                  <a:spcPts val="1800"/>
                </a:lnSpc>
                <a:buNone/>
              </a:pPr>
              <a:r>
                <a:rPr lang="en-US" sz="1050" dirty="0">
                  <a:solidFill>
                    <a:srgbClr val="000000"/>
                  </a:solidFill>
                </a:rPr>
                <a:t>for core logic</a:t>
              </a:r>
              <a:endParaRPr lang="en-US" sz="1050" dirty="0"/>
            </a:p>
          </p:txBody>
        </p:sp>
        <p:sp>
          <p:nvSpPr>
            <p:cNvPr id="10" name="Shape 6"/>
            <p:cNvSpPr/>
            <p:nvPr/>
          </p:nvSpPr>
          <p:spPr>
            <a:xfrm>
              <a:off x="571500" y="3518300"/>
              <a:ext cx="57150" cy="57150"/>
            </a:xfrm>
            <a:prstGeom prst="rect">
              <a:avLst/>
            </a:prstGeom>
            <a:solidFill>
              <a:srgbClr val="333333"/>
            </a:solidFill>
            <a:ln/>
          </p:spPr>
        </p:sp>
        <p:sp>
          <p:nvSpPr>
            <p:cNvPr id="11" name="Text 7"/>
            <p:cNvSpPr/>
            <p:nvPr/>
          </p:nvSpPr>
          <p:spPr>
            <a:xfrm>
              <a:off x="714375" y="3420070"/>
              <a:ext cx="541641" cy="194667"/>
            </a:xfrm>
            <a:prstGeom prst="rect">
              <a:avLst/>
            </a:prstGeom>
            <a:noFill/>
            <a:ln/>
          </p:spPr>
          <p:txBody>
            <a:bodyPr wrap="none" lIns="0" tIns="0" rIns="0" bIns="0" rtlCol="0" anchor="t">
              <a:spAutoFit/>
            </a:bodyPr>
            <a:lstStyle/>
            <a:p>
              <a:pPr marL="0" indent="0" algn="l">
                <a:lnSpc>
                  <a:spcPts val="1800"/>
                </a:lnSpc>
                <a:buNone/>
              </a:pPr>
              <a:r>
                <a:rPr lang="en-US" sz="987" b="1" dirty="0">
                  <a:solidFill>
                    <a:srgbClr val="000000"/>
                  </a:solidFill>
                </a:rPr>
                <a:t>FastAPI</a:t>
              </a:r>
              <a:endParaRPr lang="en-US" sz="987" dirty="0"/>
            </a:p>
          </p:txBody>
        </p:sp>
        <p:sp>
          <p:nvSpPr>
            <p:cNvPr id="12" name="Text 8"/>
            <p:cNvSpPr/>
            <p:nvPr/>
          </p:nvSpPr>
          <p:spPr>
            <a:xfrm>
              <a:off x="1465780" y="3420070"/>
              <a:ext cx="1219460" cy="194667"/>
            </a:xfrm>
            <a:prstGeom prst="rect">
              <a:avLst/>
            </a:prstGeom>
            <a:noFill/>
            <a:ln/>
          </p:spPr>
          <p:txBody>
            <a:bodyPr wrap="none" lIns="0" tIns="0" rIns="0" bIns="0" rtlCol="0" anchor="t">
              <a:spAutoFit/>
            </a:bodyPr>
            <a:lstStyle/>
            <a:p>
              <a:pPr marL="0" indent="0" algn="l">
                <a:lnSpc>
                  <a:spcPts val="1800"/>
                </a:lnSpc>
                <a:buNone/>
              </a:pPr>
              <a:r>
                <a:rPr lang="en-US" sz="1050" dirty="0">
                  <a:solidFill>
                    <a:srgbClr val="000000"/>
                  </a:solidFill>
                </a:rPr>
                <a:t>for async services</a:t>
              </a:r>
              <a:endParaRPr lang="en-US" sz="1050" dirty="0"/>
            </a:p>
          </p:txBody>
        </p:sp>
        <p:sp>
          <p:nvSpPr>
            <p:cNvPr id="13" name="Shape 9"/>
            <p:cNvSpPr/>
            <p:nvPr/>
          </p:nvSpPr>
          <p:spPr>
            <a:xfrm>
              <a:off x="571500" y="3856437"/>
              <a:ext cx="57150" cy="57150"/>
            </a:xfrm>
            <a:prstGeom prst="rect">
              <a:avLst/>
            </a:prstGeom>
            <a:solidFill>
              <a:srgbClr val="333333"/>
            </a:solidFill>
            <a:ln/>
          </p:spPr>
        </p:sp>
        <p:sp>
          <p:nvSpPr>
            <p:cNvPr id="14" name="Text 10"/>
            <p:cNvSpPr/>
            <p:nvPr/>
          </p:nvSpPr>
          <p:spPr>
            <a:xfrm>
              <a:off x="714375" y="3762970"/>
              <a:ext cx="982852" cy="194667"/>
            </a:xfrm>
            <a:prstGeom prst="rect">
              <a:avLst/>
            </a:prstGeom>
            <a:noFill/>
            <a:ln/>
          </p:spPr>
          <p:txBody>
            <a:bodyPr wrap="none" lIns="0" tIns="0" rIns="0" bIns="0" rtlCol="0" anchor="t">
              <a:spAutoFit/>
            </a:bodyPr>
            <a:lstStyle/>
            <a:p>
              <a:pPr marL="0" indent="0" algn="l">
                <a:lnSpc>
                  <a:spcPts val="1800"/>
                </a:lnSpc>
                <a:buNone/>
              </a:pPr>
              <a:r>
                <a:rPr lang="en-US" sz="987" b="1" dirty="0">
                  <a:solidFill>
                    <a:srgbClr val="000000"/>
                  </a:solidFill>
                </a:rPr>
                <a:t>SQL Database</a:t>
              </a:r>
              <a:endParaRPr lang="en-US" sz="987" dirty="0"/>
            </a:p>
          </p:txBody>
        </p:sp>
        <p:sp>
          <p:nvSpPr>
            <p:cNvPr id="15" name="Text 11"/>
            <p:cNvSpPr/>
            <p:nvPr/>
          </p:nvSpPr>
          <p:spPr>
            <a:xfrm>
              <a:off x="1459980" y="3786491"/>
              <a:ext cx="1039723" cy="194667"/>
            </a:xfrm>
            <a:prstGeom prst="rect">
              <a:avLst/>
            </a:prstGeom>
            <a:noFill/>
            <a:ln/>
          </p:spPr>
          <p:txBody>
            <a:bodyPr wrap="none" lIns="0" tIns="0" rIns="0" bIns="0" rtlCol="0" anchor="t">
              <a:spAutoFit/>
            </a:bodyPr>
            <a:lstStyle/>
            <a:p>
              <a:pPr marL="0" indent="0" algn="l">
                <a:lnSpc>
                  <a:spcPts val="1800"/>
                </a:lnSpc>
                <a:buNone/>
              </a:pPr>
              <a:r>
                <a:rPr lang="en-US" sz="1050" dirty="0">
                  <a:solidFill>
                    <a:srgbClr val="000000"/>
                  </a:solidFill>
                </a:rPr>
                <a:t>for persistence</a:t>
              </a:r>
              <a:endParaRPr lang="en-US" sz="1050" dirty="0"/>
            </a:p>
          </p:txBody>
        </p:sp>
      </p:grpSp>
      <p:grpSp>
        <p:nvGrpSpPr>
          <p:cNvPr id="39" name="Group 38"/>
          <p:cNvGrpSpPr/>
          <p:nvPr/>
        </p:nvGrpSpPr>
        <p:grpSpPr>
          <a:xfrm>
            <a:off x="3286125" y="1530548"/>
            <a:ext cx="857250" cy="857250"/>
            <a:chOff x="3286125" y="1530548"/>
            <a:chExt cx="857250" cy="857250"/>
          </a:xfrm>
        </p:grpSpPr>
        <p:sp>
          <p:nvSpPr>
            <p:cNvPr id="16" name="Shape 12"/>
            <p:cNvSpPr/>
            <p:nvPr/>
          </p:nvSpPr>
          <p:spPr>
            <a:xfrm>
              <a:off x="3286125" y="1530548"/>
              <a:ext cx="857250" cy="857250"/>
            </a:xfrm>
            <a:prstGeom prst="rect">
              <a:avLst/>
            </a:prstGeom>
            <a:solidFill>
              <a:srgbClr val="000000"/>
            </a:solidFill>
            <a:ln/>
          </p:spPr>
        </p:sp>
        <p:pic>
          <p:nvPicPr>
            <p:cNvPr id="17" name="Image 2" descr="preencoded.png"/>
            <p:cNvPicPr>
              <a:picLocks noChangeAspect="1"/>
            </p:cNvPicPr>
            <p:nvPr/>
          </p:nvPicPr>
          <p:blipFill>
            <a:blip r:embed="rId4"/>
            <a:stretch>
              <a:fillRect/>
            </a:stretch>
          </p:blipFill>
          <p:spPr>
            <a:xfrm>
              <a:off x="3429000" y="1673423"/>
              <a:ext cx="571500" cy="571500"/>
            </a:xfrm>
            <a:prstGeom prst="rect">
              <a:avLst/>
            </a:prstGeom>
          </p:spPr>
        </p:pic>
      </p:grpSp>
      <p:sp>
        <p:nvSpPr>
          <p:cNvPr id="18" name="Text 13"/>
          <p:cNvSpPr/>
          <p:nvPr/>
        </p:nvSpPr>
        <p:spPr>
          <a:xfrm>
            <a:off x="3286125" y="2616398"/>
            <a:ext cx="2026062"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0055FF"/>
                </a:solidFill>
              </a:rPr>
              <a:t>Frontend Systems</a:t>
            </a:r>
            <a:endParaRPr lang="en-US" sz="1397" dirty="0"/>
          </a:p>
        </p:txBody>
      </p:sp>
      <p:grpSp>
        <p:nvGrpSpPr>
          <p:cNvPr id="43" name="Group 42"/>
          <p:cNvGrpSpPr/>
          <p:nvPr/>
        </p:nvGrpSpPr>
        <p:grpSpPr>
          <a:xfrm>
            <a:off x="3264796" y="3037918"/>
            <a:ext cx="1968630" cy="908634"/>
            <a:chOff x="3286125" y="3058535"/>
            <a:chExt cx="1968630" cy="908634"/>
          </a:xfrm>
        </p:grpSpPr>
        <p:sp>
          <p:nvSpPr>
            <p:cNvPr id="19" name="Shape 14"/>
            <p:cNvSpPr/>
            <p:nvPr/>
          </p:nvSpPr>
          <p:spPr>
            <a:xfrm>
              <a:off x="3286125" y="3180163"/>
              <a:ext cx="57150" cy="57150"/>
            </a:xfrm>
            <a:prstGeom prst="rect">
              <a:avLst/>
            </a:prstGeom>
            <a:solidFill>
              <a:srgbClr val="333333"/>
            </a:solidFill>
            <a:ln/>
          </p:spPr>
        </p:sp>
        <p:sp>
          <p:nvSpPr>
            <p:cNvPr id="20" name="Text 15"/>
            <p:cNvSpPr/>
            <p:nvPr/>
          </p:nvSpPr>
          <p:spPr>
            <a:xfrm>
              <a:off x="3429000" y="3077170"/>
              <a:ext cx="1000125" cy="194667"/>
            </a:xfrm>
            <a:prstGeom prst="rect">
              <a:avLst/>
            </a:prstGeom>
            <a:noFill/>
            <a:ln/>
          </p:spPr>
          <p:txBody>
            <a:bodyPr wrap="none" lIns="0" tIns="0" rIns="0" bIns="0" rtlCol="0" anchor="t">
              <a:spAutoFit/>
            </a:bodyPr>
            <a:lstStyle/>
            <a:p>
              <a:pPr marL="0" indent="0" algn="l">
                <a:lnSpc>
                  <a:spcPts val="1800"/>
                </a:lnSpc>
                <a:buNone/>
              </a:pPr>
              <a:r>
                <a:rPr lang="en-US" sz="987" b="1" dirty="0">
                  <a:solidFill>
                    <a:srgbClr val="000000"/>
                  </a:solidFill>
                </a:rPr>
                <a:t>Tkinter / PyQt</a:t>
              </a:r>
              <a:endParaRPr lang="en-US" sz="987" dirty="0"/>
            </a:p>
          </p:txBody>
        </p:sp>
        <p:sp>
          <p:nvSpPr>
            <p:cNvPr id="21" name="Text 16"/>
            <p:cNvSpPr/>
            <p:nvPr/>
          </p:nvSpPr>
          <p:spPr>
            <a:xfrm>
              <a:off x="4354336" y="3058535"/>
              <a:ext cx="836405" cy="194667"/>
            </a:xfrm>
            <a:prstGeom prst="rect">
              <a:avLst/>
            </a:prstGeom>
            <a:noFill/>
            <a:ln/>
          </p:spPr>
          <p:txBody>
            <a:bodyPr wrap="none" lIns="0" tIns="0" rIns="0" bIns="0" rtlCol="0" anchor="t">
              <a:spAutoFit/>
            </a:bodyPr>
            <a:lstStyle/>
            <a:p>
              <a:pPr marL="0" indent="0" algn="l">
                <a:lnSpc>
                  <a:spcPts val="1800"/>
                </a:lnSpc>
                <a:buNone/>
              </a:pPr>
              <a:r>
                <a:rPr lang="en-US" sz="1050" dirty="0">
                  <a:solidFill>
                    <a:srgbClr val="000000"/>
                  </a:solidFill>
                </a:rPr>
                <a:t>frameworks</a:t>
              </a:r>
              <a:endParaRPr lang="en-US" sz="1050" dirty="0"/>
            </a:p>
          </p:txBody>
        </p:sp>
        <p:sp>
          <p:nvSpPr>
            <p:cNvPr id="22" name="Shape 17"/>
            <p:cNvSpPr/>
            <p:nvPr/>
          </p:nvSpPr>
          <p:spPr>
            <a:xfrm>
              <a:off x="3286125" y="3532589"/>
              <a:ext cx="57150" cy="57150"/>
            </a:xfrm>
            <a:prstGeom prst="rect">
              <a:avLst/>
            </a:prstGeom>
            <a:solidFill>
              <a:srgbClr val="333333"/>
            </a:solidFill>
            <a:ln/>
          </p:spPr>
        </p:sp>
        <p:sp>
          <p:nvSpPr>
            <p:cNvPr id="23" name="Text 18"/>
            <p:cNvSpPr/>
            <p:nvPr/>
          </p:nvSpPr>
          <p:spPr>
            <a:xfrm>
              <a:off x="3429000" y="3420070"/>
              <a:ext cx="1101589" cy="194667"/>
            </a:xfrm>
            <a:prstGeom prst="rect">
              <a:avLst/>
            </a:prstGeom>
            <a:noFill/>
            <a:ln/>
          </p:spPr>
          <p:txBody>
            <a:bodyPr wrap="none" lIns="0" tIns="0" rIns="0" bIns="0" rtlCol="0" anchor="t">
              <a:spAutoFit/>
            </a:bodyPr>
            <a:lstStyle/>
            <a:p>
              <a:pPr marL="0" indent="0" algn="l">
                <a:lnSpc>
                  <a:spcPts val="1800"/>
                </a:lnSpc>
                <a:buNone/>
              </a:pPr>
              <a:r>
                <a:rPr lang="en-US" sz="987" b="1" dirty="0">
                  <a:solidFill>
                    <a:srgbClr val="000000"/>
                  </a:solidFill>
                </a:rPr>
                <a:t>Native Desktop</a:t>
              </a:r>
              <a:endParaRPr lang="en-US" sz="987" dirty="0"/>
            </a:p>
          </p:txBody>
        </p:sp>
        <p:sp>
          <p:nvSpPr>
            <p:cNvPr id="24" name="Text 19"/>
            <p:cNvSpPr/>
            <p:nvPr/>
          </p:nvSpPr>
          <p:spPr>
            <a:xfrm>
              <a:off x="4354336" y="3380784"/>
              <a:ext cx="900419" cy="194667"/>
            </a:xfrm>
            <a:prstGeom prst="rect">
              <a:avLst/>
            </a:prstGeom>
            <a:noFill/>
            <a:ln/>
          </p:spPr>
          <p:txBody>
            <a:bodyPr wrap="none" lIns="0" tIns="0" rIns="0" bIns="0" rtlCol="0" anchor="t">
              <a:spAutoFit/>
            </a:bodyPr>
            <a:lstStyle/>
            <a:p>
              <a:pPr marL="0" indent="0" algn="l">
                <a:lnSpc>
                  <a:spcPts val="1800"/>
                </a:lnSpc>
                <a:buNone/>
              </a:pPr>
              <a:r>
                <a:rPr lang="en-US" sz="1050" dirty="0">
                  <a:solidFill>
                    <a:srgbClr val="000000"/>
                  </a:solidFill>
                </a:rPr>
                <a:t>environment</a:t>
              </a:r>
              <a:endParaRPr lang="en-US" sz="1050" dirty="0"/>
            </a:p>
          </p:txBody>
        </p:sp>
        <p:sp>
          <p:nvSpPr>
            <p:cNvPr id="25" name="Shape 20"/>
            <p:cNvSpPr/>
            <p:nvPr/>
          </p:nvSpPr>
          <p:spPr>
            <a:xfrm>
              <a:off x="3286125" y="3865963"/>
              <a:ext cx="57150" cy="57150"/>
            </a:xfrm>
            <a:prstGeom prst="rect">
              <a:avLst/>
            </a:prstGeom>
            <a:solidFill>
              <a:srgbClr val="333333"/>
            </a:solidFill>
            <a:ln/>
          </p:spPr>
        </p:sp>
        <p:sp>
          <p:nvSpPr>
            <p:cNvPr id="26" name="Text 21"/>
            <p:cNvSpPr/>
            <p:nvPr/>
          </p:nvSpPr>
          <p:spPr>
            <a:xfrm>
              <a:off x="3429000" y="3762970"/>
              <a:ext cx="885685" cy="194667"/>
            </a:xfrm>
            <a:prstGeom prst="rect">
              <a:avLst/>
            </a:prstGeom>
            <a:noFill/>
            <a:ln/>
          </p:spPr>
          <p:txBody>
            <a:bodyPr wrap="none" lIns="0" tIns="0" rIns="0" bIns="0" rtlCol="0" anchor="t">
              <a:spAutoFit/>
            </a:bodyPr>
            <a:lstStyle/>
            <a:p>
              <a:pPr marL="0" indent="0" algn="l">
                <a:lnSpc>
                  <a:spcPts val="1800"/>
                </a:lnSpc>
                <a:buNone/>
              </a:pPr>
              <a:r>
                <a:rPr lang="en-US" sz="987" b="1" dirty="0">
                  <a:solidFill>
                    <a:srgbClr val="000000"/>
                  </a:solidFill>
                </a:rPr>
                <a:t>Real-time UI</a:t>
              </a:r>
              <a:endParaRPr lang="en-US" sz="987" dirty="0"/>
            </a:p>
          </p:txBody>
        </p:sp>
        <p:sp>
          <p:nvSpPr>
            <p:cNvPr id="27" name="Text 22"/>
            <p:cNvSpPr/>
            <p:nvPr/>
          </p:nvSpPr>
          <p:spPr>
            <a:xfrm>
              <a:off x="4354336" y="3772502"/>
              <a:ext cx="581937" cy="194667"/>
            </a:xfrm>
            <a:prstGeom prst="rect">
              <a:avLst/>
            </a:prstGeom>
            <a:noFill/>
            <a:ln/>
          </p:spPr>
          <p:txBody>
            <a:bodyPr wrap="none" lIns="0" tIns="0" rIns="0" bIns="0" rtlCol="0" anchor="t">
              <a:spAutoFit/>
            </a:bodyPr>
            <a:lstStyle/>
            <a:p>
              <a:pPr marL="0" indent="0" algn="l">
                <a:lnSpc>
                  <a:spcPts val="1800"/>
                </a:lnSpc>
                <a:buNone/>
              </a:pPr>
              <a:r>
                <a:rPr lang="en-US" sz="1050" dirty="0">
                  <a:solidFill>
                    <a:srgbClr val="000000"/>
                  </a:solidFill>
                </a:rPr>
                <a:t>updates</a:t>
              </a:r>
              <a:endParaRPr lang="en-US" sz="1050" dirty="0"/>
            </a:p>
          </p:txBody>
        </p:sp>
      </p:grpSp>
      <p:grpSp>
        <p:nvGrpSpPr>
          <p:cNvPr id="40" name="Group 39"/>
          <p:cNvGrpSpPr/>
          <p:nvPr/>
        </p:nvGrpSpPr>
        <p:grpSpPr>
          <a:xfrm>
            <a:off x="6000750" y="1530548"/>
            <a:ext cx="857250" cy="857250"/>
            <a:chOff x="6000750" y="1530548"/>
            <a:chExt cx="857250" cy="857250"/>
          </a:xfrm>
        </p:grpSpPr>
        <p:sp>
          <p:nvSpPr>
            <p:cNvPr id="28" name="Shape 23"/>
            <p:cNvSpPr/>
            <p:nvPr/>
          </p:nvSpPr>
          <p:spPr>
            <a:xfrm>
              <a:off x="6000750" y="1530548"/>
              <a:ext cx="857250" cy="857250"/>
            </a:xfrm>
            <a:prstGeom prst="rect">
              <a:avLst/>
            </a:prstGeom>
            <a:solidFill>
              <a:srgbClr val="0055FF"/>
            </a:solidFill>
            <a:ln/>
          </p:spPr>
        </p:sp>
        <p:pic>
          <p:nvPicPr>
            <p:cNvPr id="29" name="Image 3" descr="preencoded.png"/>
            <p:cNvPicPr>
              <a:picLocks noChangeAspect="1"/>
            </p:cNvPicPr>
            <p:nvPr/>
          </p:nvPicPr>
          <p:blipFill>
            <a:blip r:embed="rId3"/>
            <a:stretch>
              <a:fillRect/>
            </a:stretch>
          </p:blipFill>
          <p:spPr>
            <a:xfrm>
              <a:off x="6143625" y="1673423"/>
              <a:ext cx="571500" cy="571500"/>
            </a:xfrm>
            <a:prstGeom prst="rect">
              <a:avLst/>
            </a:prstGeom>
          </p:spPr>
        </p:pic>
      </p:grpSp>
      <p:sp>
        <p:nvSpPr>
          <p:cNvPr id="30" name="Text 24"/>
          <p:cNvSpPr/>
          <p:nvPr/>
        </p:nvSpPr>
        <p:spPr>
          <a:xfrm>
            <a:off x="6000750" y="2616398"/>
            <a:ext cx="1611223"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0055FF"/>
                </a:solidFill>
              </a:rPr>
              <a:t>Security Layer</a:t>
            </a:r>
            <a:endParaRPr lang="en-US" sz="1397" dirty="0"/>
          </a:p>
        </p:txBody>
      </p:sp>
      <p:grpSp>
        <p:nvGrpSpPr>
          <p:cNvPr id="44" name="Group 43"/>
          <p:cNvGrpSpPr/>
          <p:nvPr/>
        </p:nvGrpSpPr>
        <p:grpSpPr>
          <a:xfrm>
            <a:off x="5998211" y="3053177"/>
            <a:ext cx="1835832" cy="919754"/>
            <a:chOff x="6000750" y="3037883"/>
            <a:chExt cx="1835832" cy="919754"/>
          </a:xfrm>
        </p:grpSpPr>
        <p:sp>
          <p:nvSpPr>
            <p:cNvPr id="31" name="Shape 25"/>
            <p:cNvSpPr/>
            <p:nvPr/>
          </p:nvSpPr>
          <p:spPr>
            <a:xfrm>
              <a:off x="6000750" y="3175400"/>
              <a:ext cx="57150" cy="57150"/>
            </a:xfrm>
            <a:prstGeom prst="rect">
              <a:avLst/>
            </a:prstGeom>
            <a:solidFill>
              <a:srgbClr val="333333"/>
            </a:solidFill>
            <a:ln/>
          </p:spPr>
        </p:sp>
        <p:sp>
          <p:nvSpPr>
            <p:cNvPr id="32" name="Text 26"/>
            <p:cNvSpPr/>
            <p:nvPr/>
          </p:nvSpPr>
          <p:spPr>
            <a:xfrm>
              <a:off x="6143625" y="3077170"/>
              <a:ext cx="1300609" cy="194667"/>
            </a:xfrm>
            <a:prstGeom prst="rect">
              <a:avLst/>
            </a:prstGeom>
            <a:noFill/>
            <a:ln/>
          </p:spPr>
          <p:txBody>
            <a:bodyPr wrap="none" lIns="0" tIns="0" rIns="0" bIns="0" rtlCol="0" anchor="t">
              <a:spAutoFit/>
            </a:bodyPr>
            <a:lstStyle/>
            <a:p>
              <a:pPr marL="0" indent="0" algn="l">
                <a:lnSpc>
                  <a:spcPts val="1800"/>
                </a:lnSpc>
                <a:buNone/>
              </a:pPr>
              <a:r>
                <a:rPr lang="en-US" sz="987" b="1" dirty="0">
                  <a:solidFill>
                    <a:srgbClr val="000000"/>
                  </a:solidFill>
                </a:rPr>
                <a:t>Process Lockdown</a:t>
              </a:r>
              <a:endParaRPr lang="en-US" sz="987" dirty="0"/>
            </a:p>
          </p:txBody>
        </p:sp>
        <p:sp>
          <p:nvSpPr>
            <p:cNvPr id="33" name="Text 27"/>
            <p:cNvSpPr/>
            <p:nvPr/>
          </p:nvSpPr>
          <p:spPr>
            <a:xfrm>
              <a:off x="7336938" y="3037883"/>
              <a:ext cx="499644" cy="194667"/>
            </a:xfrm>
            <a:prstGeom prst="rect">
              <a:avLst/>
            </a:prstGeom>
            <a:noFill/>
            <a:ln/>
          </p:spPr>
          <p:txBody>
            <a:bodyPr wrap="none" lIns="0" tIns="0" rIns="0" bIns="0" rtlCol="0" anchor="t">
              <a:spAutoFit/>
            </a:bodyPr>
            <a:lstStyle/>
            <a:p>
              <a:pPr marL="0" indent="0" algn="l">
                <a:lnSpc>
                  <a:spcPts val="1800"/>
                </a:lnSpc>
                <a:buNone/>
              </a:pPr>
              <a:r>
                <a:rPr lang="en-US" sz="1050" dirty="0">
                  <a:solidFill>
                    <a:srgbClr val="000000"/>
                  </a:solidFill>
                </a:rPr>
                <a:t>engine</a:t>
              </a:r>
              <a:endParaRPr lang="en-US" sz="1050" dirty="0"/>
            </a:p>
          </p:txBody>
        </p:sp>
        <p:sp>
          <p:nvSpPr>
            <p:cNvPr id="34" name="Shape 28"/>
            <p:cNvSpPr/>
            <p:nvPr/>
          </p:nvSpPr>
          <p:spPr>
            <a:xfrm>
              <a:off x="6000750" y="3518300"/>
              <a:ext cx="57150" cy="57150"/>
            </a:xfrm>
            <a:prstGeom prst="rect">
              <a:avLst/>
            </a:prstGeom>
            <a:solidFill>
              <a:srgbClr val="333333"/>
            </a:solidFill>
            <a:ln/>
          </p:spPr>
        </p:sp>
        <p:sp>
          <p:nvSpPr>
            <p:cNvPr id="35" name="Text 29"/>
            <p:cNvSpPr/>
            <p:nvPr/>
          </p:nvSpPr>
          <p:spPr>
            <a:xfrm>
              <a:off x="6143625" y="3420070"/>
              <a:ext cx="1432908" cy="194667"/>
            </a:xfrm>
            <a:prstGeom prst="rect">
              <a:avLst/>
            </a:prstGeom>
            <a:noFill/>
            <a:ln/>
          </p:spPr>
          <p:txBody>
            <a:bodyPr wrap="none" lIns="0" tIns="0" rIns="0" bIns="0" rtlCol="0" anchor="t">
              <a:spAutoFit/>
            </a:bodyPr>
            <a:lstStyle/>
            <a:p>
              <a:pPr marL="0" indent="0" algn="l">
                <a:lnSpc>
                  <a:spcPts val="1800"/>
                </a:lnSpc>
                <a:buNone/>
              </a:pPr>
              <a:r>
                <a:rPr lang="en-US" sz="987" b="1" dirty="0">
                  <a:solidFill>
                    <a:srgbClr val="000000"/>
                  </a:solidFill>
                </a:rPr>
                <a:t>Registry Monitoring</a:t>
              </a:r>
              <a:endParaRPr lang="en-US" sz="987" dirty="0"/>
            </a:p>
          </p:txBody>
        </p:sp>
        <p:sp>
          <p:nvSpPr>
            <p:cNvPr id="36" name="Shape 30"/>
            <p:cNvSpPr/>
            <p:nvPr/>
          </p:nvSpPr>
          <p:spPr>
            <a:xfrm>
              <a:off x="6000750" y="3861200"/>
              <a:ext cx="57150" cy="57150"/>
            </a:xfrm>
            <a:prstGeom prst="rect">
              <a:avLst/>
            </a:prstGeom>
            <a:solidFill>
              <a:srgbClr val="333333"/>
            </a:solidFill>
            <a:ln/>
          </p:spPr>
        </p:sp>
        <p:sp>
          <p:nvSpPr>
            <p:cNvPr id="37" name="Text 31"/>
            <p:cNvSpPr/>
            <p:nvPr/>
          </p:nvSpPr>
          <p:spPr>
            <a:xfrm>
              <a:off x="6143625" y="3762970"/>
              <a:ext cx="1193313" cy="194667"/>
            </a:xfrm>
            <a:prstGeom prst="rect">
              <a:avLst/>
            </a:prstGeom>
            <a:noFill/>
            <a:ln/>
          </p:spPr>
          <p:txBody>
            <a:bodyPr wrap="none" lIns="0" tIns="0" rIns="0" bIns="0" rtlCol="0" anchor="t">
              <a:spAutoFit/>
            </a:bodyPr>
            <a:lstStyle/>
            <a:p>
              <a:pPr marL="0" indent="0" algn="l">
                <a:lnSpc>
                  <a:spcPts val="1800"/>
                </a:lnSpc>
                <a:buNone/>
              </a:pPr>
              <a:r>
                <a:rPr lang="en-US" sz="987" b="1" dirty="0">
                  <a:solidFill>
                    <a:srgbClr val="000000"/>
                  </a:solidFill>
                </a:rPr>
                <a:t>Token Validation</a:t>
              </a:r>
              <a:endParaRPr lang="en-US" sz="987" dirty="0"/>
            </a:p>
          </p:txBody>
        </p:sp>
      </p:gr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18" name="Rectangle 17"/>
          <p:cNvSpPr/>
          <p:nvPr/>
        </p:nvSpPr>
        <p:spPr>
          <a:xfrm>
            <a:off x="6302380" y="4557721"/>
            <a:ext cx="2308645" cy="369332"/>
          </a:xfrm>
          <a:prstGeom prst="rect">
            <a:avLst/>
          </a:prstGeom>
          <a:noFill/>
        </p:spPr>
        <p:txBody>
          <a:bodyPr wrap="none" lIns="91440" tIns="45720" rIns="91440" bIns="45720">
            <a:spAutoFit/>
          </a:bodyPr>
          <a:lstStyle/>
          <a:p>
            <a:pPr algn="ctr"/>
            <a:r>
              <a:rPr lang="en-US" b="0" cap="none" spc="0" dirty="0" smtClean="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onotype Corsiva" panose="03010101010201010101" pitchFamily="66" charset="0"/>
              </a:rPr>
              <a:t>Team “Double Quotation”</a:t>
            </a:r>
            <a:endParaRPr lang="en-US"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onotype Corsiva" panose="03010101010201010101" pitchFamily="66" charset="0"/>
            </a:endParaRPr>
          </a:p>
        </p:txBody>
      </p:sp>
      <p:sp>
        <p:nvSpPr>
          <p:cNvPr id="2" name="TextBox 1"/>
          <p:cNvSpPr txBox="1"/>
          <p:nvPr/>
        </p:nvSpPr>
        <p:spPr>
          <a:xfrm>
            <a:off x="0" y="1056453"/>
            <a:ext cx="9144000" cy="3046988"/>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US" sz="19200" dirty="0" smtClean="0">
                <a:latin typeface="Gabriola" panose="04040605051002020D02" pitchFamily="82" charset="0"/>
              </a:rPr>
              <a:t>Thank You</a:t>
            </a:r>
            <a:endParaRPr lang="en-US" sz="19200" dirty="0">
              <a:latin typeface="Gabriola" panose="04040605051002020D02" pitchFamily="82"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p15:prstTrans prst="drape"/>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886</Words>
  <Application>Microsoft Office PowerPoint</Application>
  <PresentationFormat>On-screen Show (16:9)</PresentationFormat>
  <Paragraphs>110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Gabriola</vt:lpstr>
      <vt:lpstr>Monotype Corsiva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IT's  RZB</cp:lastModifiedBy>
  <cp:revision>46</cp:revision>
  <dcterms:created xsi:type="dcterms:W3CDTF">2026-02-03T17:03:33Z</dcterms:created>
  <dcterms:modified xsi:type="dcterms:W3CDTF">2026-02-07T15:30:47Z</dcterms:modified>
</cp:coreProperties>
</file>