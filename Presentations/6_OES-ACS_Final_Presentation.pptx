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6" r:id="rId2"/>
    <p:sldId id="269" r:id="rId3"/>
    <p:sldId id="257" r:id="rId4"/>
    <p:sldId id="258" r:id="rId5"/>
    <p:sldId id="259" r:id="rId6"/>
    <p:sldId id="260" r:id="rId7"/>
    <p:sldId id="261" r:id="rId8"/>
    <p:sldId id="262" r:id="rId9"/>
    <p:sldId id="263" r:id="rId10"/>
    <p:sldId id="264" r:id="rId11"/>
    <p:sldId id="265"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239" autoAdjust="0"/>
  </p:normalViewPr>
  <p:slideViewPr>
    <p:cSldViewPr snapToGrid="0" snapToObjects="1">
      <p:cViewPr varScale="1">
        <p:scale>
          <a:sx n="83" d="100"/>
          <a:sy n="83" d="100"/>
        </p:scale>
        <p:origin x="102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9392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Hello everyone,</a:t>
            </a:r>
            <a:br>
              <a:rPr lang="en-US" sz="2000" dirty="0" smtClean="0"/>
            </a:br>
            <a:r>
              <a:rPr lang="en-US" sz="2000" dirty="0" smtClean="0"/>
              <a:t>We are Team “Double Quotation”, </a:t>
            </a:r>
            <a:br>
              <a:rPr lang="en-US" sz="2000" dirty="0" smtClean="0"/>
            </a:br>
            <a:r>
              <a:rPr lang="en-US" sz="2000" dirty="0" smtClean="0"/>
              <a:t>Today, we are presenting our project:</a:t>
            </a:r>
            <a:br>
              <a:rPr lang="en-US" sz="2000" dirty="0" smtClean="0"/>
            </a:br>
            <a:r>
              <a:rPr lang="en-US" sz="2000" i="1" dirty="0" smtClean="0"/>
              <a:t>Online Exam Simulator with Anti-Cheat System</a:t>
            </a:r>
            <a:r>
              <a:rPr lang="en-US" sz="2000" dirty="0" smtClean="0"/>
              <a:t>.</a:t>
            </a:r>
            <a:br>
              <a:rPr lang="en-US" sz="2000" dirty="0" smtClean="0"/>
            </a:br>
            <a:r>
              <a:rPr lang="en-US" sz="2000" dirty="0" smtClean="0"/>
              <a:t>Our goal is to ensure fairness and integrity in digital examinations.</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801938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Let me quickly introduce our team. We are five members who worked together on this project — Razab Ali, Polash Ali, Raja Hossein, Sanjida Emros, and Shakibul Hasan. Each of us contributed to building this secure and reliable exam platform.</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598828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So, what is OES-ACS? Simply put, it is a </a:t>
            </a:r>
            <a:r>
              <a:rPr lang="en-US" b="1" dirty="0" smtClean="0"/>
              <a:t>desktop application</a:t>
            </a:r>
            <a:r>
              <a:rPr lang="en-US" dirty="0" smtClean="0"/>
              <a:t> that creates a fully controlled exam environment. Unlike browser-based systems, this platform makes it much harder for students to cheat. Our main goal was to combine digital convenience with strong academic integrity.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Why did we build this? Because current online exam tools have serious problems. Students can easily switch tabs, use other apps, or lose connection. We needed a solution that is </a:t>
            </a:r>
            <a:r>
              <a:rPr lang="en-US" b="1" dirty="0" smtClean="0"/>
              <a:t>secure, stable, and fair</a:t>
            </a:r>
            <a:r>
              <a:rPr lang="en-US" dirty="0" smtClean="0"/>
              <a:t> — for both students and teachers. That is exactly what OES-ACS delivers.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Our system has four major features. First, the </a:t>
            </a:r>
            <a:r>
              <a:rPr lang="en-US" b="1" dirty="0" smtClean="0"/>
              <a:t>Anti-Cheat Engine</a:t>
            </a:r>
            <a:r>
              <a:rPr lang="en-US" dirty="0" smtClean="0"/>
              <a:t> — it locks the screen and blocks shortcuts like Alt+Tab. Second, </a:t>
            </a:r>
            <a:r>
              <a:rPr lang="en-US" b="1" dirty="0" smtClean="0"/>
              <a:t>Role-Based Access</a:t>
            </a:r>
            <a:r>
              <a:rPr lang="en-US" dirty="0" smtClean="0"/>
              <a:t> — separate logins for teachers and students. Third, </a:t>
            </a:r>
            <a:r>
              <a:rPr lang="en-US" b="1" dirty="0" smtClean="0"/>
              <a:t>Dynamic Management</a:t>
            </a:r>
            <a:r>
              <a:rPr lang="en-US" dirty="0" smtClean="0"/>
              <a:t> — teachers can create exams, set timers, and manage questions easily. Fourth, </a:t>
            </a:r>
            <a:r>
              <a:rPr lang="en-US" b="1" dirty="0" smtClean="0"/>
              <a:t>Automated Evaluation</a:t>
            </a:r>
            <a:r>
              <a:rPr lang="en-US" dirty="0" smtClean="0"/>
              <a:t> — the system instantly grades MCQs and generates reports.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We followed the </a:t>
            </a:r>
            <a:r>
              <a:rPr lang="en-US" b="1" dirty="0" smtClean="0"/>
              <a:t>Incremental Development Model</a:t>
            </a:r>
            <a:r>
              <a:rPr lang="en-US" dirty="0" smtClean="0"/>
              <a:t>. This means we built the system step by step — starting with the core exam engine, then adding security features, then testing and fixing, and finally polishing for deployment. This approach let us catch and fix problems early before they became big issues.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For the technical side, we used </a:t>
            </a:r>
            <a:r>
              <a:rPr lang="en-US" b="1" dirty="0" smtClean="0"/>
              <a:t>Python Tkinter</a:t>
            </a:r>
            <a:r>
              <a:rPr lang="en-US" dirty="0" smtClean="0"/>
              <a:t> for the user interface. The database runs on </a:t>
            </a:r>
            <a:r>
              <a:rPr lang="en-US" b="1" dirty="0" smtClean="0"/>
              <a:t>SQLite3</a:t>
            </a:r>
            <a:r>
              <a:rPr lang="en-US" dirty="0" smtClean="0"/>
              <a:t>, which stores all exam data locally. For security, we used the </a:t>
            </a:r>
            <a:r>
              <a:rPr lang="en-US" b="1" dirty="0" smtClean="0"/>
              <a:t>Win32 API</a:t>
            </a:r>
            <a:r>
              <a:rPr lang="en-US" dirty="0" smtClean="0"/>
              <a:t> to monitor focus and </a:t>
            </a:r>
            <a:r>
              <a:rPr lang="en-US" b="1" dirty="0" smtClean="0"/>
              <a:t>Hashlib</a:t>
            </a:r>
            <a:r>
              <a:rPr lang="en-US" dirty="0" smtClean="0"/>
              <a:t> for password protection with SHA-256 hashing. We also used the </a:t>
            </a:r>
            <a:r>
              <a:rPr lang="en-US" b="1" dirty="0" smtClean="0"/>
              <a:t>Keyboard Library</a:t>
            </a:r>
            <a:r>
              <a:rPr lang="en-US" dirty="0" smtClean="0"/>
              <a:t> to block system shortcuts. Our code is publicly available on GitHub.</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Let me walk you through the system. When a user opens the app, they see a </a:t>
            </a:r>
            <a:r>
              <a:rPr lang="en-US" b="1" dirty="0" smtClean="0"/>
              <a:t>login screen</a:t>
            </a:r>
            <a:r>
              <a:rPr lang="en-US" dirty="0" smtClean="0"/>
              <a:t> where they choose their role — student or teacher. Teachers get a dashboard to create and manage exams. Students enter a </a:t>
            </a:r>
            <a:r>
              <a:rPr lang="en-US" b="1" dirty="0" smtClean="0"/>
              <a:t>full-screen locked environment</a:t>
            </a:r>
            <a:r>
              <a:rPr lang="en-US" dirty="0" smtClean="0"/>
              <a:t> where all other apps and shortcuts are disabled. Teachers can also monitor students live and see any violation alerts in real time.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We took testing very seriously. We did </a:t>
            </a:r>
            <a:r>
              <a:rPr lang="en-US" b="1" dirty="0" smtClean="0"/>
              <a:t>unit testing</a:t>
            </a:r>
            <a:r>
              <a:rPr lang="en-US" dirty="0" smtClean="0"/>
              <a:t> on individual features like login and password hashing. We did </a:t>
            </a:r>
            <a:r>
              <a:rPr lang="en-US" b="1" dirty="0" smtClean="0"/>
              <a:t>integration testing</a:t>
            </a:r>
            <a:r>
              <a:rPr lang="en-US" dirty="0" smtClean="0"/>
              <a:t> to make sure the exam system and database work together smoothly. We also did </a:t>
            </a:r>
            <a:r>
              <a:rPr lang="en-US" b="1" dirty="0" smtClean="0"/>
              <a:t>security testing</a:t>
            </a:r>
            <a:r>
              <a:rPr lang="en-US" dirty="0" smtClean="0"/>
              <a:t> to find and close any loopholes in the anti-cheat system. In fact, we discovered and fixed a critical bug where students were able to bypass the full-screen lock — that was a major win for 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Our key contributions are a </a:t>
            </a:r>
            <a:r>
              <a:rPr lang="en-US" b="1" dirty="0" smtClean="0"/>
              <a:t>secure proctoring system</a:t>
            </a:r>
            <a:r>
              <a:rPr lang="en-US" dirty="0" smtClean="0"/>
              <a:t>, automated grading, and violation logging. However, we do have limitations — currently it only works on </a:t>
            </a:r>
            <a:r>
              <a:rPr lang="en-US" b="1" dirty="0" smtClean="0"/>
              <a:t>Windows</a:t>
            </a:r>
            <a:r>
              <a:rPr lang="en-US" dirty="0" smtClean="0"/>
              <a:t>, and the database is not ideal for very large numbers of students. In the future, we plan to add </a:t>
            </a:r>
            <a:r>
              <a:rPr lang="en-US" b="1" dirty="0" smtClean="0"/>
              <a:t>AI-based proctoring</a:t>
            </a:r>
            <a:r>
              <a:rPr lang="en-US" dirty="0" smtClean="0"/>
              <a:t>, facial recognition, support for macOS and Linux, and move to a cloud-based backend for scalability.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During development, we faced two major problems. First, our anti-cheat system wasn't blocking shortcuts properly — students could freely switch windows. Second, the UI looked different across screen sizes. We solved the first problem using </a:t>
            </a:r>
            <a:r>
              <a:rPr lang="en-US" b="1" dirty="0" smtClean="0"/>
              <a:t>low-level Win32 API hooks</a:t>
            </a:r>
            <a:r>
              <a:rPr lang="en-US" dirty="0" smtClean="0"/>
              <a:t>, and the second by switching to a </a:t>
            </a:r>
            <a:r>
              <a:rPr lang="en-US" b="1" dirty="0" smtClean="0"/>
              <a:t>dynamic grid layout</a:t>
            </a:r>
            <a:r>
              <a:rPr lang="en-US" dirty="0" smtClean="0"/>
              <a:t>. These challenges taught us that security is not something you set once — it needs continuous testing and improvement.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smtClean="0"/>
              <a:t>And that brings us to the end of our presentation. Thank you all for your attention. OES-ACS is our step toward making digital exams more fair, secure, and trustworthy. We are happy to answer any questions you may have.</a:t>
            </a:r>
            <a:endParaRPr lang="en-US" sz="2000"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55676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9236"/>
            <a:ext cx="9144000" cy="5143500"/>
          </a:xfrm>
          <a:prstGeom prst="rect">
            <a:avLst/>
          </a:prstGeom>
        </p:spPr>
      </p:pic>
      <p:sp>
        <p:nvSpPr>
          <p:cNvPr id="3" name="Text 0"/>
          <p:cNvSpPr/>
          <p:nvPr/>
        </p:nvSpPr>
        <p:spPr>
          <a:xfrm>
            <a:off x="571500" y="1564677"/>
            <a:ext cx="4914900" cy="1538883"/>
          </a:xfrm>
          <a:prstGeom prst="rect">
            <a:avLst/>
          </a:prstGeom>
          <a:noFill/>
          <a:ln/>
        </p:spPr>
        <p:txBody>
          <a:bodyPr wrap="square" lIns="0" tIns="0" rIns="0" bIns="0" rtlCol="0" anchor="t">
            <a:spAutoFit/>
          </a:bodyPr>
          <a:lstStyle/>
          <a:p>
            <a:pPr marL="0" indent="0" algn="l">
              <a:lnSpc>
                <a:spcPts val="4000"/>
              </a:lnSpc>
              <a:buNone/>
            </a:pPr>
            <a:r>
              <a:rPr lang="en-US" sz="3294" b="1" dirty="0" smtClean="0">
                <a:solidFill>
                  <a:srgbClr val="000000"/>
                </a:solidFill>
              </a:rPr>
              <a:t>Online Exam</a:t>
            </a:r>
          </a:p>
          <a:p>
            <a:pPr marL="0" indent="0" algn="l">
              <a:lnSpc>
                <a:spcPts val="4000"/>
              </a:lnSpc>
              <a:buNone/>
            </a:pPr>
            <a:r>
              <a:rPr lang="en-US" sz="3294" b="1" dirty="0" smtClean="0">
                <a:solidFill>
                  <a:srgbClr val="000000"/>
                </a:solidFill>
              </a:rPr>
              <a:t>Simulator </a:t>
            </a:r>
            <a:r>
              <a:rPr lang="en-US" b="1" dirty="0" smtClean="0">
                <a:solidFill>
                  <a:schemeClr val="bg1">
                    <a:lumMod val="50000"/>
                  </a:schemeClr>
                </a:solidFill>
              </a:rPr>
              <a:t>with</a:t>
            </a:r>
            <a:r>
              <a:rPr lang="en-US" sz="3294" b="1" dirty="0">
                <a:solidFill>
                  <a:srgbClr val="000000"/>
                </a:solidFill>
              </a:rPr>
              <a:t>
</a:t>
            </a:r>
            <a:r>
              <a:rPr lang="en-US" sz="3294" b="1" dirty="0" smtClean="0">
                <a:solidFill>
                  <a:srgbClr val="0055FF"/>
                </a:solidFill>
              </a:rPr>
              <a:t>Anti-Cheat System</a:t>
            </a:r>
            <a:endParaRPr lang="en-US" sz="3294" dirty="0"/>
          </a:p>
        </p:txBody>
      </p:sp>
      <p:sp>
        <p:nvSpPr>
          <p:cNvPr id="4" name="Text 1"/>
          <p:cNvSpPr/>
          <p:nvPr/>
        </p:nvSpPr>
        <p:spPr>
          <a:xfrm>
            <a:off x="571500" y="3244853"/>
            <a:ext cx="4914900" cy="265714"/>
          </a:xfrm>
          <a:prstGeom prst="rect">
            <a:avLst/>
          </a:prstGeom>
          <a:noFill/>
          <a:ln/>
        </p:spPr>
        <p:txBody>
          <a:bodyPr wrap="square" lIns="0" tIns="0" rIns="0" bIns="0" rtlCol="0" anchor="t">
            <a:spAutoFit/>
          </a:bodyPr>
          <a:lstStyle/>
          <a:p>
            <a:pPr marL="0" indent="0" algn="l">
              <a:lnSpc>
                <a:spcPts val="2200"/>
              </a:lnSpc>
              <a:buNone/>
            </a:pPr>
            <a:r>
              <a:rPr lang="en-US" sz="1600" dirty="0">
                <a:solidFill>
                  <a:srgbClr val="333333"/>
                </a:solidFill>
              </a:rPr>
              <a:t>Empowering Academic Integrity Through Innovation</a:t>
            </a:r>
            <a:endParaRPr lang="en-US" sz="1600" dirty="0"/>
          </a:p>
        </p:txBody>
      </p:sp>
      <p:sp>
        <p:nvSpPr>
          <p:cNvPr id="5" name="Text 2"/>
          <p:cNvSpPr/>
          <p:nvPr/>
        </p:nvSpPr>
        <p:spPr>
          <a:xfrm>
            <a:off x="571500" y="4298556"/>
            <a:ext cx="4914900" cy="194667"/>
          </a:xfrm>
          <a:prstGeom prst="rect">
            <a:avLst/>
          </a:prstGeom>
          <a:noFill/>
          <a:ln/>
        </p:spPr>
        <p:txBody>
          <a:bodyPr wrap="none" lIns="0" tIns="0" rIns="0" bIns="0" rtlCol="0" anchor="t">
            <a:spAutoFit/>
          </a:bodyPr>
          <a:lstStyle/>
          <a:p>
            <a:pPr marL="0" indent="0" algn="l">
              <a:lnSpc>
                <a:spcPts val="1400"/>
              </a:lnSpc>
              <a:buNone/>
            </a:pPr>
            <a:r>
              <a:rPr lang="en-US" sz="987" b="1" kern="0" spc="2" dirty="0">
                <a:solidFill>
                  <a:srgbClr val="0055FF"/>
                </a:solidFill>
              </a:rPr>
              <a:t>Team "Double Quotation"</a:t>
            </a:r>
            <a:endParaRPr lang="en-US" sz="987" dirty="0"/>
          </a:p>
        </p:txBody>
      </p:sp>
      <p:sp>
        <p:nvSpPr>
          <p:cNvPr id="10" name="Shape 10"/>
          <p:cNvSpPr/>
          <p:nvPr/>
        </p:nvSpPr>
        <p:spPr>
          <a:xfrm>
            <a:off x="5943600" y="0"/>
            <a:ext cx="3200400" cy="5143500"/>
          </a:xfrm>
          <a:prstGeom prst="rect">
            <a:avLst/>
          </a:prstGeom>
          <a:solidFill>
            <a:srgbClr val="333333"/>
          </a:solidFill>
          <a:ln/>
        </p:spPr>
        <p:txBody>
          <a:bodyPr/>
          <a:lstStyle/>
          <a:p>
            <a:endParaRPr lang="en-US" dirty="0"/>
          </a:p>
        </p:txBody>
      </p:sp>
      <p:pic>
        <p:nvPicPr>
          <p:cNvPr id="12" name="Picture 11" descr="Anti cheat lock symbol stock vector. Illustration of fraud - 269368898"/>
          <p:cNvPicPr>
            <a:picLocks noChangeAspect="1"/>
          </p:cNvPicPr>
          <p:nvPr/>
        </p:nvPicPr>
        <p:blipFill rotWithShape="1">
          <a:blip r:embed="rId4">
            <a:extLst>
              <a:ext uri="{28A0092B-C50C-407E-A947-70E740481C1C}">
                <a14:useLocalDpi xmlns:a14="http://schemas.microsoft.com/office/drawing/2010/main" val="0"/>
              </a:ext>
            </a:extLst>
          </a:blip>
          <a:srcRect l="21759" t="3153" r="22592" b="3513"/>
          <a:stretch/>
        </p:blipFill>
        <p:spPr>
          <a:xfrm>
            <a:off x="6112669" y="171450"/>
            <a:ext cx="2862262" cy="4800600"/>
          </a:xfrm>
          <a:prstGeom prst="rect">
            <a:avLst/>
          </a:prstGeom>
        </p:spPr>
      </p:pic>
      <p:sp>
        <p:nvSpPr>
          <p:cNvPr id="7" name="TextBox 6"/>
          <p:cNvSpPr txBox="1"/>
          <p:nvPr/>
        </p:nvSpPr>
        <p:spPr>
          <a:xfrm>
            <a:off x="7565989" y="4675227"/>
            <a:ext cx="1662546" cy="369332"/>
          </a:xfrm>
          <a:prstGeom prst="rect">
            <a:avLst/>
          </a:prstGeom>
          <a:noFill/>
        </p:spPr>
        <p:txBody>
          <a:bodyPr wrap="square" rtlCol="0">
            <a:spAutoFit/>
          </a:bodyPr>
          <a:lstStyle/>
          <a:p>
            <a:r>
              <a:rPr lang="en-US" dirty="0" smtClean="0"/>
              <a:t>Team No: 08</a:t>
            </a:r>
            <a:endParaRPr lang="en-US" dirty="0"/>
          </a:p>
        </p:txBody>
      </p:sp>
    </p:spTree>
    <p:extLst>
      <p:ext uri="{BB962C8B-B14F-4D97-AF65-F5344CB8AC3E}">
        <p14:creationId xmlns:p14="http://schemas.microsoft.com/office/powerpoint/2010/main" val="1994268705"/>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chemeClr val="accent5">
              <a:lumMod val="50000"/>
            </a:schemeClr>
          </a:solidFill>
          <a:ln w="12700">
            <a:noFill/>
            <a:prstDash val="solid"/>
          </a:ln>
        </p:spPr>
      </p:sp>
      <p:sp>
        <p:nvSpPr>
          <p:cNvPr id="4" name="Text 2"/>
          <p:cNvSpPr/>
          <p:nvPr/>
        </p:nvSpPr>
        <p:spPr>
          <a:xfrm>
            <a:off x="365760" y="0"/>
            <a:ext cx="8229600" cy="731520"/>
          </a:xfrm>
          <a:prstGeom prst="rect">
            <a:avLst/>
          </a:prstGeom>
          <a:noFill/>
          <a:ln/>
        </p:spPr>
        <p:txBody>
          <a:bodyPr wrap="square" lIns="0" tIns="0" rIns="0" bIns="0" rtlCol="0" anchor="ctr"/>
          <a:lstStyle/>
          <a:p>
            <a:pPr marL="0" indent="0" algn="ctr">
              <a:buNone/>
            </a:pPr>
            <a:r>
              <a:rPr lang="en-US" sz="1400" b="1" kern="0" spc="400" dirty="0">
                <a:solidFill>
                  <a:schemeClr val="bg1"/>
                </a:solidFill>
              </a:rPr>
              <a:t>MEET THE MINDS  —  TEAM DOUBLE QUOTATION</a:t>
            </a:r>
            <a:endParaRPr lang="en-US" sz="1400" dirty="0">
              <a:solidFill>
                <a:schemeClr val="bg1"/>
              </a:solidFill>
            </a:endParaRPr>
          </a:p>
        </p:txBody>
      </p:sp>
      <p:sp>
        <p:nvSpPr>
          <p:cNvPr id="5" name="Shape 3"/>
          <p:cNvSpPr/>
          <p:nvPr/>
        </p:nvSpPr>
        <p:spPr>
          <a:xfrm>
            <a:off x="0" y="4910328"/>
            <a:ext cx="9144000" cy="233172"/>
          </a:xfrm>
          <a:prstGeom prst="rect">
            <a:avLst/>
          </a:prstGeom>
          <a:solidFill>
            <a:schemeClr val="accent5">
              <a:lumMod val="50000"/>
            </a:schemeClr>
          </a:solidFill>
          <a:ln w="12700">
            <a:solidFill>
              <a:srgbClr val="1B2A4A"/>
            </a:solidFill>
            <a:prstDash val="solid"/>
          </a:ln>
        </p:spPr>
      </p:sp>
      <p:sp>
        <p:nvSpPr>
          <p:cNvPr id="6" name="Text 4"/>
          <p:cNvSpPr/>
          <p:nvPr/>
        </p:nvSpPr>
        <p:spPr>
          <a:xfrm>
            <a:off x="365760" y="4910328"/>
            <a:ext cx="8412480" cy="233172"/>
          </a:xfrm>
          <a:prstGeom prst="rect">
            <a:avLst/>
          </a:prstGeom>
          <a:noFill/>
          <a:ln/>
        </p:spPr>
        <p:txBody>
          <a:bodyPr wrap="square" lIns="0" tIns="0" rIns="0" bIns="0" rtlCol="0" anchor="ctr"/>
          <a:lstStyle/>
          <a:p>
            <a:pPr marL="0" indent="0">
              <a:buNone/>
            </a:pPr>
            <a:r>
              <a:rPr lang="en-US" sz="900" dirty="0">
                <a:solidFill>
                  <a:srgbClr val="94A3B8"/>
                </a:solidFill>
              </a:rPr>
              <a:t>OES-ACS  |  Testing Stage  |  Team Double Quotation</a:t>
            </a:r>
            <a:endParaRPr lang="en-US" sz="900" dirty="0"/>
          </a:p>
        </p:txBody>
      </p:sp>
      <p:sp>
        <p:nvSpPr>
          <p:cNvPr id="7" name="Text 5"/>
          <p:cNvSpPr/>
          <p:nvPr/>
        </p:nvSpPr>
        <p:spPr>
          <a:xfrm>
            <a:off x="457200" y="914400"/>
            <a:ext cx="8229600" cy="594360"/>
          </a:xfrm>
          <a:prstGeom prst="rect">
            <a:avLst/>
          </a:prstGeom>
          <a:noFill/>
          <a:ln/>
        </p:spPr>
        <p:txBody>
          <a:bodyPr wrap="square" rtlCol="0" anchor="ctr"/>
          <a:lstStyle/>
          <a:p>
            <a:pPr marL="0" indent="0" algn="ctr">
              <a:buNone/>
            </a:pPr>
            <a:r>
              <a:rPr lang="en-US" sz="2800" b="1" dirty="0">
                <a:solidFill>
                  <a:srgbClr val="1B2A4A"/>
                </a:solidFill>
                <a:latin typeface="Calibri" pitchFamily="34" charset="0"/>
                <a:ea typeface="Calibri" pitchFamily="34" charset="-122"/>
                <a:cs typeface="Calibri" pitchFamily="34" charset="-120"/>
              </a:rPr>
              <a:t>Doubble Quotation</a:t>
            </a:r>
            <a:endParaRPr lang="en-US" sz="2800" dirty="0"/>
          </a:p>
        </p:txBody>
      </p:sp>
      <p:sp>
        <p:nvSpPr>
          <p:cNvPr id="8" name="Text 6"/>
          <p:cNvSpPr/>
          <p:nvPr/>
        </p:nvSpPr>
        <p:spPr>
          <a:xfrm>
            <a:off x="731520" y="1508760"/>
            <a:ext cx="7680960" cy="411480"/>
          </a:xfrm>
          <a:prstGeom prst="rect">
            <a:avLst/>
          </a:prstGeom>
          <a:noFill/>
          <a:ln/>
        </p:spPr>
        <p:txBody>
          <a:bodyPr wrap="square" rtlCol="0" anchor="ctr"/>
          <a:lstStyle/>
          <a:p>
            <a:pPr marL="0" indent="0" algn="ctr">
              <a:buNone/>
            </a:pPr>
            <a:r>
              <a:rPr lang="en-US" sz="1200" i="1" dirty="0">
                <a:solidFill>
                  <a:srgbClr val="475569"/>
                </a:solidFill>
              </a:rPr>
              <a:t>Dedicated to building secure, reliable, and high-performance academic assessment solutions.</a:t>
            </a:r>
            <a:endParaRPr lang="en-US" sz="1200" dirty="0"/>
          </a:p>
        </p:txBody>
      </p:sp>
      <p:sp>
        <p:nvSpPr>
          <p:cNvPr id="9" name="Shape 7"/>
          <p:cNvSpPr/>
          <p:nvPr/>
        </p:nvSpPr>
        <p:spPr>
          <a:xfrm>
            <a:off x="365760" y="2057400"/>
            <a:ext cx="2651760" cy="10515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0" name="Shape 8"/>
          <p:cNvSpPr/>
          <p:nvPr/>
        </p:nvSpPr>
        <p:spPr>
          <a:xfrm>
            <a:off x="365760" y="2057400"/>
            <a:ext cx="109728" cy="1051560"/>
          </a:xfrm>
          <a:prstGeom prst="rect">
            <a:avLst/>
          </a:prstGeom>
          <a:solidFill>
            <a:srgbClr val="0D9488"/>
          </a:solidFill>
          <a:ln w="12700">
            <a:solidFill>
              <a:srgbClr val="0D9488"/>
            </a:solidFill>
            <a:prstDash val="solid"/>
          </a:ln>
        </p:spPr>
      </p:sp>
      <p:sp>
        <p:nvSpPr>
          <p:cNvPr id="11" name="Text 9"/>
          <p:cNvSpPr/>
          <p:nvPr/>
        </p:nvSpPr>
        <p:spPr>
          <a:xfrm>
            <a:off x="566928" y="2221992"/>
            <a:ext cx="2377440" cy="38404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Md. Razab Ali</a:t>
            </a:r>
            <a:endParaRPr lang="en-US" sz="1300" dirty="0"/>
          </a:p>
        </p:txBody>
      </p:sp>
      <p:sp>
        <p:nvSpPr>
          <p:cNvPr id="12" name="Text 10"/>
          <p:cNvSpPr/>
          <p:nvPr/>
        </p:nvSpPr>
        <p:spPr>
          <a:xfrm>
            <a:off x="566928" y="2606040"/>
            <a:ext cx="2377440" cy="320040"/>
          </a:xfrm>
          <a:prstGeom prst="rect">
            <a:avLst/>
          </a:prstGeom>
          <a:noFill/>
          <a:ln/>
        </p:spPr>
        <p:txBody>
          <a:bodyPr wrap="square" lIns="0" tIns="0" rIns="0" bIns="0" rtlCol="0" anchor="ctr"/>
          <a:lstStyle/>
          <a:p>
            <a:pPr marL="0" indent="0">
              <a:buNone/>
            </a:pPr>
            <a:r>
              <a:rPr lang="en-US" sz="1050" dirty="0">
                <a:solidFill>
                  <a:srgbClr val="475569"/>
                </a:solidFill>
              </a:rPr>
              <a:t>0712340012101011</a:t>
            </a:r>
            <a:endParaRPr lang="en-US" sz="1050" dirty="0"/>
          </a:p>
        </p:txBody>
      </p:sp>
      <p:sp>
        <p:nvSpPr>
          <p:cNvPr id="13" name="Shape 11"/>
          <p:cNvSpPr/>
          <p:nvPr/>
        </p:nvSpPr>
        <p:spPr>
          <a:xfrm>
            <a:off x="3566160" y="2057400"/>
            <a:ext cx="2651760" cy="10515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4" name="Shape 12"/>
          <p:cNvSpPr/>
          <p:nvPr/>
        </p:nvSpPr>
        <p:spPr>
          <a:xfrm>
            <a:off x="3566160" y="2057400"/>
            <a:ext cx="109728" cy="1051560"/>
          </a:xfrm>
          <a:prstGeom prst="rect">
            <a:avLst/>
          </a:prstGeom>
          <a:solidFill>
            <a:srgbClr val="14B8A6"/>
          </a:solidFill>
          <a:ln w="12700">
            <a:solidFill>
              <a:srgbClr val="14B8A6"/>
            </a:solidFill>
            <a:prstDash val="solid"/>
          </a:ln>
        </p:spPr>
      </p:sp>
      <p:sp>
        <p:nvSpPr>
          <p:cNvPr id="15" name="Text 13"/>
          <p:cNvSpPr/>
          <p:nvPr/>
        </p:nvSpPr>
        <p:spPr>
          <a:xfrm>
            <a:off x="3767328" y="2221992"/>
            <a:ext cx="2377440" cy="38404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Md. Polash Ali</a:t>
            </a:r>
            <a:endParaRPr lang="en-US" sz="1300" dirty="0"/>
          </a:p>
        </p:txBody>
      </p:sp>
      <p:sp>
        <p:nvSpPr>
          <p:cNvPr id="16" name="Text 14"/>
          <p:cNvSpPr/>
          <p:nvPr/>
        </p:nvSpPr>
        <p:spPr>
          <a:xfrm>
            <a:off x="3767328" y="2606040"/>
            <a:ext cx="2377440" cy="320040"/>
          </a:xfrm>
          <a:prstGeom prst="rect">
            <a:avLst/>
          </a:prstGeom>
          <a:noFill/>
          <a:ln/>
        </p:spPr>
        <p:txBody>
          <a:bodyPr wrap="square" lIns="0" tIns="0" rIns="0" bIns="0" rtlCol="0" anchor="ctr"/>
          <a:lstStyle/>
          <a:p>
            <a:pPr marL="0" indent="0">
              <a:buNone/>
            </a:pPr>
            <a:r>
              <a:rPr lang="en-US" sz="1050" dirty="0">
                <a:solidFill>
                  <a:srgbClr val="475569"/>
                </a:solidFill>
              </a:rPr>
              <a:t>0712340012101045</a:t>
            </a:r>
            <a:endParaRPr lang="en-US" sz="1050" dirty="0"/>
          </a:p>
        </p:txBody>
      </p:sp>
      <p:sp>
        <p:nvSpPr>
          <p:cNvPr id="17" name="Shape 15"/>
          <p:cNvSpPr/>
          <p:nvPr/>
        </p:nvSpPr>
        <p:spPr>
          <a:xfrm>
            <a:off x="6126480" y="2057400"/>
            <a:ext cx="2651760" cy="10515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18" name="Shape 16"/>
          <p:cNvSpPr/>
          <p:nvPr/>
        </p:nvSpPr>
        <p:spPr>
          <a:xfrm>
            <a:off x="6126480" y="2057400"/>
            <a:ext cx="109728" cy="1051560"/>
          </a:xfrm>
          <a:prstGeom prst="rect">
            <a:avLst/>
          </a:prstGeom>
          <a:solidFill>
            <a:srgbClr val="0F766E"/>
          </a:solidFill>
          <a:ln w="12700">
            <a:solidFill>
              <a:srgbClr val="0F766E"/>
            </a:solidFill>
            <a:prstDash val="solid"/>
          </a:ln>
        </p:spPr>
      </p:sp>
      <p:sp>
        <p:nvSpPr>
          <p:cNvPr id="19" name="Text 17"/>
          <p:cNvSpPr/>
          <p:nvPr/>
        </p:nvSpPr>
        <p:spPr>
          <a:xfrm>
            <a:off x="6327648" y="2221992"/>
            <a:ext cx="2377440" cy="38404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Md. Raja Hossein</a:t>
            </a:r>
            <a:endParaRPr lang="en-US" sz="1300" dirty="0"/>
          </a:p>
        </p:txBody>
      </p:sp>
      <p:sp>
        <p:nvSpPr>
          <p:cNvPr id="20" name="Text 18"/>
          <p:cNvSpPr/>
          <p:nvPr/>
        </p:nvSpPr>
        <p:spPr>
          <a:xfrm>
            <a:off x="6327648" y="2606040"/>
            <a:ext cx="2377440" cy="320040"/>
          </a:xfrm>
          <a:prstGeom prst="rect">
            <a:avLst/>
          </a:prstGeom>
          <a:noFill/>
          <a:ln/>
        </p:spPr>
        <p:txBody>
          <a:bodyPr wrap="square" lIns="0" tIns="0" rIns="0" bIns="0" rtlCol="0" anchor="ctr"/>
          <a:lstStyle/>
          <a:p>
            <a:pPr marL="0" indent="0">
              <a:buNone/>
            </a:pPr>
            <a:r>
              <a:rPr lang="en-US" sz="1050" dirty="0">
                <a:solidFill>
                  <a:srgbClr val="475569"/>
                </a:solidFill>
              </a:rPr>
              <a:t>0712340012101046</a:t>
            </a:r>
            <a:endParaRPr lang="en-US" sz="1050" dirty="0"/>
          </a:p>
        </p:txBody>
      </p:sp>
      <p:sp>
        <p:nvSpPr>
          <p:cNvPr id="21" name="Shape 19"/>
          <p:cNvSpPr/>
          <p:nvPr/>
        </p:nvSpPr>
        <p:spPr>
          <a:xfrm>
            <a:off x="365760" y="3337560"/>
            <a:ext cx="2651760" cy="10515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2" name="Shape 20"/>
          <p:cNvSpPr/>
          <p:nvPr/>
        </p:nvSpPr>
        <p:spPr>
          <a:xfrm>
            <a:off x="365760" y="3337560"/>
            <a:ext cx="109728" cy="1051560"/>
          </a:xfrm>
          <a:prstGeom prst="rect">
            <a:avLst/>
          </a:prstGeom>
          <a:solidFill>
            <a:srgbClr val="0D9488"/>
          </a:solidFill>
          <a:ln w="12700">
            <a:solidFill>
              <a:srgbClr val="0D9488"/>
            </a:solidFill>
            <a:prstDash val="solid"/>
          </a:ln>
        </p:spPr>
      </p:sp>
      <p:sp>
        <p:nvSpPr>
          <p:cNvPr id="23" name="Text 21"/>
          <p:cNvSpPr/>
          <p:nvPr/>
        </p:nvSpPr>
        <p:spPr>
          <a:xfrm>
            <a:off x="566928" y="3502152"/>
            <a:ext cx="2377440" cy="38404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Mst. Sanjida Emros</a:t>
            </a:r>
            <a:endParaRPr lang="en-US" sz="1300" dirty="0"/>
          </a:p>
        </p:txBody>
      </p:sp>
      <p:sp>
        <p:nvSpPr>
          <p:cNvPr id="24" name="Text 22"/>
          <p:cNvSpPr/>
          <p:nvPr/>
        </p:nvSpPr>
        <p:spPr>
          <a:xfrm>
            <a:off x="566928" y="3886200"/>
            <a:ext cx="2377440" cy="320040"/>
          </a:xfrm>
          <a:prstGeom prst="rect">
            <a:avLst/>
          </a:prstGeom>
          <a:noFill/>
          <a:ln/>
        </p:spPr>
        <p:txBody>
          <a:bodyPr wrap="square" lIns="0" tIns="0" rIns="0" bIns="0" rtlCol="0" anchor="ctr"/>
          <a:lstStyle/>
          <a:p>
            <a:pPr marL="0" indent="0">
              <a:buNone/>
            </a:pPr>
            <a:r>
              <a:rPr lang="en-US" sz="1050" dirty="0">
                <a:solidFill>
                  <a:srgbClr val="475569"/>
                </a:solidFill>
              </a:rPr>
              <a:t>0712340012101037</a:t>
            </a:r>
            <a:endParaRPr lang="en-US" sz="1050" dirty="0"/>
          </a:p>
        </p:txBody>
      </p:sp>
      <p:sp>
        <p:nvSpPr>
          <p:cNvPr id="25" name="Shape 23"/>
          <p:cNvSpPr/>
          <p:nvPr/>
        </p:nvSpPr>
        <p:spPr>
          <a:xfrm>
            <a:off x="3566160" y="3337560"/>
            <a:ext cx="2651760" cy="1051560"/>
          </a:xfrm>
          <a:prstGeom prst="rect">
            <a:avLst/>
          </a:prstGeom>
          <a:solidFill>
            <a:srgbClr val="FFFFFF"/>
          </a:solidFill>
          <a:ln w="12700">
            <a:solidFill>
              <a:srgbClr val="E2E8F0"/>
            </a:solidFill>
            <a:prstDash val="solid"/>
          </a:ln>
          <a:effectLst>
            <a:outerShdw blurRad="101600" dist="25400" dir="8100000" algn="bl" rotWithShape="0">
              <a:srgbClr val="000000">
                <a:alpha val="8000"/>
              </a:srgbClr>
            </a:outerShdw>
          </a:effectLst>
        </p:spPr>
      </p:sp>
      <p:sp>
        <p:nvSpPr>
          <p:cNvPr id="26" name="Shape 24"/>
          <p:cNvSpPr/>
          <p:nvPr/>
        </p:nvSpPr>
        <p:spPr>
          <a:xfrm>
            <a:off x="3566160" y="3337560"/>
            <a:ext cx="109728" cy="1051560"/>
          </a:xfrm>
          <a:prstGeom prst="rect">
            <a:avLst/>
          </a:prstGeom>
          <a:solidFill>
            <a:srgbClr val="14B8A6"/>
          </a:solidFill>
          <a:ln w="12700">
            <a:solidFill>
              <a:srgbClr val="14B8A6"/>
            </a:solidFill>
            <a:prstDash val="solid"/>
          </a:ln>
        </p:spPr>
      </p:sp>
      <p:sp>
        <p:nvSpPr>
          <p:cNvPr id="27" name="Text 25"/>
          <p:cNvSpPr/>
          <p:nvPr/>
        </p:nvSpPr>
        <p:spPr>
          <a:xfrm>
            <a:off x="3767328" y="3502152"/>
            <a:ext cx="2377440" cy="384048"/>
          </a:xfrm>
          <a:prstGeom prst="rect">
            <a:avLst/>
          </a:prstGeom>
          <a:noFill/>
          <a:ln/>
        </p:spPr>
        <p:txBody>
          <a:bodyPr wrap="square" lIns="0" tIns="0" rIns="0" bIns="0"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Md Shakibul Hasan</a:t>
            </a:r>
            <a:endParaRPr lang="en-US" sz="1300" dirty="0"/>
          </a:p>
        </p:txBody>
      </p:sp>
      <p:sp>
        <p:nvSpPr>
          <p:cNvPr id="28" name="Text 26"/>
          <p:cNvSpPr/>
          <p:nvPr/>
        </p:nvSpPr>
        <p:spPr>
          <a:xfrm>
            <a:off x="3767328" y="3886200"/>
            <a:ext cx="2377440" cy="320040"/>
          </a:xfrm>
          <a:prstGeom prst="rect">
            <a:avLst/>
          </a:prstGeom>
          <a:noFill/>
          <a:ln/>
        </p:spPr>
        <p:txBody>
          <a:bodyPr wrap="square" lIns="0" tIns="0" rIns="0" bIns="0" rtlCol="0" anchor="ctr"/>
          <a:lstStyle/>
          <a:p>
            <a:pPr marL="0" indent="0">
              <a:buNone/>
            </a:pPr>
            <a:r>
              <a:rPr lang="en-US" sz="1050" dirty="0">
                <a:solidFill>
                  <a:srgbClr val="475569"/>
                </a:solidFill>
              </a:rPr>
              <a:t>0712340012101028</a:t>
            </a:r>
            <a:endParaRPr lang="en-US" sz="1050" dirty="0"/>
          </a:p>
        </p:txBody>
      </p:sp>
    </p:spTree>
    <p:extLst>
      <p:ext uri="{BB962C8B-B14F-4D97-AF65-F5344CB8AC3E}">
        <p14:creationId xmlns:p14="http://schemas.microsoft.com/office/powerpoint/2010/main" val="271097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4" name="Shape 1"/>
          <p:cNvSpPr/>
          <p:nvPr/>
        </p:nvSpPr>
        <p:spPr>
          <a:xfrm>
            <a:off x="1086" y="713230"/>
            <a:ext cx="57150" cy="701873"/>
          </a:xfrm>
          <a:prstGeom prst="rect">
            <a:avLst/>
          </a:prstGeom>
          <a:solidFill>
            <a:srgbClr val="0070C0"/>
          </a:solidFill>
          <a:ln>
            <a:no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Introduction</a:t>
            </a:r>
            <a:endParaRPr lang="en-US" sz="2450" dirty="0"/>
          </a:p>
        </p:txBody>
      </p:sp>
      <p:sp>
        <p:nvSpPr>
          <p:cNvPr id="6" name="Text 3"/>
          <p:cNvSpPr/>
          <p:nvPr/>
        </p:nvSpPr>
        <p:spPr>
          <a:xfrm>
            <a:off x="571500" y="1241868"/>
            <a:ext cx="8572500" cy="173236"/>
          </a:xfrm>
          <a:prstGeom prst="rect">
            <a:avLst/>
          </a:prstGeom>
          <a:noFill/>
          <a:ln/>
        </p:spPr>
        <p:txBody>
          <a:bodyPr wrap="square" lIns="170053" tIns="0" rIns="0" bIns="0" rtlCol="0" anchor="t">
            <a:spAutoFit/>
          </a:bodyPr>
          <a:lstStyle/>
          <a:p>
            <a:pPr marL="0" indent="0" algn="l">
              <a:buNone/>
            </a:pPr>
            <a:r>
              <a:rPr lang="en-US" sz="1050" kern="0" spc="2" dirty="0">
                <a:solidFill>
                  <a:srgbClr val="2980B9"/>
                </a:solidFill>
                <a:latin typeface="Inter" pitchFamily="34" charset="0"/>
                <a:ea typeface="Inter" pitchFamily="34" charset="-122"/>
                <a:cs typeface="Inter" pitchFamily="34" charset="-120"/>
              </a:rPr>
              <a:t>SYSTEM OVERVIEW &amp; CORE MISSION</a:t>
            </a:r>
            <a:endParaRPr lang="en-US" sz="1050" dirty="0"/>
          </a:p>
        </p:txBody>
      </p:sp>
      <p:sp>
        <p:nvSpPr>
          <p:cNvPr id="7" name="Text 4"/>
          <p:cNvSpPr/>
          <p:nvPr/>
        </p:nvSpPr>
        <p:spPr>
          <a:xfrm>
            <a:off x="714375" y="2050898"/>
            <a:ext cx="3643313" cy="266105"/>
          </a:xfrm>
          <a:prstGeom prst="rect">
            <a:avLst/>
          </a:prstGeom>
          <a:noFill/>
          <a:ln/>
        </p:spPr>
        <p:txBody>
          <a:bodyPr wrap="square" lIns="0" tIns="0" rIns="0" bIns="0" rtlCol="0" anchor="t">
            <a:spAutoFit/>
          </a:bodyPr>
          <a:lstStyle/>
          <a:p>
            <a:pPr marL="0" indent="0" algn="l">
              <a:buNone/>
            </a:pPr>
            <a:r>
              <a:rPr lang="en-US" sz="1500" dirty="0">
                <a:solidFill>
                  <a:srgbClr val="D35400"/>
                </a:solidFill>
                <a:latin typeface="Playfair Display Bold" pitchFamily="34" charset="0"/>
                <a:ea typeface="Playfair Display Bold" pitchFamily="34" charset="-122"/>
                <a:cs typeface="Playfair Display Bold" pitchFamily="34" charset="-120"/>
              </a:rPr>
              <a:t>The OES-ACS Platform</a:t>
            </a:r>
            <a:endParaRPr lang="en-US" sz="1500" dirty="0"/>
          </a:p>
        </p:txBody>
      </p:sp>
      <p:sp>
        <p:nvSpPr>
          <p:cNvPr id="8" name="Text 5"/>
          <p:cNvSpPr/>
          <p:nvPr/>
        </p:nvSpPr>
        <p:spPr>
          <a:xfrm>
            <a:off x="714375" y="2459878"/>
            <a:ext cx="3643313"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Inter Light" pitchFamily="34" charset="0"/>
                <a:ea typeface="Inter Light" pitchFamily="34" charset="-122"/>
                <a:cs typeface="Inter Light" pitchFamily="34" charset="-120"/>
              </a:rPr>
              <a:t>OES-ACS is a robust desktop-based examination software designed to enforce a strictly controlled environment. It bridges the gap between digital convenience and absolute academic integrity.</a:t>
            </a:r>
            <a:endParaRPr lang="en-US" sz="950" dirty="0"/>
          </a:p>
        </p:txBody>
      </p:sp>
      <p:sp>
        <p:nvSpPr>
          <p:cNvPr id="9" name="Text 6"/>
          <p:cNvSpPr/>
          <p:nvPr/>
        </p:nvSpPr>
        <p:spPr>
          <a:xfrm>
            <a:off x="4786313" y="2050898"/>
            <a:ext cx="3643313" cy="266105"/>
          </a:xfrm>
          <a:prstGeom prst="rect">
            <a:avLst/>
          </a:prstGeom>
          <a:noFill/>
          <a:ln/>
        </p:spPr>
        <p:txBody>
          <a:bodyPr wrap="square" lIns="0" tIns="0" rIns="0" bIns="0" rtlCol="0" anchor="t">
            <a:spAutoFit/>
          </a:bodyPr>
          <a:lstStyle/>
          <a:p>
            <a:pPr marL="0" indent="0" algn="l">
              <a:buNone/>
            </a:pPr>
            <a:r>
              <a:rPr lang="en-US" sz="1500" dirty="0">
                <a:solidFill>
                  <a:srgbClr val="D35400"/>
                </a:solidFill>
                <a:latin typeface="Playfair Display Bold" pitchFamily="34" charset="0"/>
                <a:ea typeface="Playfair Display Bold" pitchFamily="34" charset="-122"/>
                <a:cs typeface="Playfair Display Bold" pitchFamily="34" charset="-120"/>
              </a:rPr>
              <a:t>Core Objectives</a:t>
            </a:r>
            <a:endParaRPr lang="en-US" sz="1500" dirty="0"/>
          </a:p>
        </p:txBody>
      </p:sp>
      <p:sp>
        <p:nvSpPr>
          <p:cNvPr id="10" name="Text 7"/>
          <p:cNvSpPr/>
          <p:nvPr/>
        </p:nvSpPr>
        <p:spPr>
          <a:xfrm>
            <a:off x="4786313" y="2459878"/>
            <a:ext cx="3643313" cy="822871"/>
          </a:xfrm>
          <a:prstGeom prst="rect">
            <a:avLst/>
          </a:prstGeom>
          <a:noFill/>
          <a:ln/>
        </p:spPr>
        <p:txBody>
          <a:bodyPr wrap="square" lIns="0" tIns="0" rIns="0" bIns="0" rtlCol="0" anchor="t">
            <a:spAutoFit/>
          </a:bodyPr>
          <a:lstStyle/>
          <a:p>
            <a:pPr marL="0" indent="0" algn="l">
              <a:lnSpc>
                <a:spcPct val="128000"/>
              </a:lnSpc>
              <a:buNone/>
            </a:pPr>
            <a:r>
              <a:rPr lang="en-US" sz="950" dirty="0">
                <a:solidFill>
                  <a:srgbClr val="2C3E50"/>
                </a:solidFill>
                <a:latin typeface="Inter Light" pitchFamily="34" charset="0"/>
                <a:ea typeface="Inter Light" pitchFamily="34" charset="-122"/>
                <a:cs typeface="Inter Light" pitchFamily="34" charset="-120"/>
              </a:rPr>
              <a:t>The platform is engineered to address critical vulnerabilities in traditional browser-based systems, such as unauthorized tab switching, screen recording, and external application access.</a:t>
            </a:r>
            <a:endParaRPr lang="en-US" sz="950" dirty="0"/>
          </a:p>
        </p:txBody>
      </p:sp>
      <p:sp>
        <p:nvSpPr>
          <p:cNvPr id="11" name="Shape 8"/>
          <p:cNvSpPr/>
          <p:nvPr/>
        </p:nvSpPr>
        <p:spPr>
          <a:xfrm>
            <a:off x="714375" y="4122586"/>
            <a:ext cx="7715250" cy="892969"/>
          </a:xfrm>
          <a:prstGeom prst="rect">
            <a:avLst/>
          </a:prstGeom>
          <a:solidFill>
            <a:srgbClr val="F8F9FA"/>
          </a:solidFill>
          <a:ln/>
        </p:spPr>
      </p:sp>
      <p:sp>
        <p:nvSpPr>
          <p:cNvPr id="12" name="Shape 9"/>
          <p:cNvSpPr/>
          <p:nvPr/>
        </p:nvSpPr>
        <p:spPr>
          <a:xfrm flipH="1">
            <a:off x="882965" y="4513755"/>
            <a:ext cx="45720" cy="289226"/>
          </a:xfrm>
          <a:prstGeom prst="rect">
            <a:avLst/>
          </a:prstGeom>
          <a:solidFill>
            <a:srgbClr val="2980B9"/>
          </a:solidFill>
          <a:ln/>
        </p:spPr>
      </p:sp>
      <p:sp>
        <p:nvSpPr>
          <p:cNvPr id="13" name="Text 10"/>
          <p:cNvSpPr/>
          <p:nvPr/>
        </p:nvSpPr>
        <p:spPr>
          <a:xfrm>
            <a:off x="928688" y="4571749"/>
            <a:ext cx="6109692" cy="173236"/>
          </a:xfrm>
          <a:prstGeom prst="rect">
            <a:avLst/>
          </a:prstGeom>
          <a:noFill/>
          <a:ln/>
        </p:spPr>
        <p:txBody>
          <a:bodyPr wrap="square" lIns="0" tIns="0" rIns="0" bIns="0" rtlCol="0" anchor="t">
            <a:spAutoFit/>
          </a:bodyPr>
          <a:lstStyle/>
          <a:p>
            <a:pPr marL="0" indent="0" algn="l">
              <a:buNone/>
            </a:pPr>
            <a:r>
              <a:rPr lang="en-US" sz="1050" i="1" dirty="0">
                <a:solidFill>
                  <a:srgbClr val="0F294A"/>
                </a:solidFill>
                <a:latin typeface="Inter" pitchFamily="34" charset="0"/>
                <a:ea typeface="Inter" pitchFamily="34" charset="-122"/>
                <a:cs typeface="Inter" pitchFamily="34" charset="-120"/>
              </a:rPr>
              <a:t>"Prioritizing security, reliability, and practical applicability in real-world academic settings."</a:t>
            </a:r>
            <a:endParaRPr lang="en-US" sz="10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4732735" cy="5143500"/>
          </a:xfrm>
          <a:prstGeom prst="rect">
            <a:avLst/>
          </a:prstGeom>
          <a:solidFill>
            <a:schemeClr val="accent5">
              <a:lumMod val="50000"/>
            </a:schemeClr>
          </a:solidFill>
          <a:ln/>
        </p:spPr>
      </p:sp>
      <p:sp>
        <p:nvSpPr>
          <p:cNvPr id="4" name="Text 1"/>
          <p:cNvSpPr/>
          <p:nvPr/>
        </p:nvSpPr>
        <p:spPr>
          <a:xfrm>
            <a:off x="571500" y="713231"/>
            <a:ext cx="3929063" cy="377026"/>
          </a:xfrm>
          <a:prstGeom prst="rect">
            <a:avLst/>
          </a:prstGeom>
          <a:noFill/>
          <a:ln/>
        </p:spPr>
        <p:txBody>
          <a:bodyPr wrap="square" lIns="0" tIns="0" rIns="0" bIns="0" rtlCol="0" anchor="t">
            <a:spAutoFit/>
          </a:bodyPr>
          <a:lstStyle/>
          <a:p>
            <a:pPr marL="0" indent="0" algn="l">
              <a:buNone/>
            </a:pPr>
            <a:r>
              <a:rPr lang="en-US" sz="2450" b="1" dirty="0" smtClean="0">
                <a:solidFill>
                  <a:srgbClr val="FFFFFF"/>
                </a:solidFill>
                <a:latin typeface="Playfair Display Bold" pitchFamily="34" charset="0"/>
                <a:ea typeface="Playfair Display Bold" pitchFamily="34" charset="-122"/>
                <a:cs typeface="Playfair Display Bold" pitchFamily="34" charset="-120"/>
              </a:rPr>
              <a:t>Motivation</a:t>
            </a:r>
            <a:endParaRPr lang="en-US" sz="2450" dirty="0"/>
          </a:p>
        </p:txBody>
      </p:sp>
      <p:sp>
        <p:nvSpPr>
          <p:cNvPr id="5" name="Text 2"/>
          <p:cNvSpPr/>
          <p:nvPr/>
        </p:nvSpPr>
        <p:spPr>
          <a:xfrm>
            <a:off x="571500" y="1456181"/>
            <a:ext cx="3929063" cy="261610"/>
          </a:xfrm>
          <a:prstGeom prst="rect">
            <a:avLst/>
          </a:prstGeom>
          <a:noFill/>
          <a:ln/>
        </p:spPr>
        <p:txBody>
          <a:bodyPr wrap="square" lIns="0" tIns="0" rIns="0" bIns="0" rtlCol="0" anchor="t">
            <a:spAutoFit/>
          </a:bodyPr>
          <a:lstStyle/>
          <a:p>
            <a:pPr marL="0" indent="0" algn="l">
              <a:buNone/>
            </a:pPr>
            <a:r>
              <a:rPr lang="en-US" sz="1700" b="1" kern="0" spc="2" dirty="0">
                <a:solidFill>
                  <a:srgbClr val="D35400"/>
                </a:solidFill>
                <a:latin typeface="Playfair Display Bold" pitchFamily="34" charset="0"/>
                <a:ea typeface="Playfair Display Bold" pitchFamily="34" charset="-122"/>
                <a:cs typeface="Playfair Display Bold" pitchFamily="34" charset="-120"/>
              </a:rPr>
              <a:t>THE PROBLEM</a:t>
            </a:r>
            <a:endParaRPr lang="en-US" sz="1700" b="1" dirty="0"/>
          </a:p>
        </p:txBody>
      </p:sp>
      <p:pic>
        <p:nvPicPr>
          <p:cNvPr id="6" name="Image 1" descr="preencoded.png"/>
          <p:cNvPicPr>
            <a:picLocks noChangeAspect="1"/>
          </p:cNvPicPr>
          <p:nvPr/>
        </p:nvPicPr>
        <p:blipFill>
          <a:blip r:embed="rId4"/>
          <a:stretch>
            <a:fillRect/>
          </a:stretch>
        </p:blipFill>
        <p:spPr>
          <a:xfrm>
            <a:off x="571500" y="2140195"/>
            <a:ext cx="171450" cy="171450"/>
          </a:xfrm>
          <a:prstGeom prst="rect">
            <a:avLst/>
          </a:prstGeom>
        </p:spPr>
      </p:pic>
      <p:sp>
        <p:nvSpPr>
          <p:cNvPr id="7" name="Text 3"/>
          <p:cNvSpPr/>
          <p:nvPr/>
        </p:nvSpPr>
        <p:spPr>
          <a:xfrm>
            <a:off x="885825" y="2088403"/>
            <a:ext cx="3614738" cy="427233"/>
          </a:xfrm>
          <a:prstGeom prst="rect">
            <a:avLst/>
          </a:prstGeom>
          <a:noFill/>
          <a:ln/>
        </p:spPr>
        <p:txBody>
          <a:bodyPr wrap="square" lIns="0" tIns="0" rIns="0" bIns="0" rtlCol="0" anchor="t">
            <a:spAutoFit/>
          </a:bodyPr>
          <a:lstStyle/>
          <a:p>
            <a:pPr marL="0" indent="0" algn="just">
              <a:lnSpc>
                <a:spcPct val="120000"/>
              </a:lnSpc>
              <a:buNone/>
            </a:pPr>
            <a:r>
              <a:rPr lang="en-US" sz="1200" dirty="0">
                <a:solidFill>
                  <a:srgbClr val="FFFFFF"/>
                </a:solidFill>
                <a:latin typeface="Inter" pitchFamily="34" charset="0"/>
                <a:ea typeface="Inter" pitchFamily="34" charset="-122"/>
                <a:cs typeface="Inter" pitchFamily="34" charset="-120"/>
              </a:rPr>
              <a:t>Limited Control:</a:t>
            </a:r>
            <a:r>
              <a:rPr lang="en-US" sz="1200" dirty="0">
                <a:solidFill>
                  <a:srgbClr val="FFFFFF"/>
                </a:solidFill>
                <a:latin typeface="Inter Light" pitchFamily="34" charset="0"/>
                <a:ea typeface="Inter Light" pitchFamily="34" charset="-122"/>
                <a:cs typeface="Inter Light" pitchFamily="34" charset="-120"/>
              </a:rPr>
              <a:t> Browser-based systems provide insufficient control over the local environment.</a:t>
            </a:r>
            <a:endParaRPr lang="en-US" sz="1200" dirty="0"/>
          </a:p>
        </p:txBody>
      </p:sp>
      <p:pic>
        <p:nvPicPr>
          <p:cNvPr id="8" name="Image 2" descr="preencoded.png"/>
          <p:cNvPicPr>
            <a:picLocks noChangeAspect="1"/>
          </p:cNvPicPr>
          <p:nvPr/>
        </p:nvPicPr>
        <p:blipFill>
          <a:blip r:embed="rId5"/>
          <a:stretch>
            <a:fillRect/>
          </a:stretch>
        </p:blipFill>
        <p:spPr>
          <a:xfrm>
            <a:off x="571500" y="2704551"/>
            <a:ext cx="150019" cy="171450"/>
          </a:xfrm>
          <a:prstGeom prst="rect">
            <a:avLst/>
          </a:prstGeom>
        </p:spPr>
      </p:pic>
      <p:sp>
        <p:nvSpPr>
          <p:cNvPr id="9" name="Text 4"/>
          <p:cNvSpPr/>
          <p:nvPr/>
        </p:nvSpPr>
        <p:spPr>
          <a:xfrm>
            <a:off x="864394" y="2652759"/>
            <a:ext cx="3636169" cy="427233"/>
          </a:xfrm>
          <a:prstGeom prst="rect">
            <a:avLst/>
          </a:prstGeom>
          <a:noFill/>
          <a:ln/>
        </p:spPr>
        <p:txBody>
          <a:bodyPr wrap="square" lIns="0" tIns="0" rIns="0" bIns="0" rtlCol="0" anchor="t">
            <a:spAutoFit/>
          </a:bodyPr>
          <a:lstStyle/>
          <a:p>
            <a:pPr marL="0" indent="0" algn="just">
              <a:lnSpc>
                <a:spcPct val="120000"/>
              </a:lnSpc>
              <a:buNone/>
            </a:pPr>
            <a:r>
              <a:rPr lang="en-US" sz="1200" dirty="0">
                <a:solidFill>
                  <a:srgbClr val="FFFFFF"/>
                </a:solidFill>
                <a:latin typeface="Inter" pitchFamily="34" charset="0"/>
                <a:ea typeface="Inter" pitchFamily="34" charset="-122"/>
                <a:cs typeface="Inter" pitchFamily="34" charset="-120"/>
              </a:rPr>
              <a:t>High Cheating Risk:</a:t>
            </a:r>
            <a:r>
              <a:rPr lang="en-US" sz="1200" dirty="0">
                <a:solidFill>
                  <a:srgbClr val="FFFFFF"/>
                </a:solidFill>
                <a:latin typeface="Inter Light" pitchFamily="34" charset="0"/>
                <a:ea typeface="Inter Light" pitchFamily="34" charset="-122"/>
                <a:cs typeface="Inter Light" pitchFamily="34" charset="-120"/>
              </a:rPr>
              <a:t> Ease of access to external apps increases the risk of academic dishonesty.</a:t>
            </a:r>
            <a:endParaRPr lang="en-US" sz="1200" dirty="0"/>
          </a:p>
        </p:txBody>
      </p:sp>
      <p:pic>
        <p:nvPicPr>
          <p:cNvPr id="10" name="Image 3" descr="preencoded.png"/>
          <p:cNvPicPr>
            <a:picLocks noChangeAspect="1"/>
          </p:cNvPicPr>
          <p:nvPr/>
        </p:nvPicPr>
        <p:blipFill>
          <a:blip r:embed="rId6"/>
          <a:stretch>
            <a:fillRect/>
          </a:stretch>
        </p:blipFill>
        <p:spPr>
          <a:xfrm>
            <a:off x="571500" y="3268907"/>
            <a:ext cx="214313" cy="171450"/>
          </a:xfrm>
          <a:prstGeom prst="rect">
            <a:avLst/>
          </a:prstGeom>
        </p:spPr>
      </p:pic>
      <p:sp>
        <p:nvSpPr>
          <p:cNvPr id="11" name="Text 5"/>
          <p:cNvSpPr/>
          <p:nvPr/>
        </p:nvSpPr>
        <p:spPr>
          <a:xfrm>
            <a:off x="928688" y="3217115"/>
            <a:ext cx="3571875" cy="427233"/>
          </a:xfrm>
          <a:prstGeom prst="rect">
            <a:avLst/>
          </a:prstGeom>
          <a:noFill/>
          <a:ln/>
        </p:spPr>
        <p:txBody>
          <a:bodyPr wrap="square" lIns="0" tIns="0" rIns="0" bIns="0" rtlCol="0" anchor="t">
            <a:spAutoFit/>
          </a:bodyPr>
          <a:lstStyle/>
          <a:p>
            <a:pPr marL="0" indent="0" algn="just">
              <a:lnSpc>
                <a:spcPct val="120000"/>
              </a:lnSpc>
              <a:buNone/>
            </a:pPr>
            <a:r>
              <a:rPr lang="en-US" sz="1200" dirty="0">
                <a:solidFill>
                  <a:srgbClr val="FFFFFF"/>
                </a:solidFill>
                <a:latin typeface="Inter" pitchFamily="34" charset="0"/>
                <a:ea typeface="Inter" pitchFamily="34" charset="-122"/>
                <a:cs typeface="Inter" pitchFamily="34" charset="-120"/>
              </a:rPr>
              <a:t>Internet Instability:</a:t>
            </a:r>
            <a:r>
              <a:rPr lang="en-US" sz="1200" dirty="0">
                <a:solidFill>
                  <a:srgbClr val="FFFFFF"/>
                </a:solidFill>
                <a:latin typeface="Inter Light" pitchFamily="34" charset="0"/>
                <a:ea typeface="Inter Light" pitchFamily="34" charset="-122"/>
                <a:cs typeface="Inter Light" pitchFamily="34" charset="-120"/>
              </a:rPr>
              <a:t> Connectivity fluctuations can disrupt and compromise exam integrity.</a:t>
            </a:r>
            <a:endParaRPr lang="en-US" sz="1200" dirty="0"/>
          </a:p>
        </p:txBody>
      </p:sp>
      <p:sp>
        <p:nvSpPr>
          <p:cNvPr id="12" name="Text 6"/>
          <p:cNvSpPr/>
          <p:nvPr/>
        </p:nvSpPr>
        <p:spPr>
          <a:xfrm>
            <a:off x="5214938" y="713231"/>
            <a:ext cx="3357563" cy="377026"/>
          </a:xfrm>
          <a:prstGeom prst="rect">
            <a:avLst/>
          </a:prstGeom>
          <a:noFill/>
          <a:ln/>
        </p:spPr>
        <p:txBody>
          <a:bodyPr wrap="square" lIns="0" tIns="0" rIns="0" bIns="0" rtlCol="0" anchor="t">
            <a:spAutoFit/>
          </a:bodyPr>
          <a:lstStyle/>
          <a:p>
            <a:pPr marL="0" indent="0" algn="l">
              <a:buNone/>
            </a:pPr>
            <a:r>
              <a:rPr lang="en-US" sz="2450" b="1" dirty="0">
                <a:solidFill>
                  <a:schemeClr val="accent5">
                    <a:lumMod val="50000"/>
                  </a:schemeClr>
                </a:solidFill>
                <a:latin typeface="Playfair Display Bold" pitchFamily="34" charset="0"/>
                <a:ea typeface="Playfair Display Bold" pitchFamily="34" charset="-122"/>
                <a:cs typeface="Playfair Display Bold" pitchFamily="34" charset="-120"/>
              </a:rPr>
              <a:t>Requirement</a:t>
            </a:r>
            <a:endParaRPr lang="en-US" sz="2450" dirty="0">
              <a:solidFill>
                <a:schemeClr val="accent5">
                  <a:lumMod val="50000"/>
                </a:schemeClr>
              </a:solidFill>
            </a:endParaRPr>
          </a:p>
        </p:txBody>
      </p:sp>
      <p:sp>
        <p:nvSpPr>
          <p:cNvPr id="13" name="Text 7"/>
          <p:cNvSpPr/>
          <p:nvPr/>
        </p:nvSpPr>
        <p:spPr>
          <a:xfrm>
            <a:off x="5214938" y="1456181"/>
            <a:ext cx="3357563" cy="303609"/>
          </a:xfrm>
          <a:prstGeom prst="rect">
            <a:avLst/>
          </a:prstGeom>
          <a:noFill/>
          <a:ln/>
        </p:spPr>
        <p:txBody>
          <a:bodyPr wrap="square" lIns="0" tIns="0" rIns="0" bIns="0" rtlCol="0" anchor="t">
            <a:spAutoFit/>
          </a:bodyPr>
          <a:lstStyle/>
          <a:p>
            <a:pPr marL="0" indent="0" algn="l">
              <a:buNone/>
            </a:pPr>
            <a:r>
              <a:rPr lang="en-US" sz="1700" kern="0" spc="2" dirty="0">
                <a:solidFill>
                  <a:srgbClr val="D35400"/>
                </a:solidFill>
                <a:latin typeface="Playfair Display Bold" pitchFamily="34" charset="0"/>
                <a:ea typeface="Playfair Display Bold" pitchFamily="34" charset="-122"/>
                <a:cs typeface="Playfair Display Bold" pitchFamily="34" charset="-120"/>
              </a:rPr>
              <a:t>THE SOLUTION</a:t>
            </a:r>
            <a:endParaRPr lang="en-US" sz="1700" dirty="0"/>
          </a:p>
        </p:txBody>
      </p:sp>
      <p:sp>
        <p:nvSpPr>
          <p:cNvPr id="14" name="Text 8"/>
          <p:cNvSpPr/>
          <p:nvPr/>
        </p:nvSpPr>
        <p:spPr>
          <a:xfrm>
            <a:off x="5386388" y="1974103"/>
            <a:ext cx="3186113" cy="648832"/>
          </a:xfrm>
          <a:prstGeom prst="rect">
            <a:avLst/>
          </a:prstGeom>
          <a:noFill/>
          <a:ln/>
        </p:spPr>
        <p:txBody>
          <a:bodyPr wrap="square" lIns="0" tIns="0" rIns="0" bIns="0" rtlCol="0" anchor="t">
            <a:spAutoFit/>
          </a:bodyPr>
          <a:lstStyle/>
          <a:p>
            <a:pPr marL="0" indent="0" algn="l">
              <a:lnSpc>
                <a:spcPct val="120000"/>
              </a:lnSpc>
              <a:buNone/>
            </a:pPr>
            <a:r>
              <a:rPr lang="en-US" sz="1200" dirty="0">
                <a:solidFill>
                  <a:srgbClr val="0F294A"/>
                </a:solidFill>
                <a:latin typeface="Inter Light" pitchFamily="34" charset="0"/>
                <a:ea typeface="Inter Light" pitchFamily="34" charset="-122"/>
                <a:cs typeface="Inter Light" pitchFamily="34" charset="-120"/>
              </a:rPr>
              <a:t>A clear requirement emerged for a system that provides a </a:t>
            </a:r>
            <a:r>
              <a:rPr lang="en-US" sz="1200" dirty="0">
                <a:solidFill>
                  <a:srgbClr val="0F294A"/>
                </a:solidFill>
                <a:latin typeface="Inter" pitchFamily="34" charset="0"/>
                <a:ea typeface="Inter" pitchFamily="34" charset="-122"/>
                <a:cs typeface="Inter" pitchFamily="34" charset="-120"/>
              </a:rPr>
              <a:t>secure, stable, and monitored</a:t>
            </a:r>
            <a:r>
              <a:rPr lang="en-US" sz="1200" dirty="0">
                <a:solidFill>
                  <a:srgbClr val="0F294A"/>
                </a:solidFill>
                <a:latin typeface="Inter Light" pitchFamily="34" charset="0"/>
                <a:ea typeface="Inter Light" pitchFamily="34" charset="-122"/>
                <a:cs typeface="Inter Light" pitchFamily="34" charset="-120"/>
              </a:rPr>
              <a:t> examination platform.</a:t>
            </a:r>
            <a:endParaRPr lang="en-US" sz="1200" dirty="0"/>
          </a:p>
        </p:txBody>
      </p:sp>
      <p:pic>
        <p:nvPicPr>
          <p:cNvPr id="15" name="Image 4" descr="preencoded.png"/>
          <p:cNvPicPr>
            <a:picLocks noChangeAspect="1"/>
          </p:cNvPicPr>
          <p:nvPr/>
        </p:nvPicPr>
        <p:blipFill>
          <a:blip r:embed="rId7"/>
          <a:stretch>
            <a:fillRect/>
          </a:stretch>
        </p:blipFill>
        <p:spPr>
          <a:xfrm>
            <a:off x="5386388" y="2947439"/>
            <a:ext cx="171450" cy="171450"/>
          </a:xfrm>
          <a:prstGeom prst="rect">
            <a:avLst/>
          </a:prstGeom>
        </p:spPr>
      </p:pic>
      <p:sp>
        <p:nvSpPr>
          <p:cNvPr id="16" name="Text 9"/>
          <p:cNvSpPr/>
          <p:nvPr/>
        </p:nvSpPr>
        <p:spPr>
          <a:xfrm>
            <a:off x="5700713" y="2895647"/>
            <a:ext cx="2871788" cy="427233"/>
          </a:xfrm>
          <a:prstGeom prst="rect">
            <a:avLst/>
          </a:prstGeom>
          <a:noFill/>
          <a:ln/>
        </p:spPr>
        <p:txBody>
          <a:bodyPr wrap="square" lIns="0" tIns="0" rIns="0" bIns="0" rtlCol="0" anchor="t">
            <a:spAutoFit/>
          </a:bodyPr>
          <a:lstStyle/>
          <a:p>
            <a:pPr marL="0" indent="0" algn="l">
              <a:lnSpc>
                <a:spcPct val="120000"/>
              </a:lnSpc>
              <a:buNone/>
            </a:pPr>
            <a:r>
              <a:rPr lang="en-US" sz="1200" dirty="0">
                <a:solidFill>
                  <a:srgbClr val="2C3E50"/>
                </a:solidFill>
                <a:latin typeface="Inter Light" pitchFamily="34" charset="0"/>
                <a:ea typeface="Inter Light" pitchFamily="34" charset="-122"/>
                <a:cs typeface="Inter Light" pitchFamily="34" charset="-120"/>
              </a:rPr>
              <a:t>Ensure fair assessment across all student demographics.</a:t>
            </a:r>
            <a:endParaRPr lang="en-US" sz="1200" dirty="0"/>
          </a:p>
        </p:txBody>
      </p:sp>
      <p:pic>
        <p:nvPicPr>
          <p:cNvPr id="17" name="Image 5" descr="preencoded.png"/>
          <p:cNvPicPr>
            <a:picLocks noChangeAspect="1"/>
          </p:cNvPicPr>
          <p:nvPr/>
        </p:nvPicPr>
        <p:blipFill>
          <a:blip r:embed="rId7"/>
          <a:stretch>
            <a:fillRect/>
          </a:stretch>
        </p:blipFill>
        <p:spPr>
          <a:xfrm>
            <a:off x="5386388" y="3511795"/>
            <a:ext cx="171450" cy="171450"/>
          </a:xfrm>
          <a:prstGeom prst="rect">
            <a:avLst/>
          </a:prstGeom>
        </p:spPr>
      </p:pic>
      <p:sp>
        <p:nvSpPr>
          <p:cNvPr id="18" name="Text 10"/>
          <p:cNvSpPr/>
          <p:nvPr/>
        </p:nvSpPr>
        <p:spPr>
          <a:xfrm>
            <a:off x="5700713" y="3460003"/>
            <a:ext cx="2871788" cy="427233"/>
          </a:xfrm>
          <a:prstGeom prst="rect">
            <a:avLst/>
          </a:prstGeom>
          <a:noFill/>
          <a:ln/>
        </p:spPr>
        <p:txBody>
          <a:bodyPr wrap="square" lIns="0" tIns="0" rIns="0" bIns="0" rtlCol="0" anchor="t">
            <a:spAutoFit/>
          </a:bodyPr>
          <a:lstStyle/>
          <a:p>
            <a:pPr marL="0" indent="0" algn="l">
              <a:lnSpc>
                <a:spcPct val="120000"/>
              </a:lnSpc>
              <a:buNone/>
            </a:pPr>
            <a:r>
              <a:rPr lang="en-US" sz="1200" dirty="0">
                <a:solidFill>
                  <a:srgbClr val="2C3E50"/>
                </a:solidFill>
                <a:latin typeface="Inter Light" pitchFamily="34" charset="0"/>
                <a:ea typeface="Inter Light" pitchFamily="34" charset="-122"/>
                <a:cs typeface="Inter Light" pitchFamily="34" charset="-120"/>
              </a:rPr>
              <a:t>Uphold high academic standards in remote settings.</a:t>
            </a:r>
            <a:endParaRPr lang="en-US" sz="1200" dirty="0"/>
          </a:p>
        </p:txBody>
      </p:sp>
      <p:pic>
        <p:nvPicPr>
          <p:cNvPr id="19" name="Image 6" descr="preencoded.png"/>
          <p:cNvPicPr>
            <a:picLocks noChangeAspect="1"/>
          </p:cNvPicPr>
          <p:nvPr/>
        </p:nvPicPr>
        <p:blipFill>
          <a:blip r:embed="rId7"/>
          <a:stretch>
            <a:fillRect/>
          </a:stretch>
        </p:blipFill>
        <p:spPr>
          <a:xfrm>
            <a:off x="5386388" y="4076151"/>
            <a:ext cx="171450" cy="171450"/>
          </a:xfrm>
          <a:prstGeom prst="rect">
            <a:avLst/>
          </a:prstGeom>
        </p:spPr>
      </p:pic>
      <p:sp>
        <p:nvSpPr>
          <p:cNvPr id="20" name="Text 11"/>
          <p:cNvSpPr/>
          <p:nvPr/>
        </p:nvSpPr>
        <p:spPr>
          <a:xfrm>
            <a:off x="5700713" y="4024359"/>
            <a:ext cx="3172792" cy="205634"/>
          </a:xfrm>
          <a:prstGeom prst="rect">
            <a:avLst/>
          </a:prstGeom>
          <a:noFill/>
          <a:ln/>
        </p:spPr>
        <p:txBody>
          <a:bodyPr wrap="none" lIns="0" tIns="0" rIns="0" bIns="0" rtlCol="0" anchor="t">
            <a:spAutoFit/>
          </a:bodyPr>
          <a:lstStyle/>
          <a:p>
            <a:pPr marL="0" indent="0" algn="l">
              <a:lnSpc>
                <a:spcPct val="120000"/>
              </a:lnSpc>
              <a:buNone/>
            </a:pPr>
            <a:r>
              <a:rPr lang="en-US" sz="1200" dirty="0">
                <a:solidFill>
                  <a:srgbClr val="2C3E50"/>
                </a:solidFill>
                <a:latin typeface="Inter Light" pitchFamily="34" charset="0"/>
                <a:ea typeface="Inter Light" pitchFamily="34" charset="-122"/>
                <a:cs typeface="Inter Light" pitchFamily="34" charset="-120"/>
              </a:rPr>
              <a:t>Provide teachers with reliable monitoring tools.</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87004"/>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Key </a:t>
            </a:r>
            <a:r>
              <a:rPr lang="en-US" sz="2450" b="1" dirty="0">
                <a:solidFill>
                  <a:srgbClr val="0F294A"/>
                </a:solidFill>
                <a:latin typeface="Playfair Display Bold" pitchFamily="34" charset="0"/>
                <a:ea typeface="Playfair Display Bold" pitchFamily="34" charset="-122"/>
                <a:cs typeface="Playfair Display Bold" pitchFamily="34" charset="-120"/>
              </a:rPr>
              <a:t>Features</a:t>
            </a:r>
            <a:endParaRPr lang="en-US" sz="2450" dirty="0"/>
          </a:p>
        </p:txBody>
      </p:sp>
      <p:sp>
        <p:nvSpPr>
          <p:cNvPr id="6" name="Text 3"/>
          <p:cNvSpPr/>
          <p:nvPr/>
        </p:nvSpPr>
        <p:spPr>
          <a:xfrm>
            <a:off x="571500" y="1241868"/>
            <a:ext cx="8572500" cy="173236"/>
          </a:xfrm>
          <a:prstGeom prst="rect">
            <a:avLst/>
          </a:prstGeom>
          <a:noFill/>
          <a:ln/>
        </p:spPr>
        <p:txBody>
          <a:bodyPr wrap="square" lIns="170053" tIns="0" rIns="0" bIns="0" rtlCol="0" anchor="t">
            <a:spAutoFit/>
          </a:bodyPr>
          <a:lstStyle/>
          <a:p>
            <a:pPr marL="0" indent="0" algn="l">
              <a:buNone/>
            </a:pPr>
            <a:r>
              <a:rPr lang="en-US" sz="1050" kern="0" spc="2" dirty="0">
                <a:solidFill>
                  <a:srgbClr val="2980B9"/>
                </a:solidFill>
                <a:latin typeface="Inter" pitchFamily="34" charset="0"/>
                <a:ea typeface="Inter" pitchFamily="34" charset="-122"/>
                <a:cs typeface="Inter" pitchFamily="34" charset="-120"/>
              </a:rPr>
              <a:t>THE CORE CAPABILITIES OF OES-ACS</a:t>
            </a:r>
            <a:endParaRPr lang="en-US" sz="1050" dirty="0"/>
          </a:p>
        </p:txBody>
      </p:sp>
      <p:pic>
        <p:nvPicPr>
          <p:cNvPr id="7" name="Image 1" descr="preencoded.png"/>
          <p:cNvPicPr>
            <a:picLocks noChangeAspect="1"/>
          </p:cNvPicPr>
          <p:nvPr/>
        </p:nvPicPr>
        <p:blipFill>
          <a:blip r:embed="rId4"/>
          <a:stretch>
            <a:fillRect/>
          </a:stretch>
        </p:blipFill>
        <p:spPr>
          <a:xfrm>
            <a:off x="714375" y="1894629"/>
            <a:ext cx="200025" cy="200025"/>
          </a:xfrm>
          <a:prstGeom prst="rect">
            <a:avLst/>
          </a:prstGeom>
        </p:spPr>
      </p:pic>
      <p:sp>
        <p:nvSpPr>
          <p:cNvPr id="8" name="Text 4"/>
          <p:cNvSpPr/>
          <p:nvPr/>
        </p:nvSpPr>
        <p:spPr>
          <a:xfrm>
            <a:off x="1021556" y="1872304"/>
            <a:ext cx="1589484" cy="248245"/>
          </a:xfrm>
          <a:prstGeom prst="rect">
            <a:avLst/>
          </a:prstGeom>
          <a:noFill/>
          <a:ln/>
        </p:spPr>
        <p:txBody>
          <a:bodyPr wrap="square" lIns="0" tIns="0" rIns="0" bIns="0" rtlCol="0" anchor="t">
            <a:spAutoFit/>
          </a:bodyPr>
          <a:lstStyle/>
          <a:p>
            <a:pPr marL="0" indent="0" algn="l">
              <a:buNone/>
            </a:pPr>
            <a:r>
              <a:rPr lang="en-US" sz="1400" dirty="0">
                <a:solidFill>
                  <a:srgbClr val="0F294A"/>
                </a:solidFill>
                <a:latin typeface="Playfair Display Bold" pitchFamily="34" charset="0"/>
                <a:ea typeface="Playfair Display Bold" pitchFamily="34" charset="-122"/>
                <a:cs typeface="Playfair Display Bold" pitchFamily="34" charset="-120"/>
              </a:rPr>
              <a:t>Anti-Cheat Engine</a:t>
            </a:r>
            <a:endParaRPr lang="en-US" sz="1400" dirty="0"/>
          </a:p>
        </p:txBody>
      </p:sp>
      <p:sp>
        <p:nvSpPr>
          <p:cNvPr id="9" name="Text 5"/>
          <p:cNvSpPr/>
          <p:nvPr/>
        </p:nvSpPr>
        <p:spPr>
          <a:xfrm>
            <a:off x="714375" y="2234850"/>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Full-screen enforced mode with lockdown logic.</a:t>
            </a:r>
            <a:endParaRPr lang="en-US" sz="900" dirty="0"/>
          </a:p>
        </p:txBody>
      </p:sp>
      <p:sp>
        <p:nvSpPr>
          <p:cNvPr id="10" name="Text 6"/>
          <p:cNvSpPr/>
          <p:nvPr/>
        </p:nvSpPr>
        <p:spPr>
          <a:xfrm>
            <a:off x="714375" y="2474165"/>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Shortcut blocking (Alt+Tab, Win key, Esc).</a:t>
            </a:r>
            <a:endParaRPr lang="en-US" sz="900" dirty="0"/>
          </a:p>
        </p:txBody>
      </p:sp>
      <p:sp>
        <p:nvSpPr>
          <p:cNvPr id="11" name="Text 7"/>
          <p:cNvSpPr/>
          <p:nvPr/>
        </p:nvSpPr>
        <p:spPr>
          <a:xfrm>
            <a:off x="714375" y="2713481"/>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Real-time focus monitoring and violation logging.</a:t>
            </a:r>
            <a:endParaRPr lang="en-US" sz="900" dirty="0"/>
          </a:p>
        </p:txBody>
      </p:sp>
      <p:pic>
        <p:nvPicPr>
          <p:cNvPr id="12" name="Image 2" descr="preencoded.png"/>
          <p:cNvPicPr>
            <a:picLocks noChangeAspect="1"/>
          </p:cNvPicPr>
          <p:nvPr/>
        </p:nvPicPr>
        <p:blipFill>
          <a:blip r:embed="rId5"/>
          <a:stretch>
            <a:fillRect/>
          </a:stretch>
        </p:blipFill>
        <p:spPr>
          <a:xfrm>
            <a:off x="4714875" y="1894629"/>
            <a:ext cx="250031" cy="200025"/>
          </a:xfrm>
          <a:prstGeom prst="rect">
            <a:avLst/>
          </a:prstGeom>
        </p:spPr>
      </p:pic>
      <p:sp>
        <p:nvSpPr>
          <p:cNvPr id="13" name="Text 8"/>
          <p:cNvSpPr/>
          <p:nvPr/>
        </p:nvSpPr>
        <p:spPr>
          <a:xfrm>
            <a:off x="5072063" y="1872304"/>
            <a:ext cx="1587698" cy="248245"/>
          </a:xfrm>
          <a:prstGeom prst="rect">
            <a:avLst/>
          </a:prstGeom>
          <a:noFill/>
          <a:ln/>
        </p:spPr>
        <p:txBody>
          <a:bodyPr wrap="square" lIns="0" tIns="0" rIns="0" bIns="0" rtlCol="0" anchor="t">
            <a:spAutoFit/>
          </a:bodyPr>
          <a:lstStyle/>
          <a:p>
            <a:pPr marL="0" indent="0" algn="l">
              <a:buNone/>
            </a:pPr>
            <a:r>
              <a:rPr lang="en-US" sz="1400" dirty="0">
                <a:solidFill>
                  <a:srgbClr val="0F294A"/>
                </a:solidFill>
                <a:latin typeface="Playfair Display Bold" pitchFamily="34" charset="0"/>
                <a:ea typeface="Playfair Display Bold" pitchFamily="34" charset="-122"/>
                <a:cs typeface="Playfair Display Bold" pitchFamily="34" charset="-120"/>
              </a:rPr>
              <a:t>Role-Based Access</a:t>
            </a:r>
            <a:endParaRPr lang="en-US" sz="1400" dirty="0"/>
          </a:p>
        </p:txBody>
      </p:sp>
      <p:sp>
        <p:nvSpPr>
          <p:cNvPr id="14" name="Text 9"/>
          <p:cNvSpPr/>
          <p:nvPr/>
        </p:nvSpPr>
        <p:spPr>
          <a:xfrm>
            <a:off x="4714875" y="2234850"/>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Secure portals for both Teachers and Students.</a:t>
            </a:r>
            <a:endParaRPr lang="en-US" sz="900" dirty="0"/>
          </a:p>
        </p:txBody>
      </p:sp>
      <p:sp>
        <p:nvSpPr>
          <p:cNvPr id="15" name="Text 10"/>
          <p:cNvSpPr/>
          <p:nvPr/>
        </p:nvSpPr>
        <p:spPr>
          <a:xfrm>
            <a:off x="4714875" y="2474165"/>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Multiple login detection for identity integrity.</a:t>
            </a:r>
            <a:endParaRPr lang="en-US" sz="900" dirty="0"/>
          </a:p>
        </p:txBody>
      </p:sp>
      <p:sp>
        <p:nvSpPr>
          <p:cNvPr id="16" name="Text 11"/>
          <p:cNvSpPr/>
          <p:nvPr/>
        </p:nvSpPr>
        <p:spPr>
          <a:xfrm>
            <a:off x="4714875" y="2713481"/>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Differentiated management and attempt levels.</a:t>
            </a:r>
            <a:endParaRPr lang="en-US" sz="900" dirty="0"/>
          </a:p>
        </p:txBody>
      </p:sp>
      <p:pic>
        <p:nvPicPr>
          <p:cNvPr id="17" name="Image 3" descr="preencoded.png"/>
          <p:cNvPicPr>
            <a:picLocks noChangeAspect="1"/>
          </p:cNvPicPr>
          <p:nvPr/>
        </p:nvPicPr>
        <p:blipFill>
          <a:blip r:embed="rId6"/>
          <a:stretch>
            <a:fillRect/>
          </a:stretch>
        </p:blipFill>
        <p:spPr>
          <a:xfrm>
            <a:off x="714375" y="3780579"/>
            <a:ext cx="200025" cy="200025"/>
          </a:xfrm>
          <a:prstGeom prst="rect">
            <a:avLst/>
          </a:prstGeom>
        </p:spPr>
      </p:pic>
      <p:sp>
        <p:nvSpPr>
          <p:cNvPr id="18" name="Text 12"/>
          <p:cNvSpPr/>
          <p:nvPr/>
        </p:nvSpPr>
        <p:spPr>
          <a:xfrm>
            <a:off x="1021556" y="3758254"/>
            <a:ext cx="1919883" cy="248245"/>
          </a:xfrm>
          <a:prstGeom prst="rect">
            <a:avLst/>
          </a:prstGeom>
          <a:noFill/>
          <a:ln/>
        </p:spPr>
        <p:txBody>
          <a:bodyPr wrap="square" lIns="0" tIns="0" rIns="0" bIns="0" rtlCol="0" anchor="t">
            <a:spAutoFit/>
          </a:bodyPr>
          <a:lstStyle/>
          <a:p>
            <a:pPr marL="0" indent="0" algn="l">
              <a:buNone/>
            </a:pPr>
            <a:r>
              <a:rPr lang="en-US" sz="1400" dirty="0">
                <a:solidFill>
                  <a:srgbClr val="0F294A"/>
                </a:solidFill>
                <a:latin typeface="Playfair Display Bold" pitchFamily="34" charset="0"/>
                <a:ea typeface="Playfair Display Bold" pitchFamily="34" charset="-122"/>
                <a:cs typeface="Playfair Display Bold" pitchFamily="34" charset="-120"/>
              </a:rPr>
              <a:t>Dynamic Management</a:t>
            </a:r>
            <a:endParaRPr lang="en-US" sz="1400" dirty="0"/>
          </a:p>
        </p:txBody>
      </p:sp>
      <p:sp>
        <p:nvSpPr>
          <p:cNvPr id="19" name="Text 13"/>
          <p:cNvSpPr/>
          <p:nvPr/>
        </p:nvSpPr>
        <p:spPr>
          <a:xfrm>
            <a:off x="714375" y="4120800"/>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Flexible question banking and subject creation.</a:t>
            </a:r>
            <a:endParaRPr lang="en-US" sz="900" dirty="0"/>
          </a:p>
        </p:txBody>
      </p:sp>
      <p:sp>
        <p:nvSpPr>
          <p:cNvPr id="20" name="Text 14"/>
          <p:cNvSpPr/>
          <p:nvPr/>
        </p:nvSpPr>
        <p:spPr>
          <a:xfrm>
            <a:off x="714375" y="4360115"/>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Customizable exam formats and timing settings.</a:t>
            </a:r>
            <a:endParaRPr lang="en-US" sz="900" dirty="0"/>
          </a:p>
        </p:txBody>
      </p:sp>
      <p:sp>
        <p:nvSpPr>
          <p:cNvPr id="21" name="Text 15"/>
          <p:cNvSpPr/>
          <p:nvPr/>
        </p:nvSpPr>
        <p:spPr>
          <a:xfrm>
            <a:off x="714375" y="4599431"/>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Real-time tracking of active examinations.</a:t>
            </a:r>
            <a:endParaRPr lang="en-US" sz="900" dirty="0"/>
          </a:p>
        </p:txBody>
      </p:sp>
      <p:pic>
        <p:nvPicPr>
          <p:cNvPr id="22" name="Image 4" descr="preencoded.png"/>
          <p:cNvPicPr>
            <a:picLocks noChangeAspect="1"/>
          </p:cNvPicPr>
          <p:nvPr/>
        </p:nvPicPr>
        <p:blipFill>
          <a:blip r:embed="rId7"/>
          <a:stretch>
            <a:fillRect/>
          </a:stretch>
        </p:blipFill>
        <p:spPr>
          <a:xfrm>
            <a:off x="4714875" y="3780579"/>
            <a:ext cx="200025" cy="200025"/>
          </a:xfrm>
          <a:prstGeom prst="rect">
            <a:avLst/>
          </a:prstGeom>
        </p:spPr>
      </p:pic>
      <p:sp>
        <p:nvSpPr>
          <p:cNvPr id="23" name="Text 16"/>
          <p:cNvSpPr/>
          <p:nvPr/>
        </p:nvSpPr>
        <p:spPr>
          <a:xfrm>
            <a:off x="5022056" y="3758254"/>
            <a:ext cx="1894880" cy="248245"/>
          </a:xfrm>
          <a:prstGeom prst="rect">
            <a:avLst/>
          </a:prstGeom>
          <a:noFill/>
          <a:ln/>
        </p:spPr>
        <p:txBody>
          <a:bodyPr wrap="square" lIns="0" tIns="0" rIns="0" bIns="0" rtlCol="0" anchor="t">
            <a:spAutoFit/>
          </a:bodyPr>
          <a:lstStyle/>
          <a:p>
            <a:pPr marL="0" indent="0" algn="l">
              <a:buNone/>
            </a:pPr>
            <a:r>
              <a:rPr lang="en-US" sz="1400" dirty="0">
                <a:solidFill>
                  <a:srgbClr val="0F294A"/>
                </a:solidFill>
                <a:latin typeface="Playfair Display Bold" pitchFamily="34" charset="0"/>
                <a:ea typeface="Playfair Display Bold" pitchFamily="34" charset="-122"/>
                <a:cs typeface="Playfair Display Bold" pitchFamily="34" charset="-120"/>
              </a:rPr>
              <a:t>Automated Evaluation</a:t>
            </a:r>
            <a:endParaRPr lang="en-US" sz="1400" dirty="0"/>
          </a:p>
        </p:txBody>
      </p:sp>
      <p:sp>
        <p:nvSpPr>
          <p:cNvPr id="24" name="Text 17"/>
          <p:cNvSpPr/>
          <p:nvPr/>
        </p:nvSpPr>
        <p:spPr>
          <a:xfrm>
            <a:off x="4714875" y="4120800"/>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Instant grading for Multiple Choice Questions.</a:t>
            </a:r>
            <a:endParaRPr lang="en-US" sz="900" dirty="0"/>
          </a:p>
        </p:txBody>
      </p:sp>
      <p:sp>
        <p:nvSpPr>
          <p:cNvPr id="25" name="Text 18"/>
          <p:cNvSpPr/>
          <p:nvPr/>
        </p:nvSpPr>
        <p:spPr>
          <a:xfrm>
            <a:off x="4714875" y="4360115"/>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Detailed performance reporting for students.</a:t>
            </a:r>
            <a:endParaRPr lang="en-US" sz="900" dirty="0"/>
          </a:p>
        </p:txBody>
      </p:sp>
      <p:sp>
        <p:nvSpPr>
          <p:cNvPr id="26" name="Text 19"/>
          <p:cNvSpPr/>
          <p:nvPr/>
        </p:nvSpPr>
        <p:spPr>
          <a:xfrm>
            <a:off x="4714875" y="4599431"/>
            <a:ext cx="3714750" cy="182166"/>
          </a:xfrm>
          <a:prstGeom prst="rect">
            <a:avLst/>
          </a:prstGeom>
          <a:noFill/>
          <a:ln/>
        </p:spPr>
        <p:txBody>
          <a:bodyPr wrap="none" lIns="0" tIns="0" rIns="0" bIns="0" rtlCol="0" anchor="t">
            <a:spAutoFit/>
          </a:bodyPr>
          <a:lstStyle/>
          <a:p>
            <a:pPr marL="0" indent="0" algn="l">
              <a:lnSpc>
                <a:spcPct val="120000"/>
              </a:lnSpc>
              <a:buNone/>
            </a:pPr>
            <a:r>
              <a:rPr lang="en-US" sz="900" dirty="0">
                <a:solidFill>
                  <a:srgbClr val="2C3E50"/>
                </a:solidFill>
                <a:latin typeface="Inter Light" pitchFamily="34" charset="0"/>
                <a:ea typeface="Inter Light" pitchFamily="34" charset="-122"/>
                <a:cs typeface="Inter Light" pitchFamily="34" charset="-120"/>
              </a:rPr>
              <a:t>Automated generation of violation integrity logs.</a:t>
            </a:r>
            <a:endParaRPr lang="en-US" sz="900" dirty="0"/>
          </a:p>
        </p:txBody>
      </p:sp>
      <p:sp>
        <p:nvSpPr>
          <p:cNvPr id="28" name="Shape 1"/>
          <p:cNvSpPr/>
          <p:nvPr/>
        </p:nvSpPr>
        <p:spPr>
          <a:xfrm>
            <a:off x="1086" y="713230"/>
            <a:ext cx="57150" cy="701873"/>
          </a:xfrm>
          <a:prstGeom prst="rect">
            <a:avLst/>
          </a:prstGeom>
          <a:solidFill>
            <a:schemeClr val="accent2">
              <a:lumMod val="75000"/>
            </a:schemeClr>
          </a:solidFill>
          <a:ln>
            <a:noFill/>
          </a:ln>
        </p:spPr>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Workflow </a:t>
            </a:r>
            <a:r>
              <a:rPr lang="en-US" sz="2450" b="1" dirty="0">
                <a:solidFill>
                  <a:srgbClr val="0F294A"/>
                </a:solidFill>
                <a:latin typeface="Playfair Display Bold" pitchFamily="34" charset="0"/>
                <a:ea typeface="Playfair Display Bold" pitchFamily="34" charset="-122"/>
                <a:cs typeface="Playfair Display Bold" pitchFamily="34" charset="-120"/>
              </a:rPr>
              <a:t>&amp; Methodology</a:t>
            </a:r>
            <a:endParaRPr lang="en-US" sz="2450" dirty="0"/>
          </a:p>
        </p:txBody>
      </p:sp>
      <p:sp>
        <p:nvSpPr>
          <p:cNvPr id="6" name="Text 3"/>
          <p:cNvSpPr/>
          <p:nvPr/>
        </p:nvSpPr>
        <p:spPr>
          <a:xfrm>
            <a:off x="957263" y="1125579"/>
            <a:ext cx="7885795" cy="169277"/>
          </a:xfrm>
          <a:prstGeom prst="rect">
            <a:avLst/>
          </a:prstGeom>
          <a:noFill/>
          <a:ln/>
        </p:spPr>
        <p:txBody>
          <a:bodyPr wrap="square" lIns="170053" tIns="0" rIns="0" bIns="0" rtlCol="0" anchor="t">
            <a:spAutoFit/>
          </a:bodyPr>
          <a:lstStyle/>
          <a:p>
            <a:pPr marL="0" indent="0" algn="l">
              <a:buNone/>
            </a:pPr>
            <a:r>
              <a:rPr lang="en-US" sz="1100" kern="0" spc="2" dirty="0">
                <a:solidFill>
                  <a:srgbClr val="2980B9"/>
                </a:solidFill>
                <a:latin typeface="Inter" pitchFamily="34" charset="0"/>
                <a:ea typeface="Inter" pitchFamily="34" charset="-122"/>
                <a:cs typeface="Inter" pitchFamily="34" charset="-120"/>
              </a:rPr>
              <a:t>THE INCREMENTAL DEVELOPMENT MODEL</a:t>
            </a:r>
            <a:endParaRPr lang="en-US" sz="1100" dirty="0"/>
          </a:p>
        </p:txBody>
      </p:sp>
      <p:sp>
        <p:nvSpPr>
          <p:cNvPr id="7" name="Text 4"/>
          <p:cNvSpPr/>
          <p:nvPr/>
        </p:nvSpPr>
        <p:spPr>
          <a:xfrm>
            <a:off x="957263" y="1907080"/>
            <a:ext cx="3201712" cy="266105"/>
          </a:xfrm>
          <a:prstGeom prst="rect">
            <a:avLst/>
          </a:prstGeom>
          <a:noFill/>
          <a:ln/>
        </p:spPr>
        <p:txBody>
          <a:bodyPr wrap="square" lIns="0" tIns="0" rIns="0" bIns="0" rtlCol="0" anchor="t">
            <a:spAutoFit/>
          </a:bodyPr>
          <a:lstStyle/>
          <a:p>
            <a:pPr marL="0" indent="0" algn="l">
              <a:buNone/>
            </a:pPr>
            <a:r>
              <a:rPr lang="en-US" sz="1500" dirty="0">
                <a:solidFill>
                  <a:srgbClr val="0F294A"/>
                </a:solidFill>
                <a:latin typeface="Playfair Display Bold" pitchFamily="34" charset="0"/>
                <a:ea typeface="Playfair Display Bold" pitchFamily="34" charset="-122"/>
                <a:cs typeface="Playfair Display Bold" pitchFamily="34" charset="-120"/>
              </a:rPr>
              <a:t>Why Incremental?</a:t>
            </a:r>
            <a:endParaRPr lang="en-US" sz="1500" dirty="0"/>
          </a:p>
        </p:txBody>
      </p:sp>
      <p:sp>
        <p:nvSpPr>
          <p:cNvPr id="8" name="Text 5"/>
          <p:cNvSpPr/>
          <p:nvPr/>
        </p:nvSpPr>
        <p:spPr>
          <a:xfrm>
            <a:off x="957263" y="2460218"/>
            <a:ext cx="3201712" cy="1162113"/>
          </a:xfrm>
          <a:prstGeom prst="rect">
            <a:avLst/>
          </a:prstGeom>
          <a:noFill/>
          <a:ln/>
        </p:spPr>
        <p:txBody>
          <a:bodyPr wrap="square" lIns="0" tIns="0" rIns="0" bIns="0" rtlCol="0" anchor="t">
            <a:spAutoFit/>
          </a:bodyPr>
          <a:lstStyle/>
          <a:p>
            <a:pPr marL="0" indent="0" algn="just">
              <a:lnSpc>
                <a:spcPct val="128000"/>
              </a:lnSpc>
              <a:buNone/>
            </a:pPr>
            <a:r>
              <a:rPr lang="en-US" sz="1200" dirty="0">
                <a:solidFill>
                  <a:srgbClr val="2C3E50"/>
                </a:solidFill>
                <a:latin typeface="Inter Light" pitchFamily="34" charset="0"/>
                <a:ea typeface="Inter Light" pitchFamily="34" charset="-122"/>
                <a:cs typeface="Inter Light" pitchFamily="34" charset="-120"/>
              </a:rPr>
              <a:t>The </a:t>
            </a:r>
            <a:r>
              <a:rPr lang="en-US" sz="1200" dirty="0">
                <a:solidFill>
                  <a:srgbClr val="D35400"/>
                </a:solidFill>
                <a:latin typeface="Inter" pitchFamily="34" charset="0"/>
                <a:ea typeface="Inter" pitchFamily="34" charset="-122"/>
                <a:cs typeface="Inter" pitchFamily="34" charset="-120"/>
              </a:rPr>
              <a:t>Incremental Model</a:t>
            </a:r>
            <a:r>
              <a:rPr lang="en-US" sz="1200" dirty="0">
                <a:solidFill>
                  <a:srgbClr val="2C3E50"/>
                </a:solidFill>
                <a:latin typeface="Inter Light" pitchFamily="34" charset="0"/>
                <a:ea typeface="Inter Light" pitchFamily="34" charset="-122"/>
                <a:cs typeface="Inter Light" pitchFamily="34" charset="-120"/>
              </a:rPr>
              <a:t> was chosen to ensure a functional core foundation could be delivered early, while allowing complex security features to be integrated in planned, manageable releases.</a:t>
            </a:r>
            <a:endParaRPr lang="en-US" sz="1200" dirty="0"/>
          </a:p>
        </p:txBody>
      </p:sp>
      <p:sp>
        <p:nvSpPr>
          <p:cNvPr id="9" name="Text 6"/>
          <p:cNvSpPr/>
          <p:nvPr/>
        </p:nvSpPr>
        <p:spPr>
          <a:xfrm>
            <a:off x="957263" y="3885956"/>
            <a:ext cx="3201712" cy="689420"/>
          </a:xfrm>
          <a:prstGeom prst="rect">
            <a:avLst/>
          </a:prstGeom>
          <a:noFill/>
          <a:ln/>
        </p:spPr>
        <p:txBody>
          <a:bodyPr wrap="square" lIns="0" tIns="0" rIns="0" bIns="0" rtlCol="0" anchor="t">
            <a:spAutoFit/>
          </a:bodyPr>
          <a:lstStyle/>
          <a:p>
            <a:pPr marL="0" indent="0" algn="just">
              <a:lnSpc>
                <a:spcPct val="128000"/>
              </a:lnSpc>
              <a:buNone/>
            </a:pPr>
            <a:r>
              <a:rPr lang="en-US" sz="1200" dirty="0">
                <a:solidFill>
                  <a:srgbClr val="2C3E50"/>
                </a:solidFill>
                <a:latin typeface="Inter Light" pitchFamily="34" charset="0"/>
                <a:ea typeface="Inter Light" pitchFamily="34" charset="-122"/>
                <a:cs typeface="Inter Light" pitchFamily="34" charset="-120"/>
              </a:rPr>
              <a:t>This approach facilitated iterative testing and refinement, ensuring each feature was battle-tested before final deployment.</a:t>
            </a:r>
            <a:endParaRPr lang="en-US" sz="1200" dirty="0"/>
          </a:p>
        </p:txBody>
      </p:sp>
      <p:sp>
        <p:nvSpPr>
          <p:cNvPr id="10" name="Shape 7"/>
          <p:cNvSpPr/>
          <p:nvPr/>
        </p:nvSpPr>
        <p:spPr>
          <a:xfrm>
            <a:off x="4587599" y="1772292"/>
            <a:ext cx="3842026" cy="714375"/>
          </a:xfrm>
          <a:prstGeom prst="rect">
            <a:avLst/>
          </a:prstGeom>
          <a:solidFill>
            <a:srgbClr val="0F294A"/>
          </a:solidFill>
          <a:ln/>
        </p:spPr>
      </p:sp>
      <p:sp>
        <p:nvSpPr>
          <p:cNvPr id="11" name="Shape 8"/>
          <p:cNvSpPr/>
          <p:nvPr/>
        </p:nvSpPr>
        <p:spPr>
          <a:xfrm>
            <a:off x="4587599" y="1772292"/>
            <a:ext cx="42863" cy="714375"/>
          </a:xfrm>
          <a:prstGeom prst="rect">
            <a:avLst/>
          </a:prstGeom>
          <a:solidFill>
            <a:srgbClr val="D35400"/>
          </a:solidFill>
          <a:ln/>
        </p:spPr>
      </p:sp>
      <p:sp>
        <p:nvSpPr>
          <p:cNvPr id="12" name="Text 9"/>
          <p:cNvSpPr/>
          <p:nvPr/>
        </p:nvSpPr>
        <p:spPr>
          <a:xfrm>
            <a:off x="4766193" y="1896717"/>
            <a:ext cx="3663432" cy="184666"/>
          </a:xfrm>
          <a:prstGeom prst="rect">
            <a:avLst/>
          </a:prstGeom>
          <a:noFill/>
          <a:ln/>
        </p:spPr>
        <p:txBody>
          <a:bodyPr wrap="square" lIns="0" tIns="0" rIns="0" bIns="0" rtlCol="0" anchor="t">
            <a:spAutoFit/>
          </a:bodyPr>
          <a:lstStyle/>
          <a:p>
            <a:pPr marL="0" indent="0" algn="l">
              <a:buNone/>
            </a:pPr>
            <a:r>
              <a:rPr lang="en-US" sz="1200" kern="0" spc="1" dirty="0">
                <a:solidFill>
                  <a:srgbClr val="D35400"/>
                </a:solidFill>
                <a:latin typeface="Playfair Display Bold" pitchFamily="34" charset="0"/>
                <a:ea typeface="Playfair Display Bold" pitchFamily="34" charset="-122"/>
                <a:cs typeface="Playfair Display Bold" pitchFamily="34" charset="-120"/>
              </a:rPr>
              <a:t>1. REQUIREMENTS &amp; DESIGN</a:t>
            </a:r>
            <a:endParaRPr lang="en-US" sz="1200" dirty="0"/>
          </a:p>
        </p:txBody>
      </p:sp>
      <p:sp>
        <p:nvSpPr>
          <p:cNvPr id="13" name="Text 10"/>
          <p:cNvSpPr/>
          <p:nvPr/>
        </p:nvSpPr>
        <p:spPr>
          <a:xfrm>
            <a:off x="4812493" y="2169831"/>
            <a:ext cx="3663432" cy="169277"/>
          </a:xfrm>
          <a:prstGeom prst="rect">
            <a:avLst/>
          </a:prstGeom>
          <a:noFill/>
          <a:ln/>
        </p:spPr>
        <p:txBody>
          <a:bodyPr wrap="square" lIns="0" tIns="0" rIns="0" bIns="0" rtlCol="0" anchor="t">
            <a:spAutoFit/>
          </a:bodyPr>
          <a:lstStyle/>
          <a:p>
            <a:pPr marL="0" indent="0" algn="l">
              <a:buNone/>
            </a:pPr>
            <a:r>
              <a:rPr lang="en-US" sz="1100" dirty="0">
                <a:solidFill>
                  <a:srgbClr val="FFFFFF"/>
                </a:solidFill>
                <a:latin typeface="Inter Light" pitchFamily="34" charset="0"/>
                <a:ea typeface="Inter Light" pitchFamily="34" charset="-122"/>
                <a:cs typeface="Inter Light" pitchFamily="34" charset="-120"/>
              </a:rPr>
              <a:t>Defining core exam features and initial anti-cheat logic.</a:t>
            </a:r>
            <a:endParaRPr lang="en-US" sz="1100" dirty="0"/>
          </a:p>
        </p:txBody>
      </p:sp>
      <p:sp>
        <p:nvSpPr>
          <p:cNvPr id="14" name="Shape 11"/>
          <p:cNvSpPr/>
          <p:nvPr/>
        </p:nvSpPr>
        <p:spPr>
          <a:xfrm>
            <a:off x="4587599" y="2593823"/>
            <a:ext cx="3842026" cy="714375"/>
          </a:xfrm>
          <a:prstGeom prst="rect">
            <a:avLst/>
          </a:prstGeom>
          <a:solidFill>
            <a:srgbClr val="0F294A"/>
          </a:solidFill>
          <a:ln/>
        </p:spPr>
      </p:sp>
      <p:sp>
        <p:nvSpPr>
          <p:cNvPr id="15" name="Shape 12"/>
          <p:cNvSpPr/>
          <p:nvPr/>
        </p:nvSpPr>
        <p:spPr>
          <a:xfrm>
            <a:off x="4587599" y="2593823"/>
            <a:ext cx="42863" cy="714375"/>
          </a:xfrm>
          <a:prstGeom prst="rect">
            <a:avLst/>
          </a:prstGeom>
          <a:solidFill>
            <a:srgbClr val="D35400"/>
          </a:solidFill>
          <a:ln/>
        </p:spPr>
      </p:sp>
      <p:sp>
        <p:nvSpPr>
          <p:cNvPr id="16" name="Text 13"/>
          <p:cNvSpPr/>
          <p:nvPr/>
        </p:nvSpPr>
        <p:spPr>
          <a:xfrm>
            <a:off x="4766193" y="2718248"/>
            <a:ext cx="3663432" cy="184666"/>
          </a:xfrm>
          <a:prstGeom prst="rect">
            <a:avLst/>
          </a:prstGeom>
          <a:noFill/>
          <a:ln/>
        </p:spPr>
        <p:txBody>
          <a:bodyPr wrap="square" lIns="0" tIns="0" rIns="0" bIns="0" rtlCol="0" anchor="t">
            <a:spAutoFit/>
          </a:bodyPr>
          <a:lstStyle/>
          <a:p>
            <a:pPr marL="0" indent="0" algn="l">
              <a:buNone/>
            </a:pPr>
            <a:r>
              <a:rPr lang="en-US" sz="1200" kern="0" spc="1" dirty="0">
                <a:solidFill>
                  <a:srgbClr val="D35400"/>
                </a:solidFill>
                <a:latin typeface="Playfair Display Bold" pitchFamily="34" charset="0"/>
                <a:ea typeface="Playfair Display Bold" pitchFamily="34" charset="-122"/>
                <a:cs typeface="Playfair Display Bold" pitchFamily="34" charset="-120"/>
              </a:rPr>
              <a:t>2. CORE BUILD</a:t>
            </a:r>
            <a:endParaRPr lang="en-US" sz="1200" dirty="0"/>
          </a:p>
        </p:txBody>
      </p:sp>
      <p:sp>
        <p:nvSpPr>
          <p:cNvPr id="17" name="Text 14"/>
          <p:cNvSpPr/>
          <p:nvPr/>
        </p:nvSpPr>
        <p:spPr>
          <a:xfrm>
            <a:off x="4766193" y="2956637"/>
            <a:ext cx="3663432" cy="169277"/>
          </a:xfrm>
          <a:prstGeom prst="rect">
            <a:avLst/>
          </a:prstGeom>
          <a:noFill/>
          <a:ln/>
        </p:spPr>
        <p:txBody>
          <a:bodyPr wrap="square" lIns="0" tIns="0" rIns="0" bIns="0" rtlCol="0" anchor="t">
            <a:spAutoFit/>
          </a:bodyPr>
          <a:lstStyle/>
          <a:p>
            <a:pPr marL="0" indent="0" algn="l">
              <a:buNone/>
            </a:pPr>
            <a:r>
              <a:rPr lang="en-US" sz="1100" dirty="0">
                <a:solidFill>
                  <a:srgbClr val="FFFFFF"/>
                </a:solidFill>
                <a:latin typeface="Inter Light" pitchFamily="34" charset="0"/>
                <a:ea typeface="Inter Light" pitchFamily="34" charset="-122"/>
                <a:cs typeface="Inter Light" pitchFamily="34" charset="-120"/>
              </a:rPr>
              <a:t>Developing the primary exam engine and UI framework.</a:t>
            </a:r>
            <a:endParaRPr lang="en-US" sz="1100" dirty="0"/>
          </a:p>
        </p:txBody>
      </p:sp>
      <p:sp>
        <p:nvSpPr>
          <p:cNvPr id="18" name="Shape 15"/>
          <p:cNvSpPr/>
          <p:nvPr/>
        </p:nvSpPr>
        <p:spPr>
          <a:xfrm>
            <a:off x="4587599" y="3415354"/>
            <a:ext cx="3842026" cy="714375"/>
          </a:xfrm>
          <a:prstGeom prst="rect">
            <a:avLst/>
          </a:prstGeom>
          <a:solidFill>
            <a:srgbClr val="0F294A"/>
          </a:solidFill>
          <a:ln/>
        </p:spPr>
      </p:sp>
      <p:sp>
        <p:nvSpPr>
          <p:cNvPr id="19" name="Shape 16"/>
          <p:cNvSpPr/>
          <p:nvPr/>
        </p:nvSpPr>
        <p:spPr>
          <a:xfrm>
            <a:off x="4587599" y="3415354"/>
            <a:ext cx="42863" cy="714375"/>
          </a:xfrm>
          <a:prstGeom prst="rect">
            <a:avLst/>
          </a:prstGeom>
          <a:solidFill>
            <a:srgbClr val="D35400"/>
          </a:solidFill>
          <a:ln/>
        </p:spPr>
      </p:sp>
      <p:sp>
        <p:nvSpPr>
          <p:cNvPr id="20" name="Text 17"/>
          <p:cNvSpPr/>
          <p:nvPr/>
        </p:nvSpPr>
        <p:spPr>
          <a:xfrm>
            <a:off x="4766193" y="3562929"/>
            <a:ext cx="3663432" cy="184666"/>
          </a:xfrm>
          <a:prstGeom prst="rect">
            <a:avLst/>
          </a:prstGeom>
          <a:noFill/>
          <a:ln/>
        </p:spPr>
        <p:txBody>
          <a:bodyPr wrap="square" lIns="0" tIns="0" rIns="0" bIns="0" rtlCol="0" anchor="t">
            <a:spAutoFit/>
          </a:bodyPr>
          <a:lstStyle/>
          <a:p>
            <a:pPr marL="0" indent="0" algn="l">
              <a:buNone/>
            </a:pPr>
            <a:r>
              <a:rPr lang="en-US" sz="1200" kern="0" spc="1" dirty="0">
                <a:solidFill>
                  <a:srgbClr val="D35400"/>
                </a:solidFill>
                <a:latin typeface="Playfair Display Bold" pitchFamily="34" charset="0"/>
                <a:ea typeface="Playfair Display Bold" pitchFamily="34" charset="-122"/>
                <a:cs typeface="Playfair Display Bold" pitchFamily="34" charset="-120"/>
              </a:rPr>
              <a:t>3. TESTING &amp; FEEDBACK</a:t>
            </a:r>
            <a:endParaRPr lang="en-US" sz="1200" dirty="0"/>
          </a:p>
        </p:txBody>
      </p:sp>
      <p:sp>
        <p:nvSpPr>
          <p:cNvPr id="21" name="Text 18"/>
          <p:cNvSpPr/>
          <p:nvPr/>
        </p:nvSpPr>
        <p:spPr>
          <a:xfrm>
            <a:off x="4766193" y="3801318"/>
            <a:ext cx="3663432" cy="169277"/>
          </a:xfrm>
          <a:prstGeom prst="rect">
            <a:avLst/>
          </a:prstGeom>
          <a:noFill/>
          <a:ln/>
        </p:spPr>
        <p:txBody>
          <a:bodyPr wrap="square" lIns="0" tIns="0" rIns="0" bIns="0" rtlCol="0" anchor="t">
            <a:spAutoFit/>
          </a:bodyPr>
          <a:lstStyle/>
          <a:p>
            <a:pPr marL="0" indent="0" algn="l">
              <a:buNone/>
            </a:pPr>
            <a:r>
              <a:rPr lang="en-US" sz="1100" dirty="0">
                <a:solidFill>
                  <a:srgbClr val="FFFFFF"/>
                </a:solidFill>
                <a:latin typeface="Inter Light" pitchFamily="34" charset="0"/>
                <a:ea typeface="Inter Light" pitchFamily="34" charset="-122"/>
                <a:cs typeface="Inter Light" pitchFamily="34" charset="-120"/>
              </a:rPr>
              <a:t>Identifying bugs in anti-cheat and UI scaling.</a:t>
            </a:r>
            <a:endParaRPr lang="en-US" sz="1100" dirty="0"/>
          </a:p>
        </p:txBody>
      </p:sp>
      <p:sp>
        <p:nvSpPr>
          <p:cNvPr id="22" name="Shape 19"/>
          <p:cNvSpPr/>
          <p:nvPr/>
        </p:nvSpPr>
        <p:spPr>
          <a:xfrm>
            <a:off x="4587599" y="4236886"/>
            <a:ext cx="3842026" cy="714375"/>
          </a:xfrm>
          <a:prstGeom prst="rect">
            <a:avLst/>
          </a:prstGeom>
          <a:solidFill>
            <a:srgbClr val="0F294A"/>
          </a:solidFill>
          <a:ln/>
        </p:spPr>
      </p:sp>
      <p:sp>
        <p:nvSpPr>
          <p:cNvPr id="23" name="Shape 20"/>
          <p:cNvSpPr/>
          <p:nvPr/>
        </p:nvSpPr>
        <p:spPr>
          <a:xfrm>
            <a:off x="4587599" y="4236886"/>
            <a:ext cx="42863" cy="714375"/>
          </a:xfrm>
          <a:prstGeom prst="rect">
            <a:avLst/>
          </a:prstGeom>
          <a:solidFill>
            <a:srgbClr val="D35400"/>
          </a:solidFill>
          <a:ln/>
        </p:spPr>
      </p:sp>
      <p:sp>
        <p:nvSpPr>
          <p:cNvPr id="24" name="Text 21"/>
          <p:cNvSpPr/>
          <p:nvPr/>
        </p:nvSpPr>
        <p:spPr>
          <a:xfrm>
            <a:off x="4766193" y="4384462"/>
            <a:ext cx="3663432" cy="184666"/>
          </a:xfrm>
          <a:prstGeom prst="rect">
            <a:avLst/>
          </a:prstGeom>
          <a:noFill/>
          <a:ln/>
        </p:spPr>
        <p:txBody>
          <a:bodyPr wrap="square" lIns="0" tIns="0" rIns="0" bIns="0" rtlCol="0" anchor="t">
            <a:spAutoFit/>
          </a:bodyPr>
          <a:lstStyle/>
          <a:p>
            <a:pPr marL="0" indent="0" algn="l">
              <a:buNone/>
            </a:pPr>
            <a:r>
              <a:rPr lang="en-US" sz="1200" kern="0" spc="1" dirty="0">
                <a:solidFill>
                  <a:srgbClr val="D35400"/>
                </a:solidFill>
                <a:latin typeface="Playfair Display Bold" pitchFamily="34" charset="0"/>
                <a:ea typeface="Playfair Display Bold" pitchFamily="34" charset="-122"/>
                <a:cs typeface="Playfair Display Bold" pitchFamily="34" charset="-120"/>
              </a:rPr>
              <a:t>4. ENHANCEMENT &amp; DEPLOYMENT</a:t>
            </a:r>
            <a:endParaRPr lang="en-US" sz="1200" dirty="0"/>
          </a:p>
        </p:txBody>
      </p:sp>
      <p:sp>
        <p:nvSpPr>
          <p:cNvPr id="25" name="Text 22"/>
          <p:cNvSpPr/>
          <p:nvPr/>
        </p:nvSpPr>
        <p:spPr>
          <a:xfrm>
            <a:off x="4766193" y="4611275"/>
            <a:ext cx="3663432" cy="169277"/>
          </a:xfrm>
          <a:prstGeom prst="rect">
            <a:avLst/>
          </a:prstGeom>
          <a:noFill/>
          <a:ln/>
        </p:spPr>
        <p:txBody>
          <a:bodyPr wrap="square" lIns="0" tIns="0" rIns="0" bIns="0" rtlCol="0" anchor="t">
            <a:spAutoFit/>
          </a:bodyPr>
          <a:lstStyle/>
          <a:p>
            <a:pPr marL="0" indent="0" algn="l">
              <a:buNone/>
            </a:pPr>
            <a:r>
              <a:rPr lang="en-US" sz="1100" dirty="0">
                <a:solidFill>
                  <a:srgbClr val="FFFFFF"/>
                </a:solidFill>
                <a:latin typeface="Inter Light" pitchFamily="34" charset="0"/>
                <a:ea typeface="Inter Light" pitchFamily="34" charset="-122"/>
                <a:cs typeface="Inter Light" pitchFamily="34" charset="-120"/>
              </a:rPr>
              <a:t>Fixing critical issues and polishing the user experience.</a:t>
            </a:r>
            <a:endParaRPr lang="en-US" sz="1100" dirty="0"/>
          </a:p>
        </p:txBody>
      </p:sp>
      <p:sp>
        <p:nvSpPr>
          <p:cNvPr id="26" name="Shape 1"/>
          <p:cNvSpPr/>
          <p:nvPr/>
        </p:nvSpPr>
        <p:spPr>
          <a:xfrm>
            <a:off x="1086" y="713230"/>
            <a:ext cx="57150" cy="701873"/>
          </a:xfrm>
          <a:prstGeom prst="rect">
            <a:avLst/>
          </a:prstGeom>
          <a:solidFill>
            <a:srgbClr val="0070C0"/>
          </a:solidFill>
          <a:ln>
            <a:noFill/>
          </a:ln>
        </p:spPr>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93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Used </a:t>
            </a:r>
            <a:r>
              <a:rPr lang="en-US" sz="2450" b="1" dirty="0">
                <a:solidFill>
                  <a:srgbClr val="0F294A"/>
                </a:solidFill>
                <a:latin typeface="Playfair Display Bold" pitchFamily="34" charset="0"/>
                <a:ea typeface="Playfair Display Bold" pitchFamily="34" charset="-122"/>
                <a:cs typeface="Playfair Display Bold" pitchFamily="34" charset="-120"/>
              </a:rPr>
              <a:t>Technologies</a:t>
            </a:r>
            <a:endParaRPr lang="en-US" sz="2450" dirty="0"/>
          </a:p>
        </p:txBody>
      </p:sp>
      <p:sp>
        <p:nvSpPr>
          <p:cNvPr id="6" name="Text 3"/>
          <p:cNvSpPr/>
          <p:nvPr/>
        </p:nvSpPr>
        <p:spPr>
          <a:xfrm>
            <a:off x="714375" y="1114040"/>
            <a:ext cx="7658100" cy="173235"/>
          </a:xfrm>
          <a:prstGeom prst="rect">
            <a:avLst/>
          </a:prstGeom>
          <a:noFill/>
          <a:ln/>
        </p:spPr>
        <p:txBody>
          <a:bodyPr wrap="square" lIns="170053" tIns="0" rIns="0" bIns="0" rtlCol="0" anchor="t">
            <a:spAutoFit/>
          </a:bodyPr>
          <a:lstStyle/>
          <a:p>
            <a:pPr marL="0" indent="0" algn="l">
              <a:buNone/>
            </a:pPr>
            <a:r>
              <a:rPr lang="en-US" sz="1100" kern="0" spc="2" dirty="0">
                <a:solidFill>
                  <a:srgbClr val="2980B9"/>
                </a:solidFill>
                <a:latin typeface="Inter Medium" pitchFamily="34" charset="0"/>
                <a:ea typeface="Inter Medium" pitchFamily="34" charset="-122"/>
                <a:cs typeface="Inter Medium" pitchFamily="34" charset="-120"/>
              </a:rPr>
              <a:t>THE TECHNICAL FOUNDATION OF OES-ACS</a:t>
            </a:r>
            <a:endParaRPr lang="en-US" sz="1100" dirty="0"/>
          </a:p>
        </p:txBody>
      </p:sp>
      <p:pic>
        <p:nvPicPr>
          <p:cNvPr id="7" name="Image 1" descr="preencoded.png"/>
          <p:cNvPicPr>
            <a:picLocks noChangeAspect="1"/>
          </p:cNvPicPr>
          <p:nvPr/>
        </p:nvPicPr>
        <p:blipFill>
          <a:blip r:embed="rId4"/>
          <a:stretch>
            <a:fillRect/>
          </a:stretch>
        </p:blipFill>
        <p:spPr>
          <a:xfrm>
            <a:off x="714375" y="2043754"/>
            <a:ext cx="192881" cy="171450"/>
          </a:xfrm>
          <a:prstGeom prst="rect">
            <a:avLst/>
          </a:prstGeom>
        </p:spPr>
      </p:pic>
      <p:sp>
        <p:nvSpPr>
          <p:cNvPr id="8" name="Text 4"/>
          <p:cNvSpPr/>
          <p:nvPr/>
        </p:nvSpPr>
        <p:spPr>
          <a:xfrm>
            <a:off x="978694" y="2015179"/>
            <a:ext cx="734020" cy="228600"/>
          </a:xfrm>
          <a:prstGeom prst="rect">
            <a:avLst/>
          </a:prstGeom>
          <a:noFill/>
          <a:ln/>
        </p:spPr>
        <p:txBody>
          <a:bodyPr wrap="none" lIns="0" tIns="0" rIns="0" bIns="0" rtlCol="0" anchor="t">
            <a:spAutoFit/>
          </a:bodyPr>
          <a:lstStyle/>
          <a:p>
            <a:pPr marL="0" indent="0" algn="l">
              <a:buNone/>
            </a:pPr>
            <a:r>
              <a:rPr lang="en-US" sz="1250" dirty="0">
                <a:solidFill>
                  <a:srgbClr val="D35400"/>
                </a:solidFill>
                <a:latin typeface="Playfair Display Bold" pitchFamily="34" charset="0"/>
                <a:ea typeface="Playfair Display Bold" pitchFamily="34" charset="-122"/>
                <a:cs typeface="Playfair Display Bold" pitchFamily="34" charset="-120"/>
              </a:rPr>
              <a:t>Frontend</a:t>
            </a:r>
            <a:endParaRPr lang="en-US" sz="1250" dirty="0"/>
          </a:p>
        </p:txBody>
      </p:sp>
      <p:grpSp>
        <p:nvGrpSpPr>
          <p:cNvPr id="34" name="Group 33"/>
          <p:cNvGrpSpPr/>
          <p:nvPr/>
        </p:nvGrpSpPr>
        <p:grpSpPr>
          <a:xfrm>
            <a:off x="714375" y="2492278"/>
            <a:ext cx="2130226" cy="275332"/>
            <a:chOff x="714375" y="2386654"/>
            <a:chExt cx="1603772" cy="275332"/>
          </a:xfrm>
        </p:grpSpPr>
        <p:sp>
          <p:nvSpPr>
            <p:cNvPr id="9" name="Text 5"/>
            <p:cNvSpPr/>
            <p:nvPr/>
          </p:nvSpPr>
          <p:spPr>
            <a:xfrm>
              <a:off x="714375" y="2386654"/>
              <a:ext cx="1603772" cy="153888"/>
            </a:xfrm>
            <a:prstGeom prst="rect">
              <a:avLst/>
            </a:prstGeom>
            <a:noFill/>
            <a:ln/>
          </p:spPr>
          <p:txBody>
            <a:bodyPr wrap="squar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Python Tkinter</a:t>
              </a:r>
              <a:endParaRPr lang="en-US" sz="1000" b="1" dirty="0"/>
            </a:p>
          </p:txBody>
        </p:sp>
        <p:sp>
          <p:nvSpPr>
            <p:cNvPr id="10" name="Text 6"/>
            <p:cNvSpPr/>
            <p:nvPr/>
          </p:nvSpPr>
          <p:spPr>
            <a:xfrm>
              <a:off x="714375" y="2508098"/>
              <a:ext cx="1603772" cy="153888"/>
            </a:xfrm>
            <a:prstGeom prst="rect">
              <a:avLst/>
            </a:prstGeom>
            <a:noFill/>
            <a:ln/>
          </p:spPr>
          <p:txBody>
            <a:bodyPr wrap="squar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UI Framework &amp; Custom Gradients</a:t>
              </a:r>
              <a:endParaRPr lang="en-US" sz="1000" dirty="0"/>
            </a:p>
          </p:txBody>
        </p:sp>
      </p:grpSp>
      <p:grpSp>
        <p:nvGrpSpPr>
          <p:cNvPr id="33" name="Group 32"/>
          <p:cNvGrpSpPr/>
          <p:nvPr/>
        </p:nvGrpSpPr>
        <p:grpSpPr>
          <a:xfrm>
            <a:off x="683123" y="2934549"/>
            <a:ext cx="2161478" cy="275332"/>
            <a:chOff x="714375" y="2715267"/>
            <a:chExt cx="1387673" cy="275332"/>
          </a:xfrm>
        </p:grpSpPr>
        <p:sp>
          <p:nvSpPr>
            <p:cNvPr id="11" name="Text 7"/>
            <p:cNvSpPr/>
            <p:nvPr/>
          </p:nvSpPr>
          <p:spPr>
            <a:xfrm>
              <a:off x="714375" y="2715267"/>
              <a:ext cx="1387673" cy="153888"/>
            </a:xfrm>
            <a:prstGeom prst="rect">
              <a:avLst/>
            </a:prstGeom>
            <a:noFill/>
            <a:ln/>
          </p:spPr>
          <p:txBody>
            <a:bodyPr wrap="squar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Responsive Grid</a:t>
              </a:r>
              <a:endParaRPr lang="en-US" sz="1000" b="1" dirty="0"/>
            </a:p>
          </p:txBody>
        </p:sp>
        <p:sp>
          <p:nvSpPr>
            <p:cNvPr id="12" name="Text 8"/>
            <p:cNvSpPr/>
            <p:nvPr/>
          </p:nvSpPr>
          <p:spPr>
            <a:xfrm>
              <a:off x="714375" y="2836711"/>
              <a:ext cx="1387673" cy="153888"/>
            </a:xfrm>
            <a:prstGeom prst="rect">
              <a:avLst/>
            </a:prstGeom>
            <a:noFill/>
            <a:ln/>
          </p:spPr>
          <p:txBody>
            <a:bodyPr wrap="squar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Dynamic Layout Management</a:t>
              </a:r>
              <a:endParaRPr lang="en-US" sz="1000" dirty="0"/>
            </a:p>
          </p:txBody>
        </p:sp>
      </p:grpSp>
      <p:pic>
        <p:nvPicPr>
          <p:cNvPr id="13" name="Image 2" descr="preencoded.png"/>
          <p:cNvPicPr>
            <a:picLocks noChangeAspect="1"/>
          </p:cNvPicPr>
          <p:nvPr/>
        </p:nvPicPr>
        <p:blipFill>
          <a:blip r:embed="rId5"/>
          <a:stretch>
            <a:fillRect/>
          </a:stretch>
        </p:blipFill>
        <p:spPr>
          <a:xfrm>
            <a:off x="3357563" y="2043754"/>
            <a:ext cx="171450" cy="171450"/>
          </a:xfrm>
          <a:prstGeom prst="rect">
            <a:avLst/>
          </a:prstGeom>
        </p:spPr>
      </p:pic>
      <p:sp>
        <p:nvSpPr>
          <p:cNvPr id="14" name="Text 9"/>
          <p:cNvSpPr/>
          <p:nvPr/>
        </p:nvSpPr>
        <p:spPr>
          <a:xfrm>
            <a:off x="3600450" y="2015179"/>
            <a:ext cx="1134070" cy="228600"/>
          </a:xfrm>
          <a:prstGeom prst="rect">
            <a:avLst/>
          </a:prstGeom>
          <a:noFill/>
          <a:ln/>
        </p:spPr>
        <p:txBody>
          <a:bodyPr wrap="none" lIns="0" tIns="0" rIns="0" bIns="0" rtlCol="0" anchor="t">
            <a:spAutoFit/>
          </a:bodyPr>
          <a:lstStyle/>
          <a:p>
            <a:pPr marL="0" indent="0" algn="l">
              <a:buNone/>
            </a:pPr>
            <a:r>
              <a:rPr lang="en-US" sz="1250" dirty="0">
                <a:solidFill>
                  <a:srgbClr val="D35400"/>
                </a:solidFill>
                <a:latin typeface="Playfair Display Bold" pitchFamily="34" charset="0"/>
                <a:ea typeface="Playfair Display Bold" pitchFamily="34" charset="-122"/>
                <a:cs typeface="Playfair Display Bold" pitchFamily="34" charset="-120"/>
              </a:rPr>
              <a:t>Security &amp; DB</a:t>
            </a:r>
            <a:endParaRPr lang="en-US" sz="1250" dirty="0"/>
          </a:p>
        </p:txBody>
      </p:sp>
      <p:grpSp>
        <p:nvGrpSpPr>
          <p:cNvPr id="35" name="Group 34"/>
          <p:cNvGrpSpPr/>
          <p:nvPr/>
        </p:nvGrpSpPr>
        <p:grpSpPr>
          <a:xfrm>
            <a:off x="3541513" y="2422373"/>
            <a:ext cx="1526059" cy="275332"/>
            <a:chOff x="3357563" y="2386654"/>
            <a:chExt cx="1225561" cy="275332"/>
          </a:xfrm>
        </p:grpSpPr>
        <p:sp>
          <p:nvSpPr>
            <p:cNvPr id="15" name="Text 10"/>
            <p:cNvSpPr/>
            <p:nvPr/>
          </p:nvSpPr>
          <p:spPr>
            <a:xfrm>
              <a:off x="3357563" y="2386654"/>
              <a:ext cx="434414" cy="153888"/>
            </a:xfrm>
            <a:prstGeom prst="rect">
              <a:avLst/>
            </a:prstGeom>
            <a:noFill/>
            <a:ln/>
          </p:spPr>
          <p:txBody>
            <a:bodyPr wrap="non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SQLite3</a:t>
              </a:r>
              <a:endParaRPr lang="en-US" sz="1000" b="1" dirty="0"/>
            </a:p>
          </p:txBody>
        </p:sp>
        <p:sp>
          <p:nvSpPr>
            <p:cNvPr id="16" name="Text 11"/>
            <p:cNvSpPr/>
            <p:nvPr/>
          </p:nvSpPr>
          <p:spPr>
            <a:xfrm>
              <a:off x="3357563" y="2508098"/>
              <a:ext cx="1225561" cy="153888"/>
            </a:xfrm>
            <a:prstGeom prst="rect">
              <a:avLst/>
            </a:prstGeom>
            <a:noFill/>
            <a:ln/>
          </p:spPr>
          <p:txBody>
            <a:bodyPr wrap="non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Secure Local Data Storage</a:t>
              </a:r>
              <a:endParaRPr lang="en-US" sz="1000" dirty="0"/>
            </a:p>
          </p:txBody>
        </p:sp>
      </p:grpSp>
      <p:grpSp>
        <p:nvGrpSpPr>
          <p:cNvPr id="36" name="Group 35"/>
          <p:cNvGrpSpPr/>
          <p:nvPr/>
        </p:nvGrpSpPr>
        <p:grpSpPr>
          <a:xfrm>
            <a:off x="3541514" y="2779352"/>
            <a:ext cx="1976636" cy="275332"/>
            <a:chOff x="3357563" y="2715267"/>
            <a:chExt cx="1457325" cy="275332"/>
          </a:xfrm>
        </p:grpSpPr>
        <p:sp>
          <p:nvSpPr>
            <p:cNvPr id="17" name="Text 12"/>
            <p:cNvSpPr/>
            <p:nvPr/>
          </p:nvSpPr>
          <p:spPr>
            <a:xfrm>
              <a:off x="3357563" y="2715267"/>
              <a:ext cx="1457325" cy="153888"/>
            </a:xfrm>
            <a:prstGeom prst="rect">
              <a:avLst/>
            </a:prstGeom>
            <a:noFill/>
            <a:ln/>
          </p:spPr>
          <p:txBody>
            <a:bodyPr wrap="squar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Win32 API</a:t>
              </a:r>
              <a:endParaRPr lang="en-US" sz="1000" b="1" dirty="0"/>
            </a:p>
          </p:txBody>
        </p:sp>
        <p:sp>
          <p:nvSpPr>
            <p:cNvPr id="18" name="Text 13"/>
            <p:cNvSpPr/>
            <p:nvPr/>
          </p:nvSpPr>
          <p:spPr>
            <a:xfrm>
              <a:off x="3357563" y="2836711"/>
              <a:ext cx="1457325" cy="153888"/>
            </a:xfrm>
            <a:prstGeom prst="rect">
              <a:avLst/>
            </a:prstGeom>
            <a:noFill/>
            <a:ln/>
          </p:spPr>
          <p:txBody>
            <a:bodyPr wrap="squar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Low-level OS Focus Monitoring</a:t>
              </a:r>
              <a:endParaRPr lang="en-US" sz="1000" dirty="0"/>
            </a:p>
          </p:txBody>
        </p:sp>
      </p:grpSp>
      <p:grpSp>
        <p:nvGrpSpPr>
          <p:cNvPr id="37" name="Group 36"/>
          <p:cNvGrpSpPr/>
          <p:nvPr/>
        </p:nvGrpSpPr>
        <p:grpSpPr>
          <a:xfrm>
            <a:off x="3541514" y="3117087"/>
            <a:ext cx="1748036" cy="275332"/>
            <a:chOff x="3357563" y="3043879"/>
            <a:chExt cx="1314450" cy="275332"/>
          </a:xfrm>
        </p:grpSpPr>
        <p:sp>
          <p:nvSpPr>
            <p:cNvPr id="19" name="Text 14"/>
            <p:cNvSpPr/>
            <p:nvPr/>
          </p:nvSpPr>
          <p:spPr>
            <a:xfrm>
              <a:off x="3357563" y="3043879"/>
              <a:ext cx="1314450" cy="153888"/>
            </a:xfrm>
            <a:prstGeom prst="rect">
              <a:avLst/>
            </a:prstGeom>
            <a:noFill/>
            <a:ln/>
          </p:spPr>
          <p:txBody>
            <a:bodyPr wrap="squar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Hashlib</a:t>
              </a:r>
              <a:endParaRPr lang="en-US" sz="1000" b="1" dirty="0"/>
            </a:p>
          </p:txBody>
        </p:sp>
        <p:sp>
          <p:nvSpPr>
            <p:cNvPr id="20" name="Text 15"/>
            <p:cNvSpPr/>
            <p:nvPr/>
          </p:nvSpPr>
          <p:spPr>
            <a:xfrm>
              <a:off x="3357563" y="3165323"/>
              <a:ext cx="1314450" cy="153888"/>
            </a:xfrm>
            <a:prstGeom prst="rect">
              <a:avLst/>
            </a:prstGeom>
            <a:noFill/>
            <a:ln/>
          </p:spPr>
          <p:txBody>
            <a:bodyPr wrap="squar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SHA-256 Password Hashing</a:t>
              </a:r>
              <a:endParaRPr lang="en-US" sz="1000" dirty="0"/>
            </a:p>
          </p:txBody>
        </p:sp>
      </p:grpSp>
      <p:pic>
        <p:nvPicPr>
          <p:cNvPr id="21" name="Image 3" descr="preencoded.png"/>
          <p:cNvPicPr>
            <a:picLocks noChangeAspect="1"/>
          </p:cNvPicPr>
          <p:nvPr/>
        </p:nvPicPr>
        <p:blipFill>
          <a:blip r:embed="rId6"/>
          <a:stretch>
            <a:fillRect/>
          </a:stretch>
        </p:blipFill>
        <p:spPr>
          <a:xfrm>
            <a:off x="6000750" y="2043754"/>
            <a:ext cx="214313" cy="171450"/>
          </a:xfrm>
          <a:prstGeom prst="rect">
            <a:avLst/>
          </a:prstGeom>
        </p:spPr>
      </p:pic>
      <p:sp>
        <p:nvSpPr>
          <p:cNvPr id="22" name="Text 16"/>
          <p:cNvSpPr/>
          <p:nvPr/>
        </p:nvSpPr>
        <p:spPr>
          <a:xfrm>
            <a:off x="6286500" y="2015179"/>
            <a:ext cx="617934" cy="228600"/>
          </a:xfrm>
          <a:prstGeom prst="rect">
            <a:avLst/>
          </a:prstGeom>
          <a:noFill/>
          <a:ln/>
        </p:spPr>
        <p:txBody>
          <a:bodyPr wrap="none" lIns="0" tIns="0" rIns="0" bIns="0" rtlCol="0" anchor="t">
            <a:spAutoFit/>
          </a:bodyPr>
          <a:lstStyle/>
          <a:p>
            <a:pPr marL="0" indent="0" algn="l">
              <a:buNone/>
            </a:pPr>
            <a:r>
              <a:rPr lang="en-US" sz="1250" dirty="0">
                <a:solidFill>
                  <a:srgbClr val="D35400"/>
                </a:solidFill>
                <a:latin typeface="Playfair Display Bold" pitchFamily="34" charset="0"/>
                <a:ea typeface="Playfair Display Bold" pitchFamily="34" charset="-122"/>
                <a:cs typeface="Playfair Display Bold" pitchFamily="34" charset="-120"/>
              </a:rPr>
              <a:t>Utilities</a:t>
            </a:r>
            <a:endParaRPr lang="en-US" sz="1250" dirty="0"/>
          </a:p>
        </p:txBody>
      </p:sp>
      <p:grpSp>
        <p:nvGrpSpPr>
          <p:cNvPr id="39" name="Group 38"/>
          <p:cNvGrpSpPr/>
          <p:nvPr/>
        </p:nvGrpSpPr>
        <p:grpSpPr>
          <a:xfrm>
            <a:off x="6215063" y="2379509"/>
            <a:ext cx="1887537" cy="275332"/>
            <a:chOff x="6000750" y="2386654"/>
            <a:chExt cx="1519833" cy="275332"/>
          </a:xfrm>
        </p:grpSpPr>
        <p:sp>
          <p:nvSpPr>
            <p:cNvPr id="23" name="Text 17"/>
            <p:cNvSpPr/>
            <p:nvPr/>
          </p:nvSpPr>
          <p:spPr>
            <a:xfrm>
              <a:off x="6000750" y="2386654"/>
              <a:ext cx="1519833" cy="153888"/>
            </a:xfrm>
            <a:prstGeom prst="rect">
              <a:avLst/>
            </a:prstGeom>
            <a:noFill/>
            <a:ln/>
          </p:spPr>
          <p:txBody>
            <a:bodyPr wrap="squar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Threading</a:t>
              </a:r>
              <a:endParaRPr lang="en-US" sz="1000" b="1" dirty="0"/>
            </a:p>
          </p:txBody>
        </p:sp>
        <p:sp>
          <p:nvSpPr>
            <p:cNvPr id="24" name="Text 18"/>
            <p:cNvSpPr/>
            <p:nvPr/>
          </p:nvSpPr>
          <p:spPr>
            <a:xfrm>
              <a:off x="6000750" y="2508098"/>
              <a:ext cx="1519833" cy="153888"/>
            </a:xfrm>
            <a:prstGeom prst="rect">
              <a:avLst/>
            </a:prstGeom>
            <a:noFill/>
            <a:ln/>
          </p:spPr>
          <p:txBody>
            <a:bodyPr wrap="squar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Non-blocking Background Tasks</a:t>
              </a:r>
              <a:endParaRPr lang="en-US" sz="1000" dirty="0"/>
            </a:p>
          </p:txBody>
        </p:sp>
      </p:grpSp>
      <p:grpSp>
        <p:nvGrpSpPr>
          <p:cNvPr id="40" name="Group 39"/>
          <p:cNvGrpSpPr/>
          <p:nvPr/>
        </p:nvGrpSpPr>
        <p:grpSpPr>
          <a:xfrm>
            <a:off x="6215063" y="2863564"/>
            <a:ext cx="1951037" cy="275332"/>
            <a:chOff x="6000750" y="2715267"/>
            <a:chExt cx="1460897" cy="275332"/>
          </a:xfrm>
        </p:grpSpPr>
        <p:sp>
          <p:nvSpPr>
            <p:cNvPr id="25" name="Text 19"/>
            <p:cNvSpPr/>
            <p:nvPr/>
          </p:nvSpPr>
          <p:spPr>
            <a:xfrm>
              <a:off x="6000750" y="2715267"/>
              <a:ext cx="1460897" cy="153888"/>
            </a:xfrm>
            <a:prstGeom prst="rect">
              <a:avLst/>
            </a:prstGeom>
            <a:noFill/>
            <a:ln/>
          </p:spPr>
          <p:txBody>
            <a:bodyPr wrap="square" lIns="0" tIns="0" rIns="0" bIns="0" rtlCol="0" anchor="t">
              <a:spAutoFit/>
            </a:bodyPr>
            <a:lstStyle/>
            <a:p>
              <a:pPr marL="0" indent="0" algn="l">
                <a:buNone/>
              </a:pPr>
              <a:r>
                <a:rPr lang="en-US" sz="1000" b="1" dirty="0">
                  <a:solidFill>
                    <a:srgbClr val="7F8C8D"/>
                  </a:solidFill>
                  <a:latin typeface="Inter Light" pitchFamily="34" charset="0"/>
                  <a:ea typeface="Inter Light" pitchFamily="34" charset="-122"/>
                  <a:cs typeface="Inter Light" pitchFamily="34" charset="-120"/>
                </a:rPr>
                <a:t>Keyboard Lib</a:t>
              </a:r>
              <a:endParaRPr lang="en-US" sz="1000" b="1" dirty="0"/>
            </a:p>
          </p:txBody>
        </p:sp>
        <p:sp>
          <p:nvSpPr>
            <p:cNvPr id="26" name="Text 20"/>
            <p:cNvSpPr/>
            <p:nvPr/>
          </p:nvSpPr>
          <p:spPr>
            <a:xfrm>
              <a:off x="6000750" y="2836711"/>
              <a:ext cx="1460897" cy="153888"/>
            </a:xfrm>
            <a:prstGeom prst="rect">
              <a:avLst/>
            </a:prstGeom>
            <a:noFill/>
            <a:ln/>
          </p:spPr>
          <p:txBody>
            <a:bodyPr wrap="square" lIns="0" tIns="0" rIns="0" bIns="0" rtlCol="0" anchor="t">
              <a:spAutoFit/>
            </a:bodyPr>
            <a:lstStyle/>
            <a:p>
              <a:pPr marL="0" indent="0" algn="l">
                <a:buNone/>
              </a:pPr>
              <a:r>
                <a:rPr lang="en-US" sz="1000" dirty="0">
                  <a:latin typeface="Inter Light" pitchFamily="34" charset="0"/>
                  <a:ea typeface="Inter Light" pitchFamily="34" charset="-122"/>
                  <a:cs typeface="Inter Light" pitchFamily="34" charset="-120"/>
                </a:rPr>
                <a:t>System-wide Shortcut Blocking</a:t>
              </a:r>
              <a:endParaRPr lang="en-US" sz="1000" dirty="0"/>
            </a:p>
          </p:txBody>
        </p:sp>
      </p:grpSp>
      <p:sp>
        <p:nvSpPr>
          <p:cNvPr id="27" name="Shape 21"/>
          <p:cNvSpPr/>
          <p:nvPr/>
        </p:nvSpPr>
        <p:spPr>
          <a:xfrm>
            <a:off x="714375" y="3872554"/>
            <a:ext cx="7715250" cy="1071563"/>
          </a:xfrm>
          <a:prstGeom prst="rect">
            <a:avLst/>
          </a:prstGeom>
          <a:solidFill>
            <a:srgbClr val="0F294A"/>
          </a:solidFill>
          <a:ln/>
        </p:spPr>
      </p:sp>
      <p:sp>
        <p:nvSpPr>
          <p:cNvPr id="28" name="Shape 22"/>
          <p:cNvSpPr/>
          <p:nvPr/>
        </p:nvSpPr>
        <p:spPr>
          <a:xfrm>
            <a:off x="714375" y="3872554"/>
            <a:ext cx="57150" cy="1071563"/>
          </a:xfrm>
          <a:prstGeom prst="rect">
            <a:avLst/>
          </a:prstGeom>
          <a:solidFill>
            <a:srgbClr val="2980B9"/>
          </a:solidFill>
          <a:ln/>
        </p:spPr>
      </p:sp>
      <p:sp>
        <p:nvSpPr>
          <p:cNvPr id="29" name="Text 23"/>
          <p:cNvSpPr/>
          <p:nvPr/>
        </p:nvSpPr>
        <p:spPr>
          <a:xfrm>
            <a:off x="1000125" y="4285999"/>
            <a:ext cx="7429500" cy="153888"/>
          </a:xfrm>
          <a:prstGeom prst="rect">
            <a:avLst/>
          </a:prstGeom>
          <a:noFill/>
          <a:ln/>
        </p:spPr>
        <p:txBody>
          <a:bodyPr wrap="square" lIns="0" tIns="0" rIns="0" bIns="0" rtlCol="0" anchor="t">
            <a:spAutoFit/>
          </a:bodyPr>
          <a:lstStyle/>
          <a:p>
            <a:pPr marL="0" indent="0" algn="l">
              <a:buNone/>
            </a:pPr>
            <a:r>
              <a:rPr lang="en-US" sz="1000" kern="0" spc="2" dirty="0">
                <a:solidFill>
                  <a:srgbClr val="D35400"/>
                </a:solidFill>
                <a:latin typeface="Inter" pitchFamily="34" charset="0"/>
                <a:ea typeface="Inter" pitchFamily="34" charset="-122"/>
                <a:cs typeface="Inter" pitchFamily="34" charset="-120"/>
              </a:rPr>
              <a:t>PROJECT REPOSITORY</a:t>
            </a:r>
            <a:endParaRPr lang="en-US" sz="1000" dirty="0"/>
          </a:p>
        </p:txBody>
      </p:sp>
      <p:pic>
        <p:nvPicPr>
          <p:cNvPr id="30" name="Image 4" descr="preencoded.png"/>
          <p:cNvPicPr>
            <a:picLocks noChangeAspect="1"/>
          </p:cNvPicPr>
          <p:nvPr/>
        </p:nvPicPr>
        <p:blipFill>
          <a:blip r:embed="rId7"/>
          <a:stretch>
            <a:fillRect/>
          </a:stretch>
        </p:blipFill>
        <p:spPr>
          <a:xfrm>
            <a:off x="1000125" y="4519957"/>
            <a:ext cx="194667" cy="200025"/>
          </a:xfrm>
          <a:prstGeom prst="rect">
            <a:avLst/>
          </a:prstGeom>
        </p:spPr>
      </p:pic>
      <p:sp>
        <p:nvSpPr>
          <p:cNvPr id="31" name="Text 24"/>
          <p:cNvSpPr/>
          <p:nvPr/>
        </p:nvSpPr>
        <p:spPr>
          <a:xfrm>
            <a:off x="1301948" y="4478880"/>
            <a:ext cx="4139803" cy="266105"/>
          </a:xfrm>
          <a:prstGeom prst="rect">
            <a:avLst/>
          </a:prstGeom>
          <a:noFill/>
          <a:ln/>
        </p:spPr>
        <p:txBody>
          <a:bodyPr wrap="square" lIns="0" tIns="0" rIns="0" bIns="0" rtlCol="0" anchor="t">
            <a:spAutoFit/>
          </a:bodyPr>
          <a:lstStyle/>
          <a:p>
            <a:pPr marL="0" indent="0" algn="l">
              <a:buNone/>
            </a:pPr>
            <a:r>
              <a:rPr lang="en-US" sz="1500" dirty="0">
                <a:solidFill>
                  <a:srgbClr val="FFFFFF"/>
                </a:solidFill>
                <a:latin typeface="Playfair Display Bold" pitchFamily="34" charset="0"/>
                <a:ea typeface="Playfair Display Bold" pitchFamily="34" charset="-122"/>
                <a:cs typeface="Playfair Display Bold" pitchFamily="34" charset="-120"/>
              </a:rPr>
              <a:t>github.com/RZBv2/Team-Double-Quotation</a:t>
            </a:r>
            <a:endParaRPr lang="en-US" sz="1500" dirty="0"/>
          </a:p>
        </p:txBody>
      </p:sp>
      <p:sp>
        <p:nvSpPr>
          <p:cNvPr id="32" name="Shape 1"/>
          <p:cNvSpPr/>
          <p:nvPr/>
        </p:nvSpPr>
        <p:spPr>
          <a:xfrm>
            <a:off x="1086" y="713230"/>
            <a:ext cx="57150" cy="701873"/>
          </a:xfrm>
          <a:prstGeom prst="rect">
            <a:avLst/>
          </a:prstGeom>
          <a:solidFill>
            <a:schemeClr val="accent2">
              <a:lumMod val="75000"/>
            </a:schemeClr>
          </a:solidFill>
          <a:ln>
            <a:noFill/>
          </a:ln>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332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System </a:t>
            </a:r>
            <a:r>
              <a:rPr lang="en-US" sz="2450" b="1" dirty="0">
                <a:solidFill>
                  <a:srgbClr val="0F294A"/>
                </a:solidFill>
                <a:latin typeface="Playfair Display Bold" pitchFamily="34" charset="0"/>
                <a:ea typeface="Playfair Display Bold" pitchFamily="34" charset="-122"/>
                <a:cs typeface="Playfair Display Bold" pitchFamily="34" charset="-120"/>
              </a:rPr>
              <a:t>Walkthrough</a:t>
            </a:r>
            <a:endParaRPr lang="en-US" sz="2450" dirty="0"/>
          </a:p>
        </p:txBody>
      </p:sp>
      <p:sp>
        <p:nvSpPr>
          <p:cNvPr id="6" name="Text 3"/>
          <p:cNvSpPr/>
          <p:nvPr/>
        </p:nvSpPr>
        <p:spPr>
          <a:xfrm>
            <a:off x="714375" y="725528"/>
            <a:ext cx="7118350" cy="161583"/>
          </a:xfrm>
          <a:prstGeom prst="rect">
            <a:avLst/>
          </a:prstGeom>
          <a:noFill/>
          <a:ln/>
        </p:spPr>
        <p:txBody>
          <a:bodyPr wrap="square" lIns="170053" tIns="0" rIns="0" bIns="0" rtlCol="0" anchor="t">
            <a:spAutoFit/>
          </a:bodyPr>
          <a:lstStyle/>
          <a:p>
            <a:pPr marL="0" indent="0" algn="l">
              <a:buNone/>
            </a:pPr>
            <a:r>
              <a:rPr lang="en-US" sz="1050" kern="0" spc="2" dirty="0">
                <a:solidFill>
                  <a:srgbClr val="2980B9"/>
                </a:solidFill>
                <a:latin typeface="Inter" pitchFamily="34" charset="0"/>
                <a:ea typeface="Inter" pitchFamily="34" charset="-122"/>
                <a:cs typeface="Inter" pitchFamily="34" charset="-120"/>
              </a:rPr>
              <a:t>VISUAL JOURNEY OF THE OES-ACS ENVIRONMENT</a:t>
            </a:r>
            <a:endParaRPr lang="en-US" sz="1050" dirty="0"/>
          </a:p>
        </p:txBody>
      </p:sp>
      <p:sp>
        <p:nvSpPr>
          <p:cNvPr id="7" name="Shape 4"/>
          <p:cNvSpPr/>
          <p:nvPr/>
        </p:nvSpPr>
        <p:spPr>
          <a:xfrm>
            <a:off x="714375" y="1557979"/>
            <a:ext cx="3786188" cy="1543050"/>
          </a:xfrm>
          <a:prstGeom prst="rect">
            <a:avLst/>
          </a:prstGeom>
          <a:solidFill>
            <a:srgbClr val="F8F9FA"/>
          </a:solidFill>
          <a:ln/>
        </p:spPr>
      </p:sp>
      <p:sp>
        <p:nvSpPr>
          <p:cNvPr id="8" name="Shape 5"/>
          <p:cNvSpPr/>
          <p:nvPr/>
        </p:nvSpPr>
        <p:spPr>
          <a:xfrm>
            <a:off x="714375" y="1303979"/>
            <a:ext cx="3786188" cy="28575"/>
          </a:xfrm>
          <a:prstGeom prst="rect">
            <a:avLst/>
          </a:prstGeom>
          <a:solidFill>
            <a:srgbClr val="0F294A"/>
          </a:solidFill>
          <a:ln/>
        </p:spPr>
      </p:sp>
      <p:sp>
        <p:nvSpPr>
          <p:cNvPr id="9" name="Shape 6"/>
          <p:cNvSpPr/>
          <p:nvPr/>
        </p:nvSpPr>
        <p:spPr>
          <a:xfrm>
            <a:off x="892969" y="1389704"/>
            <a:ext cx="3429000" cy="714375"/>
          </a:xfrm>
          <a:prstGeom prst="rect">
            <a:avLst/>
          </a:prstGeom>
          <a:solidFill>
            <a:srgbClr val="0F294A"/>
          </a:solidFill>
          <a:ln/>
        </p:spPr>
      </p:sp>
      <p:pic>
        <p:nvPicPr>
          <p:cNvPr id="10" name="Image 1" descr="preencoded.png"/>
          <p:cNvPicPr>
            <a:picLocks noChangeAspect="1"/>
          </p:cNvPicPr>
          <p:nvPr/>
        </p:nvPicPr>
        <p:blipFill>
          <a:blip r:embed="rId4"/>
          <a:stretch>
            <a:fillRect/>
          </a:stretch>
        </p:blipFill>
        <p:spPr>
          <a:xfrm>
            <a:off x="2411015" y="1601486"/>
            <a:ext cx="357188" cy="285750"/>
          </a:xfrm>
          <a:prstGeom prst="rect">
            <a:avLst/>
          </a:prstGeom>
        </p:spPr>
      </p:pic>
      <p:sp>
        <p:nvSpPr>
          <p:cNvPr id="11" name="Text 7"/>
          <p:cNvSpPr/>
          <p:nvPr/>
        </p:nvSpPr>
        <p:spPr>
          <a:xfrm>
            <a:off x="892969" y="2189804"/>
            <a:ext cx="3429000" cy="184666"/>
          </a:xfrm>
          <a:prstGeom prst="rect">
            <a:avLst/>
          </a:prstGeom>
          <a:noFill/>
          <a:ln/>
        </p:spPr>
        <p:txBody>
          <a:bodyPr wrap="square" lIns="0" tIns="0" rIns="0" bIns="0" rtlCol="0" anchor="t">
            <a:spAutoFit/>
          </a:bodyPr>
          <a:lstStyle/>
          <a:p>
            <a:pPr marL="0" indent="0" algn="l">
              <a:buNone/>
            </a:pPr>
            <a:r>
              <a:rPr lang="en-US" sz="1200" dirty="0">
                <a:solidFill>
                  <a:srgbClr val="D35400"/>
                </a:solidFill>
                <a:latin typeface="Playfair Display Bold" pitchFamily="34" charset="0"/>
                <a:ea typeface="Playfair Display Bold" pitchFamily="34" charset="-122"/>
                <a:cs typeface="Playfair Display Bold" pitchFamily="34" charset="-120"/>
              </a:rPr>
              <a:t>Secure Portal Access</a:t>
            </a:r>
            <a:endParaRPr lang="en-US" sz="1200" dirty="0"/>
          </a:p>
        </p:txBody>
      </p:sp>
      <p:sp>
        <p:nvSpPr>
          <p:cNvPr id="12" name="Text 8"/>
          <p:cNvSpPr/>
          <p:nvPr/>
        </p:nvSpPr>
        <p:spPr>
          <a:xfrm>
            <a:off x="892969" y="2470197"/>
            <a:ext cx="3429000" cy="334451"/>
          </a:xfrm>
          <a:prstGeom prst="rect">
            <a:avLst/>
          </a:prstGeom>
          <a:noFill/>
          <a:ln/>
        </p:spPr>
        <p:txBody>
          <a:bodyPr wrap="square" lIns="0" tIns="0" rIns="0" bIns="0" rtlCol="0" anchor="t">
            <a:spAutoFit/>
          </a:bodyPr>
          <a:lstStyle/>
          <a:p>
            <a:pPr marL="0" indent="0" algn="l">
              <a:lnSpc>
                <a:spcPct val="112000"/>
              </a:lnSpc>
              <a:buNone/>
            </a:pPr>
            <a:r>
              <a:rPr lang="en-US" sz="1000" dirty="0">
                <a:solidFill>
                  <a:srgbClr val="2C3E50"/>
                </a:solidFill>
                <a:latin typeface="Inter Light" pitchFamily="34" charset="0"/>
                <a:ea typeface="Inter Light" pitchFamily="34" charset="-122"/>
                <a:cs typeface="Inter Light" pitchFamily="34" charset="-120"/>
              </a:rPr>
              <a:t>Unified login interface with role-based selection for Students and Teachers, ensuring identity verification from the start.</a:t>
            </a:r>
            <a:endParaRPr lang="en-US" sz="1000" dirty="0"/>
          </a:p>
        </p:txBody>
      </p:sp>
      <p:sp>
        <p:nvSpPr>
          <p:cNvPr id="13" name="Shape 9"/>
          <p:cNvSpPr/>
          <p:nvPr/>
        </p:nvSpPr>
        <p:spPr>
          <a:xfrm>
            <a:off x="4643438" y="1557979"/>
            <a:ext cx="3786188" cy="1543050"/>
          </a:xfrm>
          <a:prstGeom prst="rect">
            <a:avLst/>
          </a:prstGeom>
          <a:solidFill>
            <a:srgbClr val="F8F9FA"/>
          </a:solidFill>
          <a:ln/>
        </p:spPr>
      </p:sp>
      <p:sp>
        <p:nvSpPr>
          <p:cNvPr id="14" name="Shape 10"/>
          <p:cNvSpPr/>
          <p:nvPr/>
        </p:nvSpPr>
        <p:spPr>
          <a:xfrm>
            <a:off x="4643438" y="1303979"/>
            <a:ext cx="3786188" cy="28575"/>
          </a:xfrm>
          <a:prstGeom prst="rect">
            <a:avLst/>
          </a:prstGeom>
          <a:solidFill>
            <a:srgbClr val="0F294A"/>
          </a:solidFill>
          <a:ln/>
        </p:spPr>
      </p:sp>
      <p:sp>
        <p:nvSpPr>
          <p:cNvPr id="15" name="Shape 11"/>
          <p:cNvSpPr/>
          <p:nvPr/>
        </p:nvSpPr>
        <p:spPr>
          <a:xfrm>
            <a:off x="4822031" y="1389704"/>
            <a:ext cx="3429000" cy="714375"/>
          </a:xfrm>
          <a:prstGeom prst="rect">
            <a:avLst/>
          </a:prstGeom>
          <a:solidFill>
            <a:srgbClr val="0F294A"/>
          </a:solidFill>
          <a:ln/>
        </p:spPr>
      </p:sp>
      <p:pic>
        <p:nvPicPr>
          <p:cNvPr id="16" name="Image 2" descr="preencoded.png"/>
          <p:cNvPicPr>
            <a:picLocks noChangeAspect="1"/>
          </p:cNvPicPr>
          <p:nvPr/>
        </p:nvPicPr>
        <p:blipFill>
          <a:blip r:embed="rId5"/>
          <a:stretch>
            <a:fillRect/>
          </a:stretch>
        </p:blipFill>
        <p:spPr>
          <a:xfrm>
            <a:off x="6393656" y="1637407"/>
            <a:ext cx="285750" cy="285750"/>
          </a:xfrm>
          <a:prstGeom prst="rect">
            <a:avLst/>
          </a:prstGeom>
        </p:spPr>
      </p:pic>
      <p:sp>
        <p:nvSpPr>
          <p:cNvPr id="17" name="Text 12"/>
          <p:cNvSpPr/>
          <p:nvPr/>
        </p:nvSpPr>
        <p:spPr>
          <a:xfrm>
            <a:off x="4822031" y="2189804"/>
            <a:ext cx="3429000" cy="184666"/>
          </a:xfrm>
          <a:prstGeom prst="rect">
            <a:avLst/>
          </a:prstGeom>
          <a:noFill/>
          <a:ln/>
        </p:spPr>
        <p:txBody>
          <a:bodyPr wrap="square" lIns="0" tIns="0" rIns="0" bIns="0" rtlCol="0" anchor="t">
            <a:spAutoFit/>
          </a:bodyPr>
          <a:lstStyle/>
          <a:p>
            <a:pPr marL="0" indent="0" algn="l">
              <a:buNone/>
            </a:pPr>
            <a:r>
              <a:rPr lang="en-US" sz="1200" dirty="0">
                <a:solidFill>
                  <a:srgbClr val="D35400"/>
                </a:solidFill>
                <a:latin typeface="Playfair Display Bold" pitchFamily="34" charset="0"/>
                <a:ea typeface="Playfair Display Bold" pitchFamily="34" charset="-122"/>
                <a:cs typeface="Playfair Display Bold" pitchFamily="34" charset="-120"/>
              </a:rPr>
              <a:t>Management</a:t>
            </a:r>
            <a:r>
              <a:rPr lang="en-US" sz="1150" dirty="0">
                <a:solidFill>
                  <a:srgbClr val="D35400"/>
                </a:solidFill>
                <a:latin typeface="Playfair Display Bold" pitchFamily="34" charset="0"/>
                <a:ea typeface="Playfair Display Bold" pitchFamily="34" charset="-122"/>
                <a:cs typeface="Playfair Display Bold" pitchFamily="34" charset="-120"/>
              </a:rPr>
              <a:t> Dashboards</a:t>
            </a:r>
            <a:endParaRPr lang="en-US" sz="1150" dirty="0"/>
          </a:p>
        </p:txBody>
      </p:sp>
      <p:sp>
        <p:nvSpPr>
          <p:cNvPr id="18" name="Text 13"/>
          <p:cNvSpPr/>
          <p:nvPr/>
        </p:nvSpPr>
        <p:spPr>
          <a:xfrm>
            <a:off x="4822031" y="2470197"/>
            <a:ext cx="3429000" cy="334451"/>
          </a:xfrm>
          <a:prstGeom prst="rect">
            <a:avLst/>
          </a:prstGeom>
          <a:noFill/>
          <a:ln/>
        </p:spPr>
        <p:txBody>
          <a:bodyPr wrap="square" lIns="0" tIns="0" rIns="0" bIns="0" rtlCol="0" anchor="t">
            <a:spAutoFit/>
          </a:bodyPr>
          <a:lstStyle/>
          <a:p>
            <a:pPr marL="0" indent="0" algn="l">
              <a:lnSpc>
                <a:spcPct val="112000"/>
              </a:lnSpc>
              <a:buNone/>
            </a:pPr>
            <a:r>
              <a:rPr lang="en-US" sz="1000" dirty="0">
                <a:solidFill>
                  <a:srgbClr val="2C3E50"/>
                </a:solidFill>
                <a:latin typeface="Inter Light" pitchFamily="34" charset="0"/>
                <a:ea typeface="Inter Light" pitchFamily="34" charset="-122"/>
                <a:cs typeface="Inter Light" pitchFamily="34" charset="-120"/>
              </a:rPr>
              <a:t>Intuitive control centers for teachers to create exams and students to view their schedules and past performance.</a:t>
            </a:r>
            <a:endParaRPr lang="en-US" sz="1000" dirty="0"/>
          </a:p>
        </p:txBody>
      </p:sp>
      <p:sp>
        <p:nvSpPr>
          <p:cNvPr id="19" name="Shape 14"/>
          <p:cNvSpPr/>
          <p:nvPr/>
        </p:nvSpPr>
        <p:spPr>
          <a:xfrm>
            <a:off x="714375" y="3215329"/>
            <a:ext cx="3786188" cy="1674819"/>
          </a:xfrm>
          <a:prstGeom prst="rect">
            <a:avLst/>
          </a:prstGeom>
          <a:solidFill>
            <a:srgbClr val="F8F9FA"/>
          </a:solidFill>
          <a:ln/>
        </p:spPr>
      </p:sp>
      <p:sp>
        <p:nvSpPr>
          <p:cNvPr id="20" name="Shape 15"/>
          <p:cNvSpPr/>
          <p:nvPr/>
        </p:nvSpPr>
        <p:spPr>
          <a:xfrm>
            <a:off x="714375" y="2961329"/>
            <a:ext cx="3786188" cy="28575"/>
          </a:xfrm>
          <a:prstGeom prst="rect">
            <a:avLst/>
          </a:prstGeom>
          <a:solidFill>
            <a:srgbClr val="0F294A"/>
          </a:solidFill>
          <a:ln/>
        </p:spPr>
      </p:sp>
      <p:sp>
        <p:nvSpPr>
          <p:cNvPr id="21" name="Shape 16"/>
          <p:cNvSpPr/>
          <p:nvPr/>
        </p:nvSpPr>
        <p:spPr>
          <a:xfrm>
            <a:off x="892969" y="3047054"/>
            <a:ext cx="3429000" cy="714375"/>
          </a:xfrm>
          <a:prstGeom prst="rect">
            <a:avLst/>
          </a:prstGeom>
          <a:solidFill>
            <a:srgbClr val="0F294A"/>
          </a:solidFill>
          <a:ln/>
        </p:spPr>
      </p:sp>
      <p:pic>
        <p:nvPicPr>
          <p:cNvPr id="22" name="Image 3" descr="preencoded.png"/>
          <p:cNvPicPr>
            <a:picLocks noChangeAspect="1"/>
          </p:cNvPicPr>
          <p:nvPr/>
        </p:nvPicPr>
        <p:blipFill>
          <a:blip r:embed="rId6"/>
          <a:stretch>
            <a:fillRect/>
          </a:stretch>
        </p:blipFill>
        <p:spPr>
          <a:xfrm>
            <a:off x="2446734" y="3297421"/>
            <a:ext cx="321469" cy="285750"/>
          </a:xfrm>
          <a:prstGeom prst="rect">
            <a:avLst/>
          </a:prstGeom>
        </p:spPr>
      </p:pic>
      <p:sp>
        <p:nvSpPr>
          <p:cNvPr id="23" name="Text 17"/>
          <p:cNvSpPr/>
          <p:nvPr/>
        </p:nvSpPr>
        <p:spPr>
          <a:xfrm>
            <a:off x="892969" y="3847154"/>
            <a:ext cx="3429000" cy="184666"/>
          </a:xfrm>
          <a:prstGeom prst="rect">
            <a:avLst/>
          </a:prstGeom>
          <a:noFill/>
          <a:ln/>
        </p:spPr>
        <p:txBody>
          <a:bodyPr wrap="square" lIns="0" tIns="0" rIns="0" bIns="0" rtlCol="0" anchor="t">
            <a:spAutoFit/>
          </a:bodyPr>
          <a:lstStyle/>
          <a:p>
            <a:pPr marL="0" indent="0" algn="l">
              <a:buNone/>
            </a:pPr>
            <a:r>
              <a:rPr lang="en-US" sz="1200" dirty="0">
                <a:solidFill>
                  <a:srgbClr val="D35400"/>
                </a:solidFill>
                <a:latin typeface="Playfair Display Bold" pitchFamily="34" charset="0"/>
                <a:ea typeface="Playfair Display Bold" pitchFamily="34" charset="-122"/>
                <a:cs typeface="Playfair Display Bold" pitchFamily="34" charset="-120"/>
              </a:rPr>
              <a:t>Locked Exam Environment</a:t>
            </a:r>
            <a:endParaRPr lang="en-US" sz="1200" dirty="0"/>
          </a:p>
        </p:txBody>
      </p:sp>
      <p:sp>
        <p:nvSpPr>
          <p:cNvPr id="24" name="Text 18"/>
          <p:cNvSpPr/>
          <p:nvPr/>
        </p:nvSpPr>
        <p:spPr>
          <a:xfrm>
            <a:off x="892969" y="4127547"/>
            <a:ext cx="3429000" cy="506805"/>
          </a:xfrm>
          <a:prstGeom prst="rect">
            <a:avLst/>
          </a:prstGeom>
          <a:noFill/>
          <a:ln/>
        </p:spPr>
        <p:txBody>
          <a:bodyPr wrap="square" lIns="0" tIns="0" rIns="0" bIns="0" rtlCol="0" anchor="t">
            <a:spAutoFit/>
          </a:bodyPr>
          <a:lstStyle/>
          <a:p>
            <a:pPr marL="0" indent="0" algn="l">
              <a:lnSpc>
                <a:spcPct val="112000"/>
              </a:lnSpc>
              <a:buNone/>
            </a:pPr>
            <a:r>
              <a:rPr lang="en-US" sz="1000" dirty="0">
                <a:solidFill>
                  <a:srgbClr val="2C3E50"/>
                </a:solidFill>
                <a:latin typeface="Inter Light" pitchFamily="34" charset="0"/>
                <a:ea typeface="Inter Light" pitchFamily="34" charset="-122"/>
                <a:cs typeface="Inter Light" pitchFamily="34" charset="-120"/>
              </a:rPr>
              <a:t>The core student interface: a distraction-free, full-screen environment where all unauthorized system functions are disabled.</a:t>
            </a:r>
            <a:endParaRPr lang="en-US" sz="1000" dirty="0"/>
          </a:p>
        </p:txBody>
      </p:sp>
      <p:sp>
        <p:nvSpPr>
          <p:cNvPr id="25" name="Shape 19"/>
          <p:cNvSpPr/>
          <p:nvPr/>
        </p:nvSpPr>
        <p:spPr>
          <a:xfrm>
            <a:off x="4643438" y="3215329"/>
            <a:ext cx="3786188" cy="1646244"/>
          </a:xfrm>
          <a:prstGeom prst="rect">
            <a:avLst/>
          </a:prstGeom>
          <a:solidFill>
            <a:srgbClr val="F8F9FA"/>
          </a:solidFill>
          <a:ln/>
        </p:spPr>
      </p:sp>
      <p:sp>
        <p:nvSpPr>
          <p:cNvPr id="26" name="Shape 20"/>
          <p:cNvSpPr/>
          <p:nvPr/>
        </p:nvSpPr>
        <p:spPr>
          <a:xfrm>
            <a:off x="4643438" y="2961329"/>
            <a:ext cx="3786188" cy="28575"/>
          </a:xfrm>
          <a:prstGeom prst="rect">
            <a:avLst/>
          </a:prstGeom>
          <a:solidFill>
            <a:srgbClr val="0F294A"/>
          </a:solidFill>
          <a:ln/>
        </p:spPr>
      </p:sp>
      <p:sp>
        <p:nvSpPr>
          <p:cNvPr id="27" name="Shape 21"/>
          <p:cNvSpPr/>
          <p:nvPr/>
        </p:nvSpPr>
        <p:spPr>
          <a:xfrm>
            <a:off x="4822031" y="3047054"/>
            <a:ext cx="3429000" cy="714375"/>
          </a:xfrm>
          <a:prstGeom prst="rect">
            <a:avLst/>
          </a:prstGeom>
          <a:solidFill>
            <a:srgbClr val="0F294A"/>
          </a:solidFill>
          <a:ln/>
        </p:spPr>
      </p:sp>
      <p:pic>
        <p:nvPicPr>
          <p:cNvPr id="28" name="Image 4" descr="preencoded.png"/>
          <p:cNvPicPr>
            <a:picLocks noChangeAspect="1"/>
          </p:cNvPicPr>
          <p:nvPr/>
        </p:nvPicPr>
        <p:blipFill>
          <a:blip r:embed="rId7"/>
          <a:stretch>
            <a:fillRect/>
          </a:stretch>
        </p:blipFill>
        <p:spPr>
          <a:xfrm>
            <a:off x="6429375" y="3289869"/>
            <a:ext cx="214313" cy="285750"/>
          </a:xfrm>
          <a:prstGeom prst="rect">
            <a:avLst/>
          </a:prstGeom>
        </p:spPr>
      </p:pic>
      <p:sp>
        <p:nvSpPr>
          <p:cNvPr id="29" name="Text 22"/>
          <p:cNvSpPr/>
          <p:nvPr/>
        </p:nvSpPr>
        <p:spPr>
          <a:xfrm>
            <a:off x="4822031" y="3847154"/>
            <a:ext cx="3429000" cy="184666"/>
          </a:xfrm>
          <a:prstGeom prst="rect">
            <a:avLst/>
          </a:prstGeom>
          <a:noFill/>
          <a:ln/>
        </p:spPr>
        <p:txBody>
          <a:bodyPr wrap="square" lIns="0" tIns="0" rIns="0" bIns="0" rtlCol="0" anchor="t">
            <a:spAutoFit/>
          </a:bodyPr>
          <a:lstStyle/>
          <a:p>
            <a:pPr marL="0" indent="0" algn="l">
              <a:buNone/>
            </a:pPr>
            <a:r>
              <a:rPr lang="en-US" sz="1200" dirty="0">
                <a:solidFill>
                  <a:srgbClr val="D35400"/>
                </a:solidFill>
                <a:latin typeface="Playfair Display Bold" pitchFamily="34" charset="0"/>
                <a:ea typeface="Playfair Display Bold" pitchFamily="34" charset="-122"/>
                <a:cs typeface="Playfair Display Bold" pitchFamily="34" charset="-120"/>
              </a:rPr>
              <a:t>Real-Time Monitoring</a:t>
            </a:r>
            <a:endParaRPr lang="en-US" sz="1200" dirty="0"/>
          </a:p>
        </p:txBody>
      </p:sp>
      <p:sp>
        <p:nvSpPr>
          <p:cNvPr id="30" name="Text 23"/>
          <p:cNvSpPr/>
          <p:nvPr/>
        </p:nvSpPr>
        <p:spPr>
          <a:xfrm>
            <a:off x="4822031" y="4127547"/>
            <a:ext cx="3429000" cy="334451"/>
          </a:xfrm>
          <a:prstGeom prst="rect">
            <a:avLst/>
          </a:prstGeom>
          <a:noFill/>
          <a:ln/>
        </p:spPr>
        <p:txBody>
          <a:bodyPr wrap="square" lIns="0" tIns="0" rIns="0" bIns="0" rtlCol="0" anchor="t">
            <a:spAutoFit/>
          </a:bodyPr>
          <a:lstStyle/>
          <a:p>
            <a:pPr marL="0" indent="0" algn="l">
              <a:lnSpc>
                <a:spcPct val="112000"/>
              </a:lnSpc>
              <a:buNone/>
            </a:pPr>
            <a:r>
              <a:rPr lang="en-US" sz="1000" dirty="0">
                <a:solidFill>
                  <a:srgbClr val="2C3E50"/>
                </a:solidFill>
                <a:latin typeface="Inter Light" pitchFamily="34" charset="0"/>
                <a:ea typeface="Inter Light" pitchFamily="34" charset="-122"/>
                <a:cs typeface="Inter Light" pitchFamily="34" charset="-120"/>
              </a:rPr>
              <a:t>Teacher oversight view showing active student status and immediate logging of any detected anti-cheat violations.</a:t>
            </a:r>
            <a:endParaRPr lang="en-US" sz="1000" dirty="0"/>
          </a:p>
        </p:txBody>
      </p:sp>
      <p:sp>
        <p:nvSpPr>
          <p:cNvPr id="31" name="Text 24"/>
          <p:cNvSpPr/>
          <p:nvPr/>
        </p:nvSpPr>
        <p:spPr>
          <a:xfrm>
            <a:off x="2210990" y="4923021"/>
            <a:ext cx="5222081" cy="137517"/>
          </a:xfrm>
          <a:prstGeom prst="rect">
            <a:avLst/>
          </a:prstGeom>
          <a:noFill/>
          <a:ln/>
        </p:spPr>
        <p:txBody>
          <a:bodyPr wrap="square" lIns="0" tIns="0" rIns="0" bIns="0" rtlCol="0" anchor="t">
            <a:spAutoFit/>
          </a:bodyPr>
          <a:lstStyle/>
          <a:p>
            <a:pPr marL="0" indent="0" algn="l">
              <a:buNone/>
            </a:pPr>
            <a:r>
              <a:rPr lang="en-US" sz="850" i="1" dirty="0">
                <a:solidFill>
                  <a:srgbClr val="0F294A">
                    <a:alpha val="70000"/>
                  </a:srgbClr>
                </a:solidFill>
                <a:latin typeface="Inter" pitchFamily="34" charset="0"/>
                <a:ea typeface="Inter" pitchFamily="34" charset="-122"/>
                <a:cs typeface="Inter" pitchFamily="34" charset="-120"/>
              </a:rPr>
              <a:t>* Interfaces built with Python Tkinter featuring custom modern gradients and responsive layouts.</a:t>
            </a:r>
            <a:endParaRPr lang="en-US" sz="850" dirty="0"/>
          </a:p>
        </p:txBody>
      </p:sp>
      <p:sp>
        <p:nvSpPr>
          <p:cNvPr id="32" name="Shape 1"/>
          <p:cNvSpPr/>
          <p:nvPr/>
        </p:nvSpPr>
        <p:spPr>
          <a:xfrm>
            <a:off x="-4178" y="358320"/>
            <a:ext cx="57150" cy="701873"/>
          </a:xfrm>
          <a:prstGeom prst="rect">
            <a:avLst/>
          </a:prstGeom>
          <a:solidFill>
            <a:srgbClr val="0070C0"/>
          </a:solidFill>
          <a:ln>
            <a:noFill/>
          </a:ln>
        </p:spPr>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SQA </a:t>
            </a:r>
            <a:r>
              <a:rPr lang="en-US" sz="2450" b="1" dirty="0">
                <a:solidFill>
                  <a:srgbClr val="0F294A"/>
                </a:solidFill>
                <a:latin typeface="Playfair Display Bold" pitchFamily="34" charset="0"/>
                <a:ea typeface="Playfair Display Bold" pitchFamily="34" charset="-122"/>
                <a:cs typeface="Playfair Display Bold" pitchFamily="34" charset="-120"/>
              </a:rPr>
              <a:t>&amp; Testing Strategies</a:t>
            </a:r>
            <a:endParaRPr lang="en-US" sz="2450" dirty="0"/>
          </a:p>
        </p:txBody>
      </p:sp>
      <p:sp>
        <p:nvSpPr>
          <p:cNvPr id="6" name="Text 3"/>
          <p:cNvSpPr/>
          <p:nvPr/>
        </p:nvSpPr>
        <p:spPr>
          <a:xfrm>
            <a:off x="660400" y="1140268"/>
            <a:ext cx="8572500" cy="173236"/>
          </a:xfrm>
          <a:prstGeom prst="rect">
            <a:avLst/>
          </a:prstGeom>
          <a:noFill/>
          <a:ln/>
        </p:spPr>
        <p:txBody>
          <a:bodyPr wrap="square" lIns="170053" tIns="0" rIns="0" bIns="0" rtlCol="0" anchor="t">
            <a:spAutoFit/>
          </a:bodyPr>
          <a:lstStyle/>
          <a:p>
            <a:pPr marL="0" indent="0" algn="l">
              <a:buNone/>
            </a:pPr>
            <a:r>
              <a:rPr lang="en-US" sz="1050" kern="0" spc="2" dirty="0">
                <a:solidFill>
                  <a:srgbClr val="2980B9"/>
                </a:solidFill>
                <a:latin typeface="Inter" pitchFamily="34" charset="0"/>
                <a:ea typeface="Inter" pitchFamily="34" charset="-122"/>
                <a:cs typeface="Inter" pitchFamily="34" charset="-120"/>
              </a:rPr>
              <a:t>ENSURING INTEGRITY THROUGH RIGOROUS VALIDATION</a:t>
            </a:r>
            <a:endParaRPr lang="en-US" sz="1050" dirty="0"/>
          </a:p>
        </p:txBody>
      </p:sp>
      <p:pic>
        <p:nvPicPr>
          <p:cNvPr id="7" name="Image 1" descr="preencoded.png"/>
          <p:cNvPicPr>
            <a:picLocks noChangeAspect="1"/>
          </p:cNvPicPr>
          <p:nvPr/>
        </p:nvPicPr>
        <p:blipFill>
          <a:blip r:embed="rId4"/>
          <a:stretch>
            <a:fillRect/>
          </a:stretch>
        </p:blipFill>
        <p:spPr>
          <a:xfrm>
            <a:off x="714375" y="1972317"/>
            <a:ext cx="171450" cy="171450"/>
          </a:xfrm>
          <a:prstGeom prst="rect">
            <a:avLst/>
          </a:prstGeom>
        </p:spPr>
      </p:pic>
      <p:sp>
        <p:nvSpPr>
          <p:cNvPr id="8" name="Text 4"/>
          <p:cNvSpPr/>
          <p:nvPr/>
        </p:nvSpPr>
        <p:spPr>
          <a:xfrm>
            <a:off x="957263" y="1943742"/>
            <a:ext cx="951905" cy="228600"/>
          </a:xfrm>
          <a:prstGeom prst="rect">
            <a:avLst/>
          </a:prstGeom>
          <a:noFill/>
          <a:ln/>
        </p:spPr>
        <p:txBody>
          <a:bodyPr wrap="none" lIns="0" tIns="0" rIns="0" bIns="0" rtlCol="0" anchor="t">
            <a:spAutoFit/>
          </a:bodyPr>
          <a:lstStyle/>
          <a:p>
            <a:pPr marL="0" indent="0" algn="l">
              <a:buNone/>
            </a:pPr>
            <a:r>
              <a:rPr lang="en-US" sz="1250" dirty="0">
                <a:solidFill>
                  <a:srgbClr val="D35400"/>
                </a:solidFill>
                <a:latin typeface="Playfair Display Bold" pitchFamily="34" charset="0"/>
                <a:ea typeface="Playfair Display Bold" pitchFamily="34" charset="-122"/>
                <a:cs typeface="Playfair Display Bold" pitchFamily="34" charset="-120"/>
              </a:rPr>
              <a:t>Unit Testing</a:t>
            </a:r>
            <a:endParaRPr lang="en-US" sz="1250" dirty="0"/>
          </a:p>
        </p:txBody>
      </p:sp>
      <p:sp>
        <p:nvSpPr>
          <p:cNvPr id="9" name="Text 5"/>
          <p:cNvSpPr/>
          <p:nvPr/>
        </p:nvSpPr>
        <p:spPr>
          <a:xfrm>
            <a:off x="714375" y="2279498"/>
            <a:ext cx="2428875" cy="540661"/>
          </a:xfrm>
          <a:prstGeom prst="rect">
            <a:avLst/>
          </a:prstGeom>
          <a:noFill/>
          <a:ln/>
        </p:spPr>
        <p:txBody>
          <a:bodyPr wrap="square" lIns="0" tIns="0" rIns="0" bIns="0" rtlCol="0" anchor="t">
            <a:spAutoFit/>
          </a:bodyPr>
          <a:lstStyle/>
          <a:p>
            <a:pPr marL="0" indent="0" algn="just">
              <a:lnSpc>
                <a:spcPct val="120000"/>
              </a:lnSpc>
              <a:buNone/>
            </a:pPr>
            <a:r>
              <a:rPr lang="en-US" sz="1000" dirty="0">
                <a:solidFill>
                  <a:srgbClr val="2C3E50"/>
                </a:solidFill>
                <a:latin typeface="Inter Light" pitchFamily="34" charset="0"/>
                <a:ea typeface="Inter Light" pitchFamily="34" charset="-122"/>
                <a:cs typeface="Inter Light" pitchFamily="34" charset="-120"/>
              </a:rPr>
              <a:t>Validation of individual modules including password hashing, database interactions, and anti-cheat detection logic in isolation.</a:t>
            </a:r>
            <a:endParaRPr lang="en-US" sz="1000" dirty="0"/>
          </a:p>
        </p:txBody>
      </p:sp>
      <p:pic>
        <p:nvPicPr>
          <p:cNvPr id="10" name="Image 2" descr="preencoded.png"/>
          <p:cNvPicPr>
            <a:picLocks noChangeAspect="1"/>
          </p:cNvPicPr>
          <p:nvPr/>
        </p:nvPicPr>
        <p:blipFill>
          <a:blip r:embed="rId5"/>
          <a:stretch>
            <a:fillRect/>
          </a:stretch>
        </p:blipFill>
        <p:spPr>
          <a:xfrm>
            <a:off x="3357563" y="1972317"/>
            <a:ext cx="192881" cy="171450"/>
          </a:xfrm>
          <a:prstGeom prst="rect">
            <a:avLst/>
          </a:prstGeom>
        </p:spPr>
      </p:pic>
      <p:sp>
        <p:nvSpPr>
          <p:cNvPr id="11" name="Text 6"/>
          <p:cNvSpPr/>
          <p:nvPr/>
        </p:nvSpPr>
        <p:spPr>
          <a:xfrm>
            <a:off x="3621881" y="1943742"/>
            <a:ext cx="896541" cy="228600"/>
          </a:xfrm>
          <a:prstGeom prst="rect">
            <a:avLst/>
          </a:prstGeom>
          <a:noFill/>
          <a:ln/>
        </p:spPr>
        <p:txBody>
          <a:bodyPr wrap="none" lIns="0" tIns="0" rIns="0" bIns="0" rtlCol="0" anchor="t">
            <a:spAutoFit/>
          </a:bodyPr>
          <a:lstStyle/>
          <a:p>
            <a:pPr marL="0" indent="0" algn="l">
              <a:buNone/>
            </a:pPr>
            <a:r>
              <a:rPr lang="en-US" sz="1250" dirty="0">
                <a:solidFill>
                  <a:srgbClr val="D35400"/>
                </a:solidFill>
                <a:latin typeface="Playfair Display Bold" pitchFamily="34" charset="0"/>
                <a:ea typeface="Playfair Display Bold" pitchFamily="34" charset="-122"/>
                <a:cs typeface="Playfair Display Bold" pitchFamily="34" charset="-120"/>
              </a:rPr>
              <a:t>Integration</a:t>
            </a:r>
            <a:endParaRPr lang="en-US" sz="1250" dirty="0"/>
          </a:p>
        </p:txBody>
      </p:sp>
      <p:sp>
        <p:nvSpPr>
          <p:cNvPr id="12" name="Text 7"/>
          <p:cNvSpPr/>
          <p:nvPr/>
        </p:nvSpPr>
        <p:spPr>
          <a:xfrm>
            <a:off x="3357563" y="2279498"/>
            <a:ext cx="2428875" cy="725327"/>
          </a:xfrm>
          <a:prstGeom prst="rect">
            <a:avLst/>
          </a:prstGeom>
          <a:noFill/>
          <a:ln/>
        </p:spPr>
        <p:txBody>
          <a:bodyPr wrap="square" lIns="0" tIns="0" rIns="0" bIns="0" rtlCol="0" anchor="t">
            <a:spAutoFit/>
          </a:bodyPr>
          <a:lstStyle/>
          <a:p>
            <a:pPr marL="0" indent="0" algn="just">
              <a:lnSpc>
                <a:spcPct val="120000"/>
              </a:lnSpc>
              <a:buNone/>
            </a:pPr>
            <a:r>
              <a:rPr lang="en-US" sz="1000" dirty="0">
                <a:solidFill>
                  <a:srgbClr val="2C3E50"/>
                </a:solidFill>
                <a:latin typeface="Inter Light" pitchFamily="34" charset="0"/>
                <a:ea typeface="Inter Light" pitchFamily="34" charset="-122"/>
                <a:cs typeface="Inter Light" pitchFamily="34" charset="-120"/>
              </a:rPr>
              <a:t>Focused on the critical interaction between the login system, database, and the real-time exam display with anti-cheat monitoring.</a:t>
            </a:r>
            <a:endParaRPr lang="en-US" sz="1000" dirty="0"/>
          </a:p>
        </p:txBody>
      </p:sp>
      <p:pic>
        <p:nvPicPr>
          <p:cNvPr id="13" name="Image 3" descr="preencoded.png"/>
          <p:cNvPicPr>
            <a:picLocks noChangeAspect="1"/>
          </p:cNvPicPr>
          <p:nvPr/>
        </p:nvPicPr>
        <p:blipFill>
          <a:blip r:embed="rId6"/>
          <a:stretch>
            <a:fillRect/>
          </a:stretch>
        </p:blipFill>
        <p:spPr>
          <a:xfrm>
            <a:off x="6000750" y="1972317"/>
            <a:ext cx="214313" cy="171450"/>
          </a:xfrm>
          <a:prstGeom prst="rect">
            <a:avLst/>
          </a:prstGeom>
        </p:spPr>
      </p:pic>
      <p:sp>
        <p:nvSpPr>
          <p:cNvPr id="14" name="Text 8"/>
          <p:cNvSpPr/>
          <p:nvPr/>
        </p:nvSpPr>
        <p:spPr>
          <a:xfrm>
            <a:off x="6286500" y="1943742"/>
            <a:ext cx="659011" cy="228600"/>
          </a:xfrm>
          <a:prstGeom prst="rect">
            <a:avLst/>
          </a:prstGeom>
          <a:noFill/>
          <a:ln/>
        </p:spPr>
        <p:txBody>
          <a:bodyPr wrap="none" lIns="0" tIns="0" rIns="0" bIns="0" rtlCol="0" anchor="t">
            <a:spAutoFit/>
          </a:bodyPr>
          <a:lstStyle/>
          <a:p>
            <a:pPr marL="0" indent="0" algn="l">
              <a:buNone/>
            </a:pPr>
            <a:r>
              <a:rPr lang="en-US" sz="1250" dirty="0">
                <a:solidFill>
                  <a:srgbClr val="D35400"/>
                </a:solidFill>
                <a:latin typeface="Playfair Display Bold" pitchFamily="34" charset="0"/>
                <a:ea typeface="Playfair Display Bold" pitchFamily="34" charset="-122"/>
                <a:cs typeface="Playfair Display Bold" pitchFamily="34" charset="-120"/>
              </a:rPr>
              <a:t>Security</a:t>
            </a:r>
            <a:endParaRPr lang="en-US" sz="1250" dirty="0"/>
          </a:p>
        </p:txBody>
      </p:sp>
      <p:sp>
        <p:nvSpPr>
          <p:cNvPr id="15" name="Text 9"/>
          <p:cNvSpPr/>
          <p:nvPr/>
        </p:nvSpPr>
        <p:spPr>
          <a:xfrm>
            <a:off x="6000750" y="2279498"/>
            <a:ext cx="2428875" cy="540661"/>
          </a:xfrm>
          <a:prstGeom prst="rect">
            <a:avLst/>
          </a:prstGeom>
          <a:noFill/>
          <a:ln/>
        </p:spPr>
        <p:txBody>
          <a:bodyPr wrap="square" lIns="0" tIns="0" rIns="0" bIns="0" rtlCol="0" anchor="t">
            <a:spAutoFit/>
          </a:bodyPr>
          <a:lstStyle/>
          <a:p>
            <a:pPr marL="0" indent="0" algn="just">
              <a:lnSpc>
                <a:spcPct val="120000"/>
              </a:lnSpc>
              <a:buNone/>
            </a:pPr>
            <a:r>
              <a:rPr lang="en-US" sz="1000" dirty="0">
                <a:solidFill>
                  <a:srgbClr val="2C3E50"/>
                </a:solidFill>
                <a:latin typeface="Inter Light" pitchFamily="34" charset="0"/>
                <a:ea typeface="Inter Light" pitchFamily="34" charset="-122"/>
                <a:cs typeface="Inter Light" pitchFamily="34" charset="-120"/>
              </a:rPr>
              <a:t>Dedicated stress testing of anti-cheat mechanisms to identify and close potential bypasses and system-level vulnerabilities.</a:t>
            </a:r>
            <a:endParaRPr lang="en-US" sz="1000" dirty="0"/>
          </a:p>
        </p:txBody>
      </p:sp>
      <p:sp>
        <p:nvSpPr>
          <p:cNvPr id="16" name="Shape 10"/>
          <p:cNvSpPr/>
          <p:nvPr/>
        </p:nvSpPr>
        <p:spPr>
          <a:xfrm>
            <a:off x="714375" y="3515367"/>
            <a:ext cx="7715250" cy="1285875"/>
          </a:xfrm>
          <a:prstGeom prst="rect">
            <a:avLst/>
          </a:prstGeom>
          <a:solidFill>
            <a:srgbClr val="0F294A"/>
          </a:solidFill>
          <a:ln/>
        </p:spPr>
      </p:sp>
      <p:sp>
        <p:nvSpPr>
          <p:cNvPr id="17" name="Shape 11"/>
          <p:cNvSpPr/>
          <p:nvPr/>
        </p:nvSpPr>
        <p:spPr>
          <a:xfrm>
            <a:off x="714375" y="3515367"/>
            <a:ext cx="57150" cy="1285875"/>
          </a:xfrm>
          <a:prstGeom prst="rect">
            <a:avLst/>
          </a:prstGeom>
          <a:solidFill>
            <a:srgbClr val="2980B9"/>
          </a:solidFill>
          <a:ln/>
        </p:spPr>
      </p:sp>
      <p:pic>
        <p:nvPicPr>
          <p:cNvPr id="18" name="Image 4" descr="preencoded.png"/>
          <p:cNvPicPr>
            <a:picLocks noChangeAspect="1"/>
          </p:cNvPicPr>
          <p:nvPr/>
        </p:nvPicPr>
        <p:blipFill>
          <a:blip r:embed="rId7"/>
          <a:stretch>
            <a:fillRect/>
          </a:stretch>
        </p:blipFill>
        <p:spPr>
          <a:xfrm>
            <a:off x="1000125" y="3756468"/>
            <a:ext cx="171450" cy="171450"/>
          </a:xfrm>
          <a:prstGeom prst="rect">
            <a:avLst/>
          </a:prstGeom>
        </p:spPr>
      </p:pic>
      <p:sp>
        <p:nvSpPr>
          <p:cNvPr id="19" name="Text 12"/>
          <p:cNvSpPr/>
          <p:nvPr/>
        </p:nvSpPr>
        <p:spPr>
          <a:xfrm>
            <a:off x="1278731" y="3729679"/>
            <a:ext cx="1576983" cy="228600"/>
          </a:xfrm>
          <a:prstGeom prst="rect">
            <a:avLst/>
          </a:prstGeom>
          <a:noFill/>
          <a:ln/>
        </p:spPr>
        <p:txBody>
          <a:bodyPr wrap="square" lIns="0" tIns="0" rIns="0" bIns="0" rtlCol="0" anchor="t">
            <a:spAutoFit/>
          </a:bodyPr>
          <a:lstStyle/>
          <a:p>
            <a:pPr marL="0" indent="0" algn="l">
              <a:buNone/>
            </a:pPr>
            <a:r>
              <a:rPr lang="en-US" sz="1250" dirty="0">
                <a:solidFill>
                  <a:srgbClr val="FFFFFF"/>
                </a:solidFill>
                <a:latin typeface="Playfair Display Bold" pitchFamily="34" charset="0"/>
                <a:ea typeface="Playfair Display Bold" pitchFamily="34" charset="-122"/>
                <a:cs typeface="Playfair Display Bold" pitchFamily="34" charset="-120"/>
              </a:rPr>
              <a:t>Critical Security Fix</a:t>
            </a:r>
            <a:endParaRPr lang="en-US" sz="1250" dirty="0"/>
          </a:p>
        </p:txBody>
      </p:sp>
      <p:sp>
        <p:nvSpPr>
          <p:cNvPr id="20" name="Text 13"/>
          <p:cNvSpPr/>
          <p:nvPr/>
        </p:nvSpPr>
        <p:spPr>
          <a:xfrm>
            <a:off x="1000125" y="4065436"/>
            <a:ext cx="7143750" cy="377347"/>
          </a:xfrm>
          <a:prstGeom prst="rect">
            <a:avLst/>
          </a:prstGeom>
          <a:noFill/>
          <a:ln/>
        </p:spPr>
        <p:txBody>
          <a:bodyPr wrap="square" lIns="0" tIns="0" rIns="0" bIns="0" rtlCol="0" anchor="t">
            <a:spAutoFit/>
          </a:bodyPr>
          <a:lstStyle/>
          <a:p>
            <a:pPr marL="0" indent="0" algn="l">
              <a:lnSpc>
                <a:spcPct val="128000"/>
              </a:lnSpc>
              <a:buNone/>
            </a:pPr>
            <a:r>
              <a:rPr lang="en-US" sz="1000" i="1" dirty="0">
                <a:solidFill>
                  <a:srgbClr val="FFFFFF"/>
                </a:solidFill>
                <a:latin typeface="Inter Light" pitchFamily="34" charset="0"/>
                <a:ea typeface="Inter Light" pitchFamily="34" charset="-122"/>
                <a:cs typeface="Inter Light" pitchFamily="34" charset="-120"/>
              </a:rPr>
              <a:t>"Successfully addressed a high-priority bug where the main anti-cheat system was not functioning correctly, allowing full-screen lock bypass and window switching."</a:t>
            </a:r>
            <a:endParaRPr lang="en-US" sz="1000" dirty="0"/>
          </a:p>
        </p:txBody>
      </p:sp>
      <p:sp>
        <p:nvSpPr>
          <p:cNvPr id="21" name="Shape 1"/>
          <p:cNvSpPr/>
          <p:nvPr/>
        </p:nvSpPr>
        <p:spPr>
          <a:xfrm>
            <a:off x="1086" y="713230"/>
            <a:ext cx="57150" cy="701873"/>
          </a:xfrm>
          <a:prstGeom prst="rect">
            <a:avLst/>
          </a:prstGeom>
          <a:solidFill>
            <a:schemeClr val="accent2">
              <a:lumMod val="75000"/>
            </a:schemeClr>
          </a:solidFill>
          <a:ln>
            <a:noFill/>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070C0"/>
                </a:solidFill>
                <a:latin typeface="Playfair Display Bold" pitchFamily="34" charset="0"/>
                <a:ea typeface="Playfair Display Bold" pitchFamily="34" charset="-122"/>
                <a:cs typeface="Playfair Display Bold" pitchFamily="34" charset="-120"/>
              </a:rPr>
              <a:t>Contributions </a:t>
            </a:r>
            <a:r>
              <a:rPr lang="en-US" sz="2450" b="1" dirty="0">
                <a:solidFill>
                  <a:srgbClr val="0070C0"/>
                </a:solidFill>
                <a:latin typeface="Playfair Display Bold" pitchFamily="34" charset="0"/>
                <a:ea typeface="Playfair Display Bold" pitchFamily="34" charset="-122"/>
                <a:cs typeface="Playfair Display Bold" pitchFamily="34" charset="-120"/>
              </a:rPr>
              <a:t>&amp; Roadmap</a:t>
            </a:r>
            <a:endParaRPr lang="en-US" sz="2450" dirty="0">
              <a:solidFill>
                <a:srgbClr val="0070C0"/>
              </a:solidFill>
            </a:endParaRPr>
          </a:p>
        </p:txBody>
      </p:sp>
      <p:sp>
        <p:nvSpPr>
          <p:cNvPr id="6" name="Text 3"/>
          <p:cNvSpPr/>
          <p:nvPr/>
        </p:nvSpPr>
        <p:spPr>
          <a:xfrm>
            <a:off x="758344" y="1071711"/>
            <a:ext cx="6616378" cy="161583"/>
          </a:xfrm>
          <a:prstGeom prst="rect">
            <a:avLst/>
          </a:prstGeom>
          <a:noFill/>
          <a:ln/>
        </p:spPr>
        <p:txBody>
          <a:bodyPr wrap="square" lIns="170053" tIns="0" rIns="0" bIns="0" rtlCol="0" anchor="t">
            <a:spAutoFit/>
          </a:bodyPr>
          <a:lstStyle/>
          <a:p>
            <a:pPr marL="0" indent="0" algn="l">
              <a:buNone/>
            </a:pPr>
            <a:r>
              <a:rPr lang="en-US" sz="1050" kern="0" spc="2" dirty="0">
                <a:solidFill>
                  <a:schemeClr val="accent5">
                    <a:lumMod val="50000"/>
                  </a:schemeClr>
                </a:solidFill>
                <a:latin typeface="Inter" pitchFamily="34" charset="0"/>
                <a:ea typeface="Inter" pitchFamily="34" charset="-122"/>
                <a:cs typeface="Inter" pitchFamily="34" charset="-120"/>
              </a:rPr>
              <a:t>IMPACT, CONSTRAINTS, AND FUTURE VISION</a:t>
            </a:r>
            <a:endParaRPr lang="en-US" sz="1050" dirty="0">
              <a:solidFill>
                <a:schemeClr val="accent5">
                  <a:lumMod val="50000"/>
                </a:schemeClr>
              </a:solidFill>
            </a:endParaRPr>
          </a:p>
        </p:txBody>
      </p:sp>
      <p:sp>
        <p:nvSpPr>
          <p:cNvPr id="7" name="Text 4"/>
          <p:cNvSpPr/>
          <p:nvPr/>
        </p:nvSpPr>
        <p:spPr>
          <a:xfrm>
            <a:off x="635794" y="1980323"/>
            <a:ext cx="2524116" cy="228600"/>
          </a:xfrm>
          <a:prstGeom prst="rect">
            <a:avLst/>
          </a:prstGeom>
          <a:noFill/>
          <a:ln/>
        </p:spPr>
        <p:txBody>
          <a:bodyPr wrap="square" lIns="0" tIns="0" rIns="0" bIns="0" rtlCol="0" anchor="t">
            <a:spAutoFit/>
          </a:bodyPr>
          <a:lstStyle/>
          <a:p>
            <a:pPr marL="0" indent="0" algn="l">
              <a:buNone/>
            </a:pPr>
            <a:r>
              <a:rPr lang="en-US" sz="1250" kern="0" spc="1" dirty="0">
                <a:solidFill>
                  <a:srgbClr val="D35400"/>
                </a:solidFill>
                <a:latin typeface="Playfair Display Bold" pitchFamily="34" charset="0"/>
                <a:ea typeface="Playfair Display Bold" pitchFamily="34" charset="-122"/>
                <a:cs typeface="Playfair Display Bold" pitchFamily="34" charset="-120"/>
              </a:rPr>
              <a:t>CONTRIBUTIONS</a:t>
            </a:r>
            <a:endParaRPr lang="en-US" sz="1250" dirty="0"/>
          </a:p>
        </p:txBody>
      </p:sp>
      <p:grpSp>
        <p:nvGrpSpPr>
          <p:cNvPr id="44" name="Group 43"/>
          <p:cNvGrpSpPr/>
          <p:nvPr/>
        </p:nvGrpSpPr>
        <p:grpSpPr>
          <a:xfrm>
            <a:off x="571500" y="2386654"/>
            <a:ext cx="2524116" cy="1613684"/>
            <a:chOff x="571500" y="2386654"/>
            <a:chExt cx="2524116" cy="1613684"/>
          </a:xfrm>
        </p:grpSpPr>
        <p:grpSp>
          <p:nvGrpSpPr>
            <p:cNvPr id="34" name="Group 33"/>
            <p:cNvGrpSpPr/>
            <p:nvPr/>
          </p:nvGrpSpPr>
          <p:grpSpPr>
            <a:xfrm>
              <a:off x="571500" y="2386654"/>
              <a:ext cx="2524116" cy="594778"/>
              <a:chOff x="571500" y="2386654"/>
              <a:chExt cx="2524116" cy="594778"/>
            </a:xfrm>
          </p:grpSpPr>
          <p:sp>
            <p:nvSpPr>
              <p:cNvPr id="8" name="Text 5"/>
              <p:cNvSpPr/>
              <p:nvPr/>
            </p:nvSpPr>
            <p:spPr>
              <a:xfrm>
                <a:off x="571500" y="2386654"/>
                <a:ext cx="2524116" cy="594778"/>
              </a:xfrm>
              <a:prstGeom prst="rect">
                <a:avLst/>
              </a:prstGeom>
              <a:noFill/>
              <a:ln/>
            </p:spPr>
            <p:txBody>
              <a:bodyPr wrap="square" lIns="212598" tIns="0" rIns="0" bIns="0" rtlCol="0" anchor="t">
                <a:spAutoFit/>
              </a:bodyPr>
              <a:lstStyle/>
              <a:p>
                <a:pPr marL="0" indent="0">
                  <a:lnSpc>
                    <a:spcPct val="120000"/>
                  </a:lnSpc>
                  <a:buNone/>
                </a:pPr>
                <a:r>
                  <a:rPr lang="en-US" sz="1100" dirty="0">
                    <a:solidFill>
                      <a:srgbClr val="0F294A"/>
                    </a:solidFill>
                    <a:latin typeface="Inter" pitchFamily="34" charset="0"/>
                    <a:ea typeface="Inter" pitchFamily="34" charset="-122"/>
                    <a:cs typeface="Inter" pitchFamily="34" charset="-120"/>
                  </a:rPr>
                  <a:t>Robust Proctoring:</a:t>
                </a:r>
                <a:r>
                  <a:rPr lang="en-US" sz="1100" dirty="0">
                    <a:solidFill>
                      <a:srgbClr val="2C3E50"/>
                    </a:solidFill>
                    <a:latin typeface="Inter Light" pitchFamily="34" charset="0"/>
                    <a:ea typeface="Inter Light" pitchFamily="34" charset="-122"/>
                    <a:cs typeface="Inter Light" pitchFamily="34" charset="-120"/>
                  </a:rPr>
                  <a:t> Built a secure desktop solution with OS-level enforcement.</a:t>
                </a:r>
                <a:endParaRPr lang="en-US" sz="1100" dirty="0"/>
              </a:p>
            </p:txBody>
          </p:sp>
          <p:sp>
            <p:nvSpPr>
              <p:cNvPr id="11" name="Text 8"/>
              <p:cNvSpPr/>
              <p:nvPr/>
            </p:nvSpPr>
            <p:spPr>
              <a:xfrm>
                <a:off x="571500" y="2386654"/>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nvGrpSpPr>
            <p:cNvPr id="33" name="Group 32"/>
            <p:cNvGrpSpPr/>
            <p:nvPr/>
          </p:nvGrpSpPr>
          <p:grpSpPr>
            <a:xfrm>
              <a:off x="571500" y="2964027"/>
              <a:ext cx="2524116" cy="594778"/>
              <a:chOff x="571500" y="2836711"/>
              <a:chExt cx="2524116" cy="594778"/>
            </a:xfrm>
          </p:grpSpPr>
          <p:sp>
            <p:nvSpPr>
              <p:cNvPr id="9" name="Text 6"/>
              <p:cNvSpPr/>
              <p:nvPr/>
            </p:nvSpPr>
            <p:spPr>
              <a:xfrm>
                <a:off x="571500" y="2836711"/>
                <a:ext cx="2524116" cy="594778"/>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Integrity Focus:</a:t>
                </a:r>
                <a:r>
                  <a:rPr lang="en-US" sz="1100" dirty="0">
                    <a:solidFill>
                      <a:srgbClr val="2C3E50"/>
                    </a:solidFill>
                    <a:latin typeface="Inter Light" pitchFamily="34" charset="0"/>
                    <a:ea typeface="Inter Light" pitchFamily="34" charset="-122"/>
                    <a:cs typeface="Inter Light" pitchFamily="34" charset="-120"/>
                  </a:rPr>
                  <a:t> Developed a non-bypassable environment for fair assessment.</a:t>
                </a:r>
                <a:endParaRPr lang="en-US" sz="1100" dirty="0"/>
              </a:p>
            </p:txBody>
          </p:sp>
          <p:sp>
            <p:nvSpPr>
              <p:cNvPr id="12" name="Text 9"/>
              <p:cNvSpPr/>
              <p:nvPr/>
            </p:nvSpPr>
            <p:spPr>
              <a:xfrm>
                <a:off x="571500" y="2836711"/>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nvGrpSpPr>
            <p:cNvPr id="32" name="Group 31"/>
            <p:cNvGrpSpPr/>
            <p:nvPr/>
          </p:nvGrpSpPr>
          <p:grpSpPr>
            <a:xfrm>
              <a:off x="571500" y="3608692"/>
              <a:ext cx="2524116" cy="391646"/>
              <a:chOff x="571500" y="3458217"/>
              <a:chExt cx="2524116" cy="391646"/>
            </a:xfrm>
          </p:grpSpPr>
          <p:sp>
            <p:nvSpPr>
              <p:cNvPr id="10" name="Text 7"/>
              <p:cNvSpPr/>
              <p:nvPr/>
            </p:nvSpPr>
            <p:spPr>
              <a:xfrm>
                <a:off x="571500" y="3458217"/>
                <a:ext cx="2524116" cy="391646"/>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Automation:</a:t>
                </a:r>
                <a:r>
                  <a:rPr lang="en-US" sz="1100" dirty="0">
                    <a:solidFill>
                      <a:srgbClr val="2C3E50"/>
                    </a:solidFill>
                    <a:latin typeface="Inter Light" pitchFamily="34" charset="0"/>
                    <a:ea typeface="Inter Light" pitchFamily="34" charset="-122"/>
                    <a:cs typeface="Inter Light" pitchFamily="34" charset="-120"/>
                  </a:rPr>
                  <a:t> Streamlined grading and violation logging for educators.</a:t>
                </a:r>
                <a:endParaRPr lang="en-US" sz="1100" dirty="0"/>
              </a:p>
            </p:txBody>
          </p:sp>
          <p:sp>
            <p:nvSpPr>
              <p:cNvPr id="13" name="Text 10"/>
              <p:cNvSpPr/>
              <p:nvPr/>
            </p:nvSpPr>
            <p:spPr>
              <a:xfrm>
                <a:off x="571500" y="3458217"/>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sp>
        <p:nvSpPr>
          <p:cNvPr id="14" name="Text 11"/>
          <p:cNvSpPr/>
          <p:nvPr/>
        </p:nvSpPr>
        <p:spPr>
          <a:xfrm>
            <a:off x="3374222" y="2015179"/>
            <a:ext cx="2524116" cy="192360"/>
          </a:xfrm>
          <a:prstGeom prst="rect">
            <a:avLst/>
          </a:prstGeom>
          <a:noFill/>
          <a:ln/>
        </p:spPr>
        <p:txBody>
          <a:bodyPr wrap="square" lIns="0" tIns="0" rIns="0" bIns="0" rtlCol="0" anchor="t">
            <a:spAutoFit/>
          </a:bodyPr>
          <a:lstStyle/>
          <a:p>
            <a:pPr marL="0" indent="0" algn="l">
              <a:buNone/>
            </a:pPr>
            <a:r>
              <a:rPr lang="en-US" sz="1250" kern="0" spc="1" dirty="0" smtClean="0">
                <a:solidFill>
                  <a:srgbClr val="D35400"/>
                </a:solidFill>
                <a:latin typeface="Playfair Display Bold" pitchFamily="34" charset="0"/>
                <a:ea typeface="Playfair Display Bold" pitchFamily="34" charset="-122"/>
                <a:cs typeface="Playfair Display Bold" pitchFamily="34" charset="-120"/>
              </a:rPr>
              <a:t>LIMITATIONS</a:t>
            </a:r>
            <a:endParaRPr lang="en-US" sz="1250" dirty="0"/>
          </a:p>
        </p:txBody>
      </p:sp>
      <p:grpSp>
        <p:nvGrpSpPr>
          <p:cNvPr id="43" name="Group 42"/>
          <p:cNvGrpSpPr/>
          <p:nvPr/>
        </p:nvGrpSpPr>
        <p:grpSpPr>
          <a:xfrm>
            <a:off x="3309928" y="2386654"/>
            <a:ext cx="2524116" cy="1666342"/>
            <a:chOff x="3309928" y="2386654"/>
            <a:chExt cx="2524116" cy="1666342"/>
          </a:xfrm>
        </p:grpSpPr>
        <p:grpSp>
          <p:nvGrpSpPr>
            <p:cNvPr id="37" name="Group 36"/>
            <p:cNvGrpSpPr/>
            <p:nvPr/>
          </p:nvGrpSpPr>
          <p:grpSpPr>
            <a:xfrm>
              <a:off x="3309928" y="2386654"/>
              <a:ext cx="2524116" cy="594778"/>
              <a:chOff x="3309928" y="2386654"/>
              <a:chExt cx="2524116" cy="594778"/>
            </a:xfrm>
          </p:grpSpPr>
          <p:sp>
            <p:nvSpPr>
              <p:cNvPr id="15" name="Text 12"/>
              <p:cNvSpPr/>
              <p:nvPr/>
            </p:nvSpPr>
            <p:spPr>
              <a:xfrm>
                <a:off x="3309928" y="2386654"/>
                <a:ext cx="2524116" cy="594778"/>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Platform:</a:t>
                </a:r>
                <a:r>
                  <a:rPr lang="en-US" sz="1100" dirty="0">
                    <a:solidFill>
                      <a:srgbClr val="2C3E50"/>
                    </a:solidFill>
                    <a:latin typeface="Inter Light" pitchFamily="34" charset="0"/>
                    <a:ea typeface="Inter Light" pitchFamily="34" charset="-122"/>
                    <a:cs typeface="Inter Light" pitchFamily="34" charset="-120"/>
                  </a:rPr>
                  <a:t> Currently optimized exclusively for Windows environments.</a:t>
                </a:r>
                <a:endParaRPr lang="en-US" sz="1100" dirty="0"/>
              </a:p>
            </p:txBody>
          </p:sp>
          <p:sp>
            <p:nvSpPr>
              <p:cNvPr id="18" name="Text 15"/>
              <p:cNvSpPr/>
              <p:nvPr/>
            </p:nvSpPr>
            <p:spPr>
              <a:xfrm>
                <a:off x="3309928" y="2386654"/>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nvGrpSpPr>
            <p:cNvPr id="36" name="Group 35"/>
            <p:cNvGrpSpPr/>
            <p:nvPr/>
          </p:nvGrpSpPr>
          <p:grpSpPr>
            <a:xfrm>
              <a:off x="3309928" y="3033993"/>
              <a:ext cx="2524116" cy="391646"/>
              <a:chOff x="3309928" y="2836711"/>
              <a:chExt cx="2524116" cy="391646"/>
            </a:xfrm>
          </p:grpSpPr>
          <p:sp>
            <p:nvSpPr>
              <p:cNvPr id="16" name="Text 13"/>
              <p:cNvSpPr/>
              <p:nvPr/>
            </p:nvSpPr>
            <p:spPr>
              <a:xfrm>
                <a:off x="3309928" y="2836711"/>
                <a:ext cx="2524116" cy="391646"/>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Scalability:</a:t>
                </a:r>
                <a:r>
                  <a:rPr lang="en-US" sz="1100" dirty="0">
                    <a:solidFill>
                      <a:srgbClr val="2C3E50"/>
                    </a:solidFill>
                    <a:latin typeface="Inter Light" pitchFamily="34" charset="0"/>
                    <a:ea typeface="Inter Light" pitchFamily="34" charset="-122"/>
                    <a:cs typeface="Inter Light" pitchFamily="34" charset="-120"/>
                  </a:rPr>
                  <a:t> SQLite backend is limited for large-scale concurrent use.</a:t>
                </a:r>
                <a:endParaRPr lang="en-US" sz="1100" dirty="0"/>
              </a:p>
            </p:txBody>
          </p:sp>
          <p:sp>
            <p:nvSpPr>
              <p:cNvPr id="19" name="Text 16"/>
              <p:cNvSpPr/>
              <p:nvPr/>
            </p:nvSpPr>
            <p:spPr>
              <a:xfrm>
                <a:off x="3309928" y="2836711"/>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nvGrpSpPr>
            <p:cNvPr id="35" name="Group 34"/>
            <p:cNvGrpSpPr/>
            <p:nvPr/>
          </p:nvGrpSpPr>
          <p:grpSpPr>
            <a:xfrm>
              <a:off x="3309928" y="3458218"/>
              <a:ext cx="2524116" cy="594778"/>
              <a:chOff x="3309928" y="3286767"/>
              <a:chExt cx="2524116" cy="594778"/>
            </a:xfrm>
          </p:grpSpPr>
          <p:sp>
            <p:nvSpPr>
              <p:cNvPr id="17" name="Text 14"/>
              <p:cNvSpPr/>
              <p:nvPr/>
            </p:nvSpPr>
            <p:spPr>
              <a:xfrm>
                <a:off x="3309928" y="3286767"/>
                <a:ext cx="2524116" cy="594778"/>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Analysis:</a:t>
                </a:r>
                <a:r>
                  <a:rPr lang="en-US" sz="1100" dirty="0">
                    <a:solidFill>
                      <a:srgbClr val="2C3E50"/>
                    </a:solidFill>
                    <a:latin typeface="Inter Light" pitchFamily="34" charset="0"/>
                    <a:ea typeface="Inter Light" pitchFamily="34" charset="-122"/>
                    <a:cs typeface="Inter Light" pitchFamily="34" charset="-120"/>
                  </a:rPr>
                  <a:t> Relies on rule-based detection rather than AI behavior analysis.</a:t>
                </a:r>
                <a:endParaRPr lang="en-US" sz="1100" dirty="0"/>
              </a:p>
            </p:txBody>
          </p:sp>
          <p:sp>
            <p:nvSpPr>
              <p:cNvPr id="20" name="Text 17"/>
              <p:cNvSpPr/>
              <p:nvPr/>
            </p:nvSpPr>
            <p:spPr>
              <a:xfrm>
                <a:off x="3309928" y="3286767"/>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sp>
        <p:nvSpPr>
          <p:cNvPr id="21" name="Text 18"/>
          <p:cNvSpPr/>
          <p:nvPr/>
        </p:nvSpPr>
        <p:spPr>
          <a:xfrm>
            <a:off x="6112650" y="1980323"/>
            <a:ext cx="2524144" cy="228600"/>
          </a:xfrm>
          <a:prstGeom prst="rect">
            <a:avLst/>
          </a:prstGeom>
          <a:noFill/>
          <a:ln/>
        </p:spPr>
        <p:txBody>
          <a:bodyPr wrap="square" lIns="0" tIns="0" rIns="0" bIns="0" rtlCol="0" anchor="t">
            <a:spAutoFit/>
          </a:bodyPr>
          <a:lstStyle/>
          <a:p>
            <a:pPr marL="0" indent="0" algn="l">
              <a:buNone/>
            </a:pPr>
            <a:r>
              <a:rPr lang="en-US" sz="1250" kern="0" spc="1" dirty="0">
                <a:solidFill>
                  <a:srgbClr val="D35400"/>
                </a:solidFill>
                <a:latin typeface="Playfair Display Bold" pitchFamily="34" charset="0"/>
                <a:ea typeface="Playfair Display Bold" pitchFamily="34" charset="-122"/>
                <a:cs typeface="Playfair Display Bold" pitchFamily="34" charset="-120"/>
              </a:rPr>
              <a:t>FUTURE WORK</a:t>
            </a:r>
            <a:endParaRPr lang="en-US" sz="1250" dirty="0"/>
          </a:p>
        </p:txBody>
      </p:sp>
      <p:sp>
        <p:nvSpPr>
          <p:cNvPr id="25" name="Shape 22"/>
          <p:cNvSpPr/>
          <p:nvPr/>
        </p:nvSpPr>
        <p:spPr>
          <a:xfrm>
            <a:off x="571500" y="4143375"/>
            <a:ext cx="8001000" cy="714375"/>
          </a:xfrm>
          <a:prstGeom prst="rect">
            <a:avLst/>
          </a:prstGeom>
          <a:solidFill>
            <a:srgbClr val="0070C0"/>
          </a:solidFill>
          <a:ln/>
        </p:spPr>
      </p:sp>
      <p:grpSp>
        <p:nvGrpSpPr>
          <p:cNvPr id="42" name="Group 41"/>
          <p:cNvGrpSpPr/>
          <p:nvPr/>
        </p:nvGrpSpPr>
        <p:grpSpPr>
          <a:xfrm>
            <a:off x="6048356" y="2386654"/>
            <a:ext cx="2524144" cy="1604053"/>
            <a:chOff x="6048356" y="2386654"/>
            <a:chExt cx="2524144" cy="1604053"/>
          </a:xfrm>
        </p:grpSpPr>
        <p:grpSp>
          <p:nvGrpSpPr>
            <p:cNvPr id="38" name="Group 37"/>
            <p:cNvGrpSpPr/>
            <p:nvPr/>
          </p:nvGrpSpPr>
          <p:grpSpPr>
            <a:xfrm>
              <a:off x="6048356" y="2386654"/>
              <a:ext cx="2524144" cy="391646"/>
              <a:chOff x="6048356" y="2386654"/>
              <a:chExt cx="2524144" cy="391646"/>
            </a:xfrm>
          </p:grpSpPr>
          <p:sp>
            <p:nvSpPr>
              <p:cNvPr id="22" name="Text 19"/>
              <p:cNvSpPr/>
              <p:nvPr/>
            </p:nvSpPr>
            <p:spPr>
              <a:xfrm>
                <a:off x="6048356" y="2386654"/>
                <a:ext cx="2524144" cy="391646"/>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Cross-Platform:</a:t>
                </a:r>
                <a:r>
                  <a:rPr lang="en-US" sz="1100" dirty="0">
                    <a:solidFill>
                      <a:srgbClr val="2C3E50"/>
                    </a:solidFill>
                    <a:latin typeface="Inter Light" pitchFamily="34" charset="0"/>
                    <a:ea typeface="Inter Light" pitchFamily="34" charset="-122"/>
                    <a:cs typeface="Inter Light" pitchFamily="34" charset="-120"/>
                  </a:rPr>
                  <a:t> Expanding security features to macOS and Linux.</a:t>
                </a:r>
                <a:endParaRPr lang="en-US" sz="1100" dirty="0"/>
              </a:p>
            </p:txBody>
          </p:sp>
          <p:sp>
            <p:nvSpPr>
              <p:cNvPr id="26" name="Text 23"/>
              <p:cNvSpPr/>
              <p:nvPr/>
            </p:nvSpPr>
            <p:spPr>
              <a:xfrm>
                <a:off x="6048356" y="2386654"/>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nvGrpSpPr>
            <p:cNvPr id="39" name="Group 38"/>
            <p:cNvGrpSpPr/>
            <p:nvPr/>
          </p:nvGrpSpPr>
          <p:grpSpPr>
            <a:xfrm>
              <a:off x="6048356" y="2836711"/>
              <a:ext cx="2524144" cy="391646"/>
              <a:chOff x="6048356" y="2836711"/>
              <a:chExt cx="2524144" cy="391646"/>
            </a:xfrm>
          </p:grpSpPr>
          <p:sp>
            <p:nvSpPr>
              <p:cNvPr id="23" name="Text 20"/>
              <p:cNvSpPr/>
              <p:nvPr/>
            </p:nvSpPr>
            <p:spPr>
              <a:xfrm>
                <a:off x="6048356" y="2836711"/>
                <a:ext cx="2524144" cy="391646"/>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AI Integration:</a:t>
                </a:r>
                <a:r>
                  <a:rPr lang="en-US" sz="1100" dirty="0">
                    <a:solidFill>
                      <a:srgbClr val="2C3E50"/>
                    </a:solidFill>
                    <a:latin typeface="Inter Light" pitchFamily="34" charset="0"/>
                    <a:ea typeface="Inter Light" pitchFamily="34" charset="-122"/>
                    <a:cs typeface="Inter Light" pitchFamily="34" charset="-120"/>
                  </a:rPr>
                  <a:t> Facial recognition and ML-based behavior proctoring.</a:t>
                </a:r>
                <a:endParaRPr lang="en-US" sz="1100" dirty="0"/>
              </a:p>
            </p:txBody>
          </p:sp>
          <p:sp>
            <p:nvSpPr>
              <p:cNvPr id="27" name="Text 24"/>
              <p:cNvSpPr/>
              <p:nvPr/>
            </p:nvSpPr>
            <p:spPr>
              <a:xfrm>
                <a:off x="6048356" y="2836711"/>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nvGrpSpPr>
            <p:cNvPr id="40" name="Group 39"/>
            <p:cNvGrpSpPr/>
            <p:nvPr/>
          </p:nvGrpSpPr>
          <p:grpSpPr>
            <a:xfrm>
              <a:off x="6048356" y="3395929"/>
              <a:ext cx="2524144" cy="594778"/>
              <a:chOff x="6048356" y="3286767"/>
              <a:chExt cx="2524144" cy="594778"/>
            </a:xfrm>
          </p:grpSpPr>
          <p:sp>
            <p:nvSpPr>
              <p:cNvPr id="24" name="Text 21"/>
              <p:cNvSpPr/>
              <p:nvPr/>
            </p:nvSpPr>
            <p:spPr>
              <a:xfrm>
                <a:off x="6048356" y="3286767"/>
                <a:ext cx="2524144" cy="594778"/>
              </a:xfrm>
              <a:prstGeom prst="rect">
                <a:avLst/>
              </a:prstGeom>
              <a:noFill/>
              <a:ln/>
            </p:spPr>
            <p:txBody>
              <a:bodyPr wrap="square" lIns="212598" tIns="0" rIns="0" bIns="0" rtlCol="0" anchor="t">
                <a:spAutoFit/>
              </a:bodyPr>
              <a:lstStyle/>
              <a:p>
                <a:pPr marL="0" indent="0" algn="l">
                  <a:lnSpc>
                    <a:spcPct val="120000"/>
                  </a:lnSpc>
                  <a:buNone/>
                </a:pPr>
                <a:r>
                  <a:rPr lang="en-US" sz="1100" dirty="0">
                    <a:solidFill>
                      <a:srgbClr val="0F294A"/>
                    </a:solidFill>
                    <a:latin typeface="Inter" pitchFamily="34" charset="0"/>
                    <a:ea typeface="Inter" pitchFamily="34" charset="-122"/>
                    <a:cs typeface="Inter" pitchFamily="34" charset="-120"/>
                  </a:rPr>
                  <a:t>Cloud Migration:</a:t>
                </a:r>
                <a:r>
                  <a:rPr lang="en-US" sz="1100" dirty="0">
                    <a:solidFill>
                      <a:srgbClr val="2C3E50"/>
                    </a:solidFill>
                    <a:latin typeface="Inter Light" pitchFamily="34" charset="0"/>
                    <a:ea typeface="Inter Light" pitchFamily="34" charset="-122"/>
                    <a:cs typeface="Inter Light" pitchFamily="34" charset="-120"/>
                  </a:rPr>
                  <a:t> Moving to FastAPI/MySQL for institutional scalability.</a:t>
                </a:r>
                <a:endParaRPr lang="en-US" sz="1100" dirty="0"/>
              </a:p>
            </p:txBody>
          </p:sp>
          <p:sp>
            <p:nvSpPr>
              <p:cNvPr id="28" name="Text 25"/>
              <p:cNvSpPr/>
              <p:nvPr/>
            </p:nvSpPr>
            <p:spPr>
              <a:xfrm>
                <a:off x="6048356" y="3286767"/>
                <a:ext cx="64294" cy="171450"/>
              </a:xfrm>
              <a:prstGeom prst="rect">
                <a:avLst/>
              </a:prstGeom>
              <a:noFill/>
              <a:ln/>
            </p:spPr>
            <p:txBody>
              <a:bodyPr wrap="none" lIns="0" tIns="0" rIns="0" bIns="0" rtlCol="0" anchor="t">
                <a:spAutoFit/>
              </a:bodyPr>
              <a:lstStyle/>
              <a:p>
                <a:pPr marL="0" indent="0" algn="l">
                  <a:lnSpc>
                    <a:spcPct val="120000"/>
                  </a:lnSpc>
                  <a:buNone/>
                </a:pPr>
                <a:r>
                  <a:rPr lang="en-US" sz="800" b="1" dirty="0">
                    <a:solidFill>
                      <a:srgbClr val="2980B9"/>
                    </a:solidFill>
                    <a:latin typeface="Inter" pitchFamily="34" charset="0"/>
                    <a:ea typeface="Inter" pitchFamily="34" charset="-122"/>
                    <a:cs typeface="Inter" pitchFamily="34" charset="-120"/>
                  </a:rPr>
                  <a:t>•</a:t>
                </a:r>
                <a:endParaRPr lang="en-US" sz="800" dirty="0"/>
              </a:p>
            </p:txBody>
          </p:sp>
        </p:grpSp>
      </p:grpSp>
      <p:sp>
        <p:nvSpPr>
          <p:cNvPr id="29" name="Text 26"/>
          <p:cNvSpPr/>
          <p:nvPr/>
        </p:nvSpPr>
        <p:spPr>
          <a:xfrm>
            <a:off x="1219084" y="4500269"/>
            <a:ext cx="447174" cy="169277"/>
          </a:xfrm>
          <a:prstGeom prst="rect">
            <a:avLst/>
          </a:prstGeom>
          <a:noFill/>
          <a:ln/>
        </p:spPr>
        <p:txBody>
          <a:bodyPr wrap="none" lIns="0" tIns="0" rIns="0" bIns="0" rtlCol="0" anchor="t">
            <a:spAutoFit/>
          </a:bodyPr>
          <a:lstStyle/>
          <a:p>
            <a:pPr marL="0" indent="0" algn="l">
              <a:buNone/>
            </a:pPr>
            <a:r>
              <a:rPr lang="en-US" sz="1100" kern="0" spc="2" dirty="0">
                <a:solidFill>
                  <a:schemeClr val="accent2">
                    <a:lumMod val="60000"/>
                    <a:lumOff val="40000"/>
                  </a:schemeClr>
                </a:solidFill>
                <a:latin typeface="Inter" pitchFamily="34" charset="0"/>
                <a:ea typeface="Inter" pitchFamily="34" charset="-122"/>
                <a:cs typeface="Inter" pitchFamily="34" charset="-120"/>
              </a:rPr>
              <a:t>VISION</a:t>
            </a:r>
            <a:endParaRPr lang="en-US" sz="1100" dirty="0">
              <a:solidFill>
                <a:schemeClr val="accent2">
                  <a:lumMod val="60000"/>
                  <a:lumOff val="40000"/>
                </a:schemeClr>
              </a:solidFill>
            </a:endParaRPr>
          </a:p>
        </p:txBody>
      </p:sp>
      <p:sp>
        <p:nvSpPr>
          <p:cNvPr id="30" name="Text 27"/>
          <p:cNvSpPr/>
          <p:nvPr/>
        </p:nvSpPr>
        <p:spPr>
          <a:xfrm>
            <a:off x="1747281" y="4494312"/>
            <a:ext cx="5990034" cy="169277"/>
          </a:xfrm>
          <a:prstGeom prst="rect">
            <a:avLst/>
          </a:prstGeom>
          <a:noFill/>
          <a:ln/>
        </p:spPr>
        <p:txBody>
          <a:bodyPr wrap="square" lIns="0" tIns="0" rIns="0" bIns="0" rtlCol="0" anchor="t">
            <a:spAutoFit/>
          </a:bodyPr>
          <a:lstStyle/>
          <a:p>
            <a:pPr marL="0" indent="0" algn="l">
              <a:buNone/>
            </a:pPr>
            <a:r>
              <a:rPr lang="en-US" sz="1100" dirty="0">
                <a:solidFill>
                  <a:srgbClr val="FFFFFF"/>
                </a:solidFill>
                <a:latin typeface="Inter Light" pitchFamily="34" charset="0"/>
                <a:ea typeface="Inter Light" pitchFamily="34" charset="-122"/>
                <a:cs typeface="Inter Light" pitchFamily="34" charset="-120"/>
              </a:rPr>
              <a:t>Bridging the gap between digital convenience and absolute academic </a:t>
            </a:r>
            <a:r>
              <a:rPr lang="en-US" sz="1100" dirty="0" smtClean="0">
                <a:solidFill>
                  <a:srgbClr val="FFFFFF"/>
                </a:solidFill>
                <a:latin typeface="Inter Light" pitchFamily="34" charset="0"/>
                <a:ea typeface="Inter Light" pitchFamily="34" charset="-122"/>
                <a:cs typeface="Inter Light" pitchFamily="34" charset="-120"/>
              </a:rPr>
              <a:t>integrity.</a:t>
            </a:r>
            <a:endParaRPr lang="en-US" sz="1100" dirty="0"/>
          </a:p>
        </p:txBody>
      </p:sp>
      <p:sp>
        <p:nvSpPr>
          <p:cNvPr id="31" name="Shape 1"/>
          <p:cNvSpPr/>
          <p:nvPr/>
        </p:nvSpPr>
        <p:spPr>
          <a:xfrm>
            <a:off x="1086" y="713230"/>
            <a:ext cx="57150" cy="701873"/>
          </a:xfrm>
          <a:prstGeom prst="rect">
            <a:avLst/>
          </a:prstGeom>
          <a:solidFill>
            <a:srgbClr val="0070C0"/>
          </a:solidFill>
          <a:ln>
            <a:noFill/>
          </a:ln>
        </p:spPr>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1415104"/>
          </a:xfrm>
          <a:prstGeom prst="rect">
            <a:avLst/>
          </a:prstGeom>
          <a:solidFill>
            <a:srgbClr val="000000">
              <a:alpha val="0"/>
            </a:srgbClr>
          </a:solidFill>
          <a:ln/>
        </p:spPr>
      </p:sp>
      <p:sp>
        <p:nvSpPr>
          <p:cNvPr id="5" name="Text 2"/>
          <p:cNvSpPr/>
          <p:nvPr/>
        </p:nvSpPr>
        <p:spPr>
          <a:xfrm>
            <a:off x="571500" y="713231"/>
            <a:ext cx="8572500" cy="377026"/>
          </a:xfrm>
          <a:prstGeom prst="rect">
            <a:avLst/>
          </a:prstGeom>
          <a:noFill/>
          <a:ln/>
        </p:spPr>
        <p:txBody>
          <a:bodyPr wrap="square" lIns="170053" tIns="0" rIns="0" bIns="0" rtlCol="0" anchor="t">
            <a:spAutoFit/>
          </a:bodyPr>
          <a:lstStyle/>
          <a:p>
            <a:pPr marL="0" indent="0" algn="l">
              <a:buNone/>
            </a:pPr>
            <a:r>
              <a:rPr lang="en-US" sz="2450" b="1" dirty="0" smtClean="0">
                <a:solidFill>
                  <a:srgbClr val="0F294A"/>
                </a:solidFill>
                <a:latin typeface="Playfair Display Bold" pitchFamily="34" charset="0"/>
                <a:ea typeface="Playfair Display Bold" pitchFamily="34" charset="-122"/>
                <a:cs typeface="Playfair Display Bold" pitchFamily="34" charset="-120"/>
              </a:rPr>
              <a:t>Discussion </a:t>
            </a:r>
            <a:r>
              <a:rPr lang="en-US" sz="2450" b="1" dirty="0">
                <a:solidFill>
                  <a:srgbClr val="0F294A"/>
                </a:solidFill>
                <a:latin typeface="Playfair Display Bold" pitchFamily="34" charset="0"/>
                <a:ea typeface="Playfair Display Bold" pitchFamily="34" charset="-122"/>
                <a:cs typeface="Playfair Display Bold" pitchFamily="34" charset="-120"/>
              </a:rPr>
              <a:t>&amp; Problems</a:t>
            </a:r>
            <a:endParaRPr lang="en-US" sz="2450" dirty="0"/>
          </a:p>
        </p:txBody>
      </p:sp>
      <p:sp>
        <p:nvSpPr>
          <p:cNvPr id="6" name="Text 3"/>
          <p:cNvSpPr/>
          <p:nvPr/>
        </p:nvSpPr>
        <p:spPr>
          <a:xfrm>
            <a:off x="571500" y="1241868"/>
            <a:ext cx="8572500" cy="173236"/>
          </a:xfrm>
          <a:prstGeom prst="rect">
            <a:avLst/>
          </a:prstGeom>
          <a:noFill/>
          <a:ln/>
        </p:spPr>
        <p:txBody>
          <a:bodyPr wrap="square" lIns="170053" tIns="0" rIns="0" bIns="0" rtlCol="0" anchor="t">
            <a:spAutoFit/>
          </a:bodyPr>
          <a:lstStyle/>
          <a:p>
            <a:pPr marL="0" indent="0" algn="l">
              <a:buNone/>
            </a:pPr>
            <a:r>
              <a:rPr lang="en-US" sz="1050" kern="0" spc="2" dirty="0">
                <a:solidFill>
                  <a:srgbClr val="2980B9"/>
                </a:solidFill>
                <a:latin typeface="Inter Medium" pitchFamily="34" charset="0"/>
                <a:ea typeface="Inter Medium" pitchFamily="34" charset="-122"/>
                <a:cs typeface="Inter Medium" pitchFamily="34" charset="-120"/>
              </a:rPr>
              <a:t>REFLECTIONS ON THE DEVELOPMENT JOURNEY</a:t>
            </a:r>
            <a:endParaRPr lang="en-US" sz="1050" dirty="0"/>
          </a:p>
        </p:txBody>
      </p:sp>
      <p:sp>
        <p:nvSpPr>
          <p:cNvPr id="7" name="Text 4"/>
          <p:cNvSpPr/>
          <p:nvPr/>
        </p:nvSpPr>
        <p:spPr>
          <a:xfrm>
            <a:off x="957263" y="1843729"/>
            <a:ext cx="3400425" cy="246221"/>
          </a:xfrm>
          <a:prstGeom prst="rect">
            <a:avLst/>
          </a:prstGeom>
          <a:noFill/>
          <a:ln/>
        </p:spPr>
        <p:txBody>
          <a:bodyPr wrap="square" lIns="0" tIns="0" rIns="0" bIns="0" rtlCol="0" anchor="t">
            <a:spAutoFit/>
          </a:bodyPr>
          <a:lstStyle/>
          <a:p>
            <a:pPr marL="0" indent="0" algn="l">
              <a:buNone/>
            </a:pPr>
            <a:r>
              <a:rPr lang="en-US" sz="1600" dirty="0">
                <a:solidFill>
                  <a:srgbClr val="0F294A"/>
                </a:solidFill>
                <a:latin typeface="Playfair Display Bold" pitchFamily="34" charset="0"/>
                <a:ea typeface="Playfair Display Bold" pitchFamily="34" charset="-122"/>
                <a:cs typeface="Playfair Display Bold" pitchFamily="34" charset="-120"/>
              </a:rPr>
              <a:t>Critical Reflections</a:t>
            </a:r>
            <a:endParaRPr lang="en-US" sz="1600" dirty="0"/>
          </a:p>
        </p:txBody>
      </p:sp>
      <p:sp>
        <p:nvSpPr>
          <p:cNvPr id="8" name="Text 5"/>
          <p:cNvSpPr/>
          <p:nvPr/>
        </p:nvSpPr>
        <p:spPr>
          <a:xfrm>
            <a:off x="957263" y="2290214"/>
            <a:ext cx="3400425" cy="848694"/>
          </a:xfrm>
          <a:prstGeom prst="rect">
            <a:avLst/>
          </a:prstGeom>
          <a:noFill/>
          <a:ln/>
        </p:spPr>
        <p:txBody>
          <a:bodyPr wrap="square" lIns="0" tIns="0" rIns="0" bIns="0" rtlCol="0" anchor="t">
            <a:spAutoFit/>
          </a:bodyPr>
          <a:lstStyle/>
          <a:p>
            <a:pPr marL="0" indent="0" algn="l">
              <a:lnSpc>
                <a:spcPct val="128000"/>
              </a:lnSpc>
              <a:buNone/>
            </a:pPr>
            <a:r>
              <a:rPr lang="en-US" sz="1100" dirty="0">
                <a:solidFill>
                  <a:srgbClr val="2C3E50"/>
                </a:solidFill>
                <a:latin typeface="Inter Light" pitchFamily="34" charset="0"/>
                <a:ea typeface="Inter Light" pitchFamily="34" charset="-122"/>
                <a:cs typeface="Inter Light" pitchFamily="34" charset="-120"/>
              </a:rPr>
              <a:t>The development of OES-ACS proved that </a:t>
            </a:r>
            <a:r>
              <a:rPr lang="en-US" sz="1100" dirty="0">
                <a:solidFill>
                  <a:srgbClr val="D35400"/>
                </a:solidFill>
                <a:latin typeface="Inter Medium" pitchFamily="34" charset="0"/>
                <a:ea typeface="Inter Medium" pitchFamily="34" charset="-122"/>
                <a:cs typeface="Inter Medium" pitchFamily="34" charset="-120"/>
              </a:rPr>
              <a:t>low-level system control</a:t>
            </a:r>
            <a:r>
              <a:rPr lang="en-US" sz="1100" dirty="0">
                <a:solidFill>
                  <a:srgbClr val="2C3E50"/>
                </a:solidFill>
                <a:latin typeface="Inter Light" pitchFamily="34" charset="0"/>
                <a:ea typeface="Inter Light" pitchFamily="34" charset="-122"/>
                <a:cs typeface="Inter Light" pitchFamily="34" charset="-120"/>
              </a:rPr>
              <a:t> is the only way to truly secure digital exams. The flexibility of the </a:t>
            </a:r>
            <a:r>
              <a:rPr lang="en-US" sz="1100" dirty="0">
                <a:solidFill>
                  <a:srgbClr val="D35400"/>
                </a:solidFill>
                <a:latin typeface="Inter Medium" pitchFamily="34" charset="0"/>
                <a:ea typeface="Inter Medium" pitchFamily="34" charset="-122"/>
                <a:cs typeface="Inter Medium" pitchFamily="34" charset="-120"/>
              </a:rPr>
              <a:t>Incremental Model</a:t>
            </a:r>
            <a:r>
              <a:rPr lang="en-US" sz="1100" dirty="0">
                <a:solidFill>
                  <a:srgbClr val="2C3E50"/>
                </a:solidFill>
                <a:latin typeface="Inter Light" pitchFamily="34" charset="0"/>
                <a:ea typeface="Inter Light" pitchFamily="34" charset="-122"/>
                <a:cs typeface="Inter Light" pitchFamily="34" charset="-120"/>
              </a:rPr>
              <a:t> was vital in managing the complexity of OS-level hooks.</a:t>
            </a:r>
            <a:endParaRPr lang="en-US" sz="1100" dirty="0"/>
          </a:p>
        </p:txBody>
      </p:sp>
      <p:sp>
        <p:nvSpPr>
          <p:cNvPr id="9" name="Text 6"/>
          <p:cNvSpPr/>
          <p:nvPr/>
        </p:nvSpPr>
        <p:spPr>
          <a:xfrm>
            <a:off x="957263" y="3255959"/>
            <a:ext cx="3400425" cy="632033"/>
          </a:xfrm>
          <a:prstGeom prst="rect">
            <a:avLst/>
          </a:prstGeom>
          <a:noFill/>
          <a:ln/>
        </p:spPr>
        <p:txBody>
          <a:bodyPr wrap="square" lIns="0" tIns="0" rIns="0" bIns="0" rtlCol="0" anchor="t">
            <a:spAutoFit/>
          </a:bodyPr>
          <a:lstStyle/>
          <a:p>
            <a:pPr marL="0" indent="0" algn="l">
              <a:lnSpc>
                <a:spcPct val="128000"/>
              </a:lnSpc>
              <a:buNone/>
            </a:pPr>
            <a:r>
              <a:rPr lang="en-US" sz="1100" dirty="0">
                <a:solidFill>
                  <a:srgbClr val="2C3E50"/>
                </a:solidFill>
                <a:latin typeface="Inter Light" pitchFamily="34" charset="0"/>
                <a:ea typeface="Inter Light" pitchFamily="34" charset="-122"/>
                <a:cs typeface="Inter Light" pitchFamily="34" charset="-120"/>
              </a:rPr>
              <a:t>We learned that security is not a "set and forget" feature but an iterative process of </a:t>
            </a:r>
            <a:r>
              <a:rPr lang="en-US" sz="1100" dirty="0">
                <a:solidFill>
                  <a:srgbClr val="D35400"/>
                </a:solidFill>
                <a:latin typeface="Inter Medium" pitchFamily="34" charset="0"/>
                <a:ea typeface="Inter Medium" pitchFamily="34" charset="-122"/>
                <a:cs typeface="Inter Medium" pitchFamily="34" charset="-120"/>
              </a:rPr>
              <a:t>breaking and fixing</a:t>
            </a:r>
            <a:r>
              <a:rPr lang="en-US" sz="1100" dirty="0">
                <a:solidFill>
                  <a:srgbClr val="2C3E50"/>
                </a:solidFill>
                <a:latin typeface="Inter Light" pitchFamily="34" charset="0"/>
                <a:ea typeface="Inter Light" pitchFamily="34" charset="-122"/>
                <a:cs typeface="Inter Light" pitchFamily="34" charset="-120"/>
              </a:rPr>
              <a:t> until the environment is truly non-bypassable.</a:t>
            </a:r>
            <a:endParaRPr lang="en-US" sz="1100" dirty="0"/>
          </a:p>
        </p:txBody>
      </p:sp>
      <p:sp>
        <p:nvSpPr>
          <p:cNvPr id="10" name="Shape 7"/>
          <p:cNvSpPr/>
          <p:nvPr/>
        </p:nvSpPr>
        <p:spPr>
          <a:xfrm>
            <a:off x="4786313" y="1843729"/>
            <a:ext cx="3643313" cy="2757488"/>
          </a:xfrm>
          <a:prstGeom prst="rect">
            <a:avLst/>
          </a:prstGeom>
          <a:solidFill>
            <a:srgbClr val="0F294A"/>
          </a:solidFill>
          <a:ln/>
        </p:spPr>
      </p:sp>
      <p:sp>
        <p:nvSpPr>
          <p:cNvPr id="11" name="Shape 8"/>
          <p:cNvSpPr/>
          <p:nvPr/>
        </p:nvSpPr>
        <p:spPr>
          <a:xfrm>
            <a:off x="4786313" y="1843729"/>
            <a:ext cx="3643313" cy="42863"/>
          </a:xfrm>
          <a:prstGeom prst="rect">
            <a:avLst/>
          </a:prstGeom>
          <a:solidFill>
            <a:srgbClr val="D35400"/>
          </a:solidFill>
          <a:ln/>
        </p:spPr>
      </p:sp>
      <p:sp>
        <p:nvSpPr>
          <p:cNvPr id="12" name="Text 9"/>
          <p:cNvSpPr/>
          <p:nvPr/>
        </p:nvSpPr>
        <p:spPr>
          <a:xfrm>
            <a:off x="5072063" y="2058042"/>
            <a:ext cx="3071813" cy="248245"/>
          </a:xfrm>
          <a:prstGeom prst="rect">
            <a:avLst/>
          </a:prstGeom>
          <a:noFill/>
          <a:ln/>
        </p:spPr>
        <p:txBody>
          <a:bodyPr wrap="square" lIns="0" tIns="0" rIns="0" bIns="0" rtlCol="0" anchor="t">
            <a:spAutoFit/>
          </a:bodyPr>
          <a:lstStyle/>
          <a:p>
            <a:pPr marL="0" indent="0" algn="l">
              <a:buNone/>
            </a:pPr>
            <a:r>
              <a:rPr lang="en-US" sz="1400" kern="0" spc="1" dirty="0">
                <a:solidFill>
                  <a:srgbClr val="D35400"/>
                </a:solidFill>
                <a:latin typeface="Playfair Display Bold" pitchFamily="34" charset="0"/>
                <a:ea typeface="Playfair Display Bold" pitchFamily="34" charset="-122"/>
                <a:cs typeface="Playfair Display Bold" pitchFamily="34" charset="-120"/>
              </a:rPr>
              <a:t>PROBLEMS FACED &amp; SOLVED</a:t>
            </a:r>
            <a:endParaRPr lang="en-US" sz="1400" dirty="0"/>
          </a:p>
        </p:txBody>
      </p:sp>
      <p:pic>
        <p:nvPicPr>
          <p:cNvPr id="13" name="Image 1" descr="preencoded.png"/>
          <p:cNvPicPr>
            <a:picLocks noChangeAspect="1"/>
          </p:cNvPicPr>
          <p:nvPr/>
        </p:nvPicPr>
        <p:blipFill>
          <a:blip r:embed="rId4"/>
          <a:stretch>
            <a:fillRect/>
          </a:stretch>
        </p:blipFill>
        <p:spPr>
          <a:xfrm>
            <a:off x="5072063" y="2534887"/>
            <a:ext cx="142875" cy="142875"/>
          </a:xfrm>
          <a:prstGeom prst="rect">
            <a:avLst/>
          </a:prstGeom>
        </p:spPr>
      </p:pic>
      <p:sp>
        <p:nvSpPr>
          <p:cNvPr id="14" name="Text 10"/>
          <p:cNvSpPr/>
          <p:nvPr/>
        </p:nvSpPr>
        <p:spPr>
          <a:xfrm>
            <a:off x="5322094" y="2484881"/>
            <a:ext cx="2821781" cy="557589"/>
          </a:xfrm>
          <a:prstGeom prst="rect">
            <a:avLst/>
          </a:prstGeom>
          <a:noFill/>
          <a:ln/>
        </p:spPr>
        <p:txBody>
          <a:bodyPr wrap="square" lIns="0" tIns="0" rIns="0" bIns="0" rtlCol="0" anchor="t">
            <a:spAutoFit/>
          </a:bodyPr>
          <a:lstStyle/>
          <a:p>
            <a:pPr marL="0" indent="0" algn="l">
              <a:lnSpc>
                <a:spcPct val="112000"/>
              </a:lnSpc>
              <a:buNone/>
            </a:pPr>
            <a:r>
              <a:rPr lang="en-US" sz="1100" dirty="0">
                <a:solidFill>
                  <a:srgbClr val="D35400"/>
                </a:solidFill>
                <a:latin typeface="Inter Medium" pitchFamily="34" charset="0"/>
                <a:ea typeface="Inter Medium" pitchFamily="34" charset="-122"/>
                <a:cs typeface="Inter Medium" pitchFamily="34" charset="-120"/>
              </a:rPr>
              <a:t>Anti-Cheat Failure:</a:t>
            </a:r>
            <a:r>
              <a:rPr lang="en-US" sz="1100" dirty="0">
                <a:solidFill>
                  <a:srgbClr val="FFFFFF"/>
                </a:solidFill>
                <a:latin typeface="Inter Light" pitchFamily="34" charset="0"/>
                <a:ea typeface="Inter Light" pitchFamily="34" charset="-122"/>
                <a:cs typeface="Inter Light" pitchFamily="34" charset="-120"/>
              </a:rPr>
              <a:t> Initially, the system failed to block shortcuts, allowing students to switch windows freely.</a:t>
            </a:r>
            <a:endParaRPr lang="en-US" sz="1100" dirty="0"/>
          </a:p>
        </p:txBody>
      </p:sp>
      <p:pic>
        <p:nvPicPr>
          <p:cNvPr id="15" name="Image 2" descr="preencoded.png"/>
          <p:cNvPicPr>
            <a:picLocks noChangeAspect="1"/>
          </p:cNvPicPr>
          <p:nvPr/>
        </p:nvPicPr>
        <p:blipFill>
          <a:blip r:embed="rId5"/>
          <a:stretch>
            <a:fillRect/>
          </a:stretch>
        </p:blipFill>
        <p:spPr>
          <a:xfrm>
            <a:off x="5072063" y="3157789"/>
            <a:ext cx="142875" cy="142875"/>
          </a:xfrm>
          <a:prstGeom prst="rect">
            <a:avLst/>
          </a:prstGeom>
        </p:spPr>
      </p:pic>
      <p:sp>
        <p:nvSpPr>
          <p:cNvPr id="16" name="Text 11"/>
          <p:cNvSpPr/>
          <p:nvPr/>
        </p:nvSpPr>
        <p:spPr>
          <a:xfrm>
            <a:off x="5322094" y="3107782"/>
            <a:ext cx="2821781" cy="557589"/>
          </a:xfrm>
          <a:prstGeom prst="rect">
            <a:avLst/>
          </a:prstGeom>
          <a:noFill/>
          <a:ln/>
        </p:spPr>
        <p:txBody>
          <a:bodyPr wrap="square" lIns="0" tIns="0" rIns="0" bIns="0" rtlCol="0" anchor="t">
            <a:spAutoFit/>
          </a:bodyPr>
          <a:lstStyle/>
          <a:p>
            <a:pPr>
              <a:lnSpc>
                <a:spcPct val="112000"/>
              </a:lnSpc>
            </a:pPr>
            <a:r>
              <a:rPr lang="en-US" sz="1100" dirty="0">
                <a:solidFill>
                  <a:srgbClr val="D35400"/>
                </a:solidFill>
                <a:latin typeface="Inter Medium" pitchFamily="34" charset="0"/>
                <a:ea typeface="Inter Medium" pitchFamily="34" charset="-122"/>
                <a:cs typeface="Inter Medium" pitchFamily="34" charset="-120"/>
              </a:rPr>
              <a:t>UI Scaling Issues:</a:t>
            </a:r>
            <a:r>
              <a:rPr lang="en-US" sz="1100" dirty="0">
                <a:solidFill>
                  <a:srgbClr val="FFFFFF"/>
                </a:solidFill>
                <a:latin typeface="Inter Light" pitchFamily="34" charset="0"/>
                <a:ea typeface="Inter Light" pitchFamily="34" charset="-122"/>
                <a:cs typeface="Inter Light" pitchFamily="34" charset="-120"/>
              </a:rPr>
              <a:t> Buttodifferentn sizes and layout alignment were inconsistent across </a:t>
            </a:r>
            <a:r>
              <a:rPr lang="en-US" sz="1100" dirty="0" smtClean="0">
                <a:solidFill>
                  <a:srgbClr val="FFFFFF"/>
                </a:solidFill>
                <a:latin typeface="Inter Light" pitchFamily="34" charset="0"/>
                <a:ea typeface="Inter Light" pitchFamily="34" charset="-122"/>
                <a:cs typeface="Inter Light" pitchFamily="34" charset="-120"/>
              </a:rPr>
              <a:t>screen </a:t>
            </a:r>
            <a:r>
              <a:rPr lang="en-US" sz="1100" dirty="0">
                <a:solidFill>
                  <a:srgbClr val="FFFFFF"/>
                </a:solidFill>
                <a:latin typeface="Inter Light" pitchFamily="34" charset="0"/>
                <a:ea typeface="Inter Light" pitchFamily="34" charset="-122"/>
                <a:cs typeface="Inter Light" pitchFamily="34" charset="-120"/>
              </a:rPr>
              <a:t>resolutions.</a:t>
            </a:r>
            <a:endParaRPr lang="en-US" sz="1100" dirty="0"/>
          </a:p>
        </p:txBody>
      </p:sp>
      <p:pic>
        <p:nvPicPr>
          <p:cNvPr id="17" name="Image 3" descr="preencoded.png"/>
          <p:cNvPicPr>
            <a:picLocks noChangeAspect="1"/>
          </p:cNvPicPr>
          <p:nvPr/>
        </p:nvPicPr>
        <p:blipFill>
          <a:blip r:embed="rId6"/>
          <a:stretch>
            <a:fillRect/>
          </a:stretch>
        </p:blipFill>
        <p:spPr>
          <a:xfrm>
            <a:off x="5072063" y="3780690"/>
            <a:ext cx="142875" cy="142875"/>
          </a:xfrm>
          <a:prstGeom prst="rect">
            <a:avLst/>
          </a:prstGeom>
        </p:spPr>
      </p:pic>
      <p:sp>
        <p:nvSpPr>
          <p:cNvPr id="18" name="Text 12"/>
          <p:cNvSpPr/>
          <p:nvPr/>
        </p:nvSpPr>
        <p:spPr>
          <a:xfrm>
            <a:off x="5322094" y="3730684"/>
            <a:ext cx="2821781" cy="557589"/>
          </a:xfrm>
          <a:prstGeom prst="rect">
            <a:avLst/>
          </a:prstGeom>
          <a:noFill/>
          <a:ln/>
        </p:spPr>
        <p:txBody>
          <a:bodyPr wrap="square" lIns="0" tIns="0" rIns="0" bIns="0" rtlCol="0" anchor="t">
            <a:spAutoFit/>
          </a:bodyPr>
          <a:lstStyle/>
          <a:p>
            <a:pPr>
              <a:lnSpc>
                <a:spcPct val="112000"/>
              </a:lnSpc>
            </a:pPr>
            <a:r>
              <a:rPr lang="en-US" sz="1100" dirty="0">
                <a:solidFill>
                  <a:srgbClr val="D35400"/>
                </a:solidFill>
                <a:latin typeface="Inter Medium" pitchFamily="34" charset="0"/>
                <a:ea typeface="Inter Medium" pitchFamily="34" charset="-122"/>
                <a:cs typeface="Inter Medium" pitchFamily="34" charset="-120"/>
              </a:rPr>
              <a:t>The Solution:</a:t>
            </a:r>
            <a:r>
              <a:rPr lang="en-US" sz="1100" dirty="0">
                <a:solidFill>
                  <a:srgbClr val="FFFFFF"/>
                </a:solidFill>
                <a:latin typeface="Inter Light" pitchFamily="34" charset="0"/>
                <a:ea typeface="Inter Light" pitchFamily="34" charset="-122"/>
                <a:cs typeface="Inter Light" pitchFamily="34" charset="-120"/>
              </a:rPr>
              <a:t> Implemented low-level Win32 API hooks for keyboard </a:t>
            </a:r>
            <a:r>
              <a:rPr lang="en-US" sz="1100" dirty="0" smtClean="0">
                <a:solidFill>
                  <a:srgbClr val="FFFFFF"/>
                </a:solidFill>
                <a:latin typeface="Inter Light" pitchFamily="34" charset="0"/>
                <a:ea typeface="Inter Light" pitchFamily="34" charset="-122"/>
                <a:cs typeface="Inter Light" pitchFamily="34" charset="-120"/>
              </a:rPr>
              <a:t>and </a:t>
            </a:r>
            <a:r>
              <a:rPr lang="en-US" sz="1100" dirty="0">
                <a:solidFill>
                  <a:srgbClr val="FFFFFF"/>
                </a:solidFill>
                <a:latin typeface="Inter Light" pitchFamily="34" charset="0"/>
                <a:ea typeface="Inter Light" pitchFamily="34" charset="-122"/>
                <a:cs typeface="Inter Light" pitchFamily="34" charset="-120"/>
              </a:rPr>
              <a:t>transitioned to a dynamic grid layout for UI stmonitoringability.</a:t>
            </a:r>
            <a:endParaRPr lang="en-US" sz="1100" dirty="0"/>
          </a:p>
        </p:txBody>
      </p:sp>
      <p:sp>
        <p:nvSpPr>
          <p:cNvPr id="19" name="Shape 1"/>
          <p:cNvSpPr/>
          <p:nvPr/>
        </p:nvSpPr>
        <p:spPr>
          <a:xfrm>
            <a:off x="1086" y="713230"/>
            <a:ext cx="57150" cy="701873"/>
          </a:xfrm>
          <a:prstGeom prst="rect">
            <a:avLst/>
          </a:prstGeom>
          <a:solidFill>
            <a:srgbClr val="0070C0"/>
          </a:solidFill>
          <a:ln>
            <a:noFill/>
          </a:ln>
        </p:spPr>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6302380" y="4557721"/>
            <a:ext cx="2308645" cy="369332"/>
          </a:xfrm>
          <a:prstGeom prst="rect">
            <a:avLst/>
          </a:prstGeom>
          <a:noFill/>
        </p:spPr>
        <p:txBody>
          <a:bodyPr wrap="none" lIns="91440" tIns="45720" rIns="91440" bIns="45720">
            <a:spAutoFit/>
          </a:bodyPr>
          <a:lstStyle/>
          <a:p>
            <a:pPr algn="ctr"/>
            <a:r>
              <a:rPr lang="en-US" b="0" cap="none" spc="0" dirty="0" smtClean="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onotype Corsiva" panose="03010101010201010101" pitchFamily="66" charset="0"/>
              </a:rPr>
              <a:t>Team “Double Quotation”</a:t>
            </a:r>
            <a:endParaRPr lang="en-US"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Monotype Corsiva" panose="03010101010201010101" pitchFamily="66" charset="0"/>
            </a:endParaRPr>
          </a:p>
        </p:txBody>
      </p:sp>
      <p:sp>
        <p:nvSpPr>
          <p:cNvPr id="2" name="TextBox 1"/>
          <p:cNvSpPr txBox="1"/>
          <p:nvPr/>
        </p:nvSpPr>
        <p:spPr>
          <a:xfrm>
            <a:off x="0" y="573853"/>
            <a:ext cx="9144000" cy="3046988"/>
          </a:xfrm>
          <a:prstGeom prst="rect">
            <a:avLst/>
          </a:prstGeom>
          <a:noFill/>
          <a:effectLst>
            <a:outerShdw blurRad="50800" dist="38100" dir="2700000" algn="tl" rotWithShape="0">
              <a:prstClr val="black">
                <a:alpha val="40000"/>
              </a:prstClr>
            </a:outerShdw>
          </a:effectLst>
        </p:spPr>
        <p:txBody>
          <a:bodyPr wrap="square" rtlCol="0">
            <a:spAutoFit/>
          </a:bodyPr>
          <a:lstStyle/>
          <a:p>
            <a:pPr algn="ctr"/>
            <a:r>
              <a:rPr lang="en-US" sz="19200" dirty="0" smtClean="0">
                <a:latin typeface="Gabriola" panose="04040605051002020D02" pitchFamily="82" charset="0"/>
              </a:rPr>
              <a:t>Thank You</a:t>
            </a:r>
            <a:endParaRPr lang="en-US" sz="19200" dirty="0">
              <a:latin typeface="Gabriola" panose="04040605051002020D02" pitchFamily="82" charset="0"/>
            </a:endParaRPr>
          </a:p>
        </p:txBody>
      </p:sp>
      <p:sp>
        <p:nvSpPr>
          <p:cNvPr id="4" name="Text 5"/>
          <p:cNvSpPr/>
          <p:nvPr/>
        </p:nvSpPr>
        <p:spPr>
          <a:xfrm>
            <a:off x="2428875" y="3367385"/>
            <a:ext cx="4286250" cy="457200"/>
          </a:xfrm>
          <a:prstGeom prst="rect">
            <a:avLst/>
          </a:prstGeom>
          <a:noFill/>
          <a:ln/>
        </p:spPr>
        <p:txBody>
          <a:bodyPr wrap="square" lIns="0" tIns="0" rIns="0" bIns="0" rtlCol="0" anchor="t">
            <a:spAutoFit/>
          </a:bodyPr>
          <a:lstStyle/>
          <a:p>
            <a:pPr marL="0" indent="0" algn="ctr">
              <a:lnSpc>
                <a:spcPts val="1800"/>
              </a:lnSpc>
              <a:buNone/>
            </a:pPr>
            <a:r>
              <a:rPr lang="en-US" sz="1100" dirty="0">
                <a:solidFill>
                  <a:srgbClr val="3F3F46"/>
                </a:solidFill>
                <a:latin typeface="Inter" pitchFamily="34" charset="0"/>
                <a:ea typeface="Inter" pitchFamily="34" charset="-122"/>
                <a:cs typeface="Inter" pitchFamily="34" charset="-120"/>
              </a:rPr>
              <a:t>Building the future of digital education integrity through secure and innovative examination solutions.</a:t>
            </a:r>
            <a:endParaRPr lang="en-US" sz="1100" dirty="0"/>
          </a:p>
        </p:txBody>
      </p:sp>
    </p:spTree>
    <p:extLst>
      <p:ext uri="{BB962C8B-B14F-4D97-AF65-F5344CB8AC3E}">
        <p14:creationId xmlns:p14="http://schemas.microsoft.com/office/powerpoint/2010/main" val="6322788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advClick="0">
        <p15:prstTrans prst="drape"/>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1681</Words>
  <Application>Microsoft Office PowerPoint</Application>
  <PresentationFormat>On-screen Show (16:9)</PresentationFormat>
  <Paragraphs>171</Paragraphs>
  <Slides>12</Slides>
  <Notes>12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Gabriola</vt:lpstr>
      <vt:lpstr>Inter</vt:lpstr>
      <vt:lpstr>Inter Light</vt:lpstr>
      <vt:lpstr>Inter Medium</vt:lpstr>
      <vt:lpstr>Monotype Corsiva</vt:lpstr>
      <vt:lpstr>Playfair Display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IT's  RZB</cp:lastModifiedBy>
  <cp:revision>19</cp:revision>
  <dcterms:created xsi:type="dcterms:W3CDTF">2026-05-17T03:50:43Z</dcterms:created>
  <dcterms:modified xsi:type="dcterms:W3CDTF">2026-05-17T13:10:16Z</dcterms:modified>
</cp:coreProperties>
</file>