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72913" autoAdjust="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948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 respected teachers and dear friends.</a:t>
            </a:r>
            <a:b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project is titled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“Online Exam Simulator with Anti-Cheat Architecture.”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system is designed to conduct online exams in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 desktop environment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where cheating is minimized and fairness is ensured using a strong technical architecture.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Dedication / Quote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is dedicated to building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secure, reliable, and high-performance academic assessment solutions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aim is to create a system that institutions can trust — one that supports both academic integrity and smooth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18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Integrity Challenge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highlights the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integrity challenge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online exams face many vulnerabilities such as: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&gt;Unrestricted app access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&gt;Lack of monitoring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&gt;Weak enforcement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project analyzes these weaknesses and focuses on solving them through a controlled exam environment.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Technical Objectives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we define our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technical objectives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system is designed to: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&gt;Detect unauthorized activities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&gt;Enforce exam rules automatically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&gt;Maintain real-time control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to make online exams as disciplined as offline exams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Administrative Control Center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introduces the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Administrative Control Center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 centralized dashboard where administrators can: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&gt;Create exams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&gt;Schedule exams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&gt;Define rules and policies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gives full authority and flexibility to the exam administrators.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 Management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 management means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end-to-end exam control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exam creation to final submission, every stage is managed through the system, ensuring consistency, transparency, and efficiency.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Monitoring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explains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monitoring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the exam, the system continuously monitors student activity, allowing immediate detection of focus loss or suspicious behavior.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maintain exam integrity in real time.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 Logging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integrity violations are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 logged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logs are: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&gt;Tamper-proof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&gt;Time-stamped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&gt;Securely stored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provides a clear audit trail for academic review and decision-making.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Analytics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also includes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 analytics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generates detailed reports for: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&gt;Student performance evaluation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&gt;Statistical analysis of exam results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institutions improve assessment quality.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 Candidate Interface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introduces the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 Candidate Interface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access the exam through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dedicated desktop application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ensures: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&gt;Encrypted login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&gt;Controlled environment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&gt;Restricted access to external resources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guarantees a secure and focused exam experience for candidates.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218136"/>
            <a:ext cx="7143750" cy="60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353" b="1" kern="0" spc="-2" dirty="0">
                <a:solidFill>
                  <a:srgbClr val="FFFFFF"/>
                </a:solidFill>
              </a:rPr>
              <a:t>Online </a:t>
            </a:r>
            <a:r>
              <a:rPr lang="en-US" sz="4353" b="1" kern="0" spc="-2" dirty="0" smtClean="0">
                <a:solidFill>
                  <a:srgbClr val="FFFFFF"/>
                </a:solidFill>
              </a:rPr>
              <a:t>Exam </a:t>
            </a:r>
            <a:r>
              <a:rPr lang="en-US" sz="4353" b="1" kern="0" spc="-2" dirty="0">
                <a:solidFill>
                  <a:srgbClr val="FFFFFF"/>
                </a:solidFill>
              </a:rPr>
              <a:t>Simulator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3796004" y="1855086"/>
            <a:ext cx="1551964" cy="487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kern="0" spc="6" dirty="0" smtClean="0">
                <a:solidFill>
                  <a:srgbClr val="00D1FF"/>
                </a:solidFill>
              </a:rPr>
              <a:t>With</a:t>
            </a:r>
            <a:endParaRPr lang="en-US" sz="1486" kern="0" spc="6" dirty="0" smtClean="0">
              <a:solidFill>
                <a:srgbClr val="00D1FF"/>
              </a:solidFill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en-US" sz="1600" kern="0" spc="6" dirty="0" smtClean="0">
                <a:solidFill>
                  <a:srgbClr val="00D1FF"/>
                </a:solidFill>
              </a:rPr>
              <a:t>Anti-Cheat System</a:t>
            </a:r>
            <a:endParaRPr lang="en-US" sz="1600" dirty="0"/>
          </a:p>
        </p:txBody>
      </p:sp>
      <p:grpSp>
        <p:nvGrpSpPr>
          <p:cNvPr id="8" name="Group 7"/>
          <p:cNvGrpSpPr/>
          <p:nvPr/>
        </p:nvGrpSpPr>
        <p:grpSpPr>
          <a:xfrm>
            <a:off x="2990469" y="3362920"/>
            <a:ext cx="3163035" cy="948333"/>
            <a:chOff x="2990469" y="3362920"/>
            <a:chExt cx="3163035" cy="948333"/>
          </a:xfrm>
        </p:grpSpPr>
        <p:sp>
          <p:nvSpPr>
            <p:cNvPr id="5" name="Shape 2"/>
            <p:cNvSpPr/>
            <p:nvPr/>
          </p:nvSpPr>
          <p:spPr>
            <a:xfrm>
              <a:off x="2990469" y="3362920"/>
              <a:ext cx="3163035" cy="948333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3000"/>
              </a:schemeClr>
            </a:solidFill>
            <a:ln w="9144">
              <a:noFill/>
              <a:prstDash val="soli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</p:sp>
        <p:sp>
          <p:nvSpPr>
            <p:cNvPr id="6" name="Text 3"/>
            <p:cNvSpPr/>
            <p:nvPr/>
          </p:nvSpPr>
          <p:spPr>
            <a:xfrm>
              <a:off x="4364078" y="3584377"/>
              <a:ext cx="415819" cy="111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900"/>
                </a:lnSpc>
                <a:buNone/>
              </a:pPr>
              <a:r>
                <a:rPr lang="en-US" sz="727" kern="0" spc="3" dirty="0" smtClean="0">
                  <a:solidFill>
                    <a:srgbClr val="FFFFFF">
                      <a:alpha val="50000"/>
                    </a:srgbClr>
                  </a:solidFill>
                </a:rPr>
                <a:t>Created by</a:t>
              </a:r>
              <a:endParaRPr lang="en-US" sz="727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3497593" y="3777258"/>
              <a:ext cx="2148793" cy="2821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602" b="1" dirty="0" smtClean="0">
                  <a:solidFill>
                    <a:srgbClr val="FFFFFF"/>
                  </a:solidFill>
                </a:rPr>
                <a:t>Team Doubble </a:t>
              </a:r>
              <a:r>
                <a:rPr lang="en-US" sz="1602" b="1" dirty="0" smtClean="0">
                  <a:solidFill>
                    <a:srgbClr val="FFFFFF"/>
                  </a:solidFill>
                </a:rPr>
                <a:t>Quotetion</a:t>
              </a:r>
              <a:endParaRPr lang="en-US" sz="1602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153678" y="2590943"/>
            <a:ext cx="98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S/N: 08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0356" y="0"/>
            <a:ext cx="7144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97637"/>
            <a:ext cx="2286000" cy="114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endParaRPr lang="en-US" sz="2436" b="1" dirty="0" smtClean="0">
              <a:solidFill>
                <a:srgbClr val="FFFFFF"/>
              </a:solidFill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2436" b="1" dirty="0" smtClean="0">
                <a:solidFill>
                  <a:srgbClr val="FFFFFF"/>
                </a:solidFill>
              </a:rPr>
              <a:t>Doubble Quotation</a:t>
            </a:r>
          </a:p>
        </p:txBody>
      </p:sp>
      <p:sp>
        <p:nvSpPr>
          <p:cNvPr id="6" name="Text 3"/>
          <p:cNvSpPr/>
          <p:nvPr/>
        </p:nvSpPr>
        <p:spPr>
          <a:xfrm>
            <a:off x="571500" y="2040998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kern="0" spc="1" dirty="0">
                <a:solidFill>
                  <a:srgbClr val="FFFFFF">
                    <a:alpha val="60000"/>
                  </a:srgbClr>
                </a:solidFill>
              </a:rPr>
              <a:t>Dedicated to building secure, reliable, and high-performance academic assessment solutions.</a:t>
            </a:r>
            <a:endParaRPr lang="en-US" sz="834" dirty="0"/>
          </a:p>
        </p:txBody>
      </p:sp>
      <p:grpSp>
        <p:nvGrpSpPr>
          <p:cNvPr id="27" name="Group 26"/>
          <p:cNvGrpSpPr/>
          <p:nvPr/>
        </p:nvGrpSpPr>
        <p:grpSpPr>
          <a:xfrm>
            <a:off x="3286125" y="571500"/>
            <a:ext cx="5286375" cy="659011"/>
            <a:chOff x="3286125" y="571500"/>
            <a:chExt cx="5286375" cy="659011"/>
          </a:xfrm>
        </p:grpSpPr>
        <p:sp>
          <p:nvSpPr>
            <p:cNvPr id="7" name="Shape 4"/>
            <p:cNvSpPr/>
            <p:nvPr/>
          </p:nvSpPr>
          <p:spPr>
            <a:xfrm>
              <a:off x="3286125" y="571500"/>
              <a:ext cx="5286375" cy="659011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8" name="Text 5"/>
            <p:cNvSpPr/>
            <p:nvPr/>
          </p:nvSpPr>
          <p:spPr>
            <a:xfrm>
              <a:off x="3500438" y="714375"/>
              <a:ext cx="1048290" cy="21431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Md. Razab Ali</a:t>
              </a:r>
              <a:endParaRPr lang="en-US" sz="109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3500438" y="957263"/>
              <a:ext cx="1048290" cy="116086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621" dirty="0">
                  <a:solidFill>
                    <a:srgbClr val="FFFFFF">
                      <a:alpha val="40000"/>
                    </a:srgbClr>
                  </a:solidFill>
                </a:rPr>
                <a:t>0712340012101011</a:t>
              </a:r>
              <a:endParaRPr lang="en-US" sz="621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380820" y="825996"/>
              <a:ext cx="1977368" cy="135731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r">
                <a:lnSpc>
                  <a:spcPts val="900"/>
                </a:lnSpc>
                <a:buNone/>
              </a:pPr>
              <a:r>
                <a:rPr lang="en-US" sz="683" b="1" kern="0" spc="2" dirty="0">
                  <a:solidFill>
                    <a:srgbClr val="00D1FF"/>
                  </a:solidFill>
                </a:rPr>
                <a:t>Lead Dev / Anti-Cheat Engine</a:t>
              </a:r>
              <a:endParaRPr lang="en-US" sz="683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286125" y="1359098"/>
            <a:ext cx="5286375" cy="659011"/>
            <a:chOff x="3286125" y="1359098"/>
            <a:chExt cx="5286375" cy="659011"/>
          </a:xfrm>
        </p:grpSpPr>
        <p:sp>
          <p:nvSpPr>
            <p:cNvPr id="11" name="Shape 8"/>
            <p:cNvSpPr/>
            <p:nvPr/>
          </p:nvSpPr>
          <p:spPr>
            <a:xfrm>
              <a:off x="3286125" y="1359098"/>
              <a:ext cx="5286375" cy="659011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12" name="Text 9"/>
            <p:cNvSpPr/>
            <p:nvPr/>
          </p:nvSpPr>
          <p:spPr>
            <a:xfrm>
              <a:off x="3500438" y="1501973"/>
              <a:ext cx="1098742" cy="21431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Md. Polash Ali</a:t>
              </a:r>
              <a:endParaRPr lang="en-US" sz="109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500438" y="1744861"/>
              <a:ext cx="1098742" cy="116086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621" dirty="0">
                  <a:solidFill>
                    <a:srgbClr val="FFFFFF">
                      <a:alpha val="40000"/>
                    </a:srgbClr>
                  </a:solidFill>
                </a:rPr>
                <a:t>0712340012101045</a:t>
              </a:r>
              <a:endParaRPr lang="en-US" sz="621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588100" y="1613595"/>
              <a:ext cx="1770087" cy="135731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r">
                <a:lnSpc>
                  <a:spcPts val="900"/>
                </a:lnSpc>
                <a:buNone/>
              </a:pPr>
              <a:r>
                <a:rPr lang="en-US" sz="683" b="1" kern="0" spc="2" dirty="0">
                  <a:solidFill>
                    <a:srgbClr val="00D1FF"/>
                  </a:solidFill>
                </a:rPr>
                <a:t>Exam Engine / Evaluation</a:t>
              </a:r>
              <a:endParaRPr lang="en-US" sz="683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286125" y="2146697"/>
            <a:ext cx="5286375" cy="659011"/>
            <a:chOff x="3286125" y="2146697"/>
            <a:chExt cx="5286375" cy="659011"/>
          </a:xfrm>
        </p:grpSpPr>
        <p:sp>
          <p:nvSpPr>
            <p:cNvPr id="15" name="Shape 12"/>
            <p:cNvSpPr/>
            <p:nvPr/>
          </p:nvSpPr>
          <p:spPr>
            <a:xfrm>
              <a:off x="3286125" y="2146697"/>
              <a:ext cx="5286375" cy="659011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16" name="Text 13"/>
            <p:cNvSpPr/>
            <p:nvPr/>
          </p:nvSpPr>
          <p:spPr>
            <a:xfrm>
              <a:off x="3500438" y="2289572"/>
              <a:ext cx="1333537" cy="21431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Md. Raja Hossein</a:t>
              </a:r>
              <a:endParaRPr lang="en-US" sz="109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3500438" y="2532459"/>
              <a:ext cx="1333537" cy="116086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621" dirty="0">
                  <a:solidFill>
                    <a:srgbClr val="FFFFFF">
                      <a:alpha val="40000"/>
                    </a:srgbClr>
                  </a:solidFill>
                </a:rPr>
                <a:t>0712340012101046</a:t>
              </a:r>
              <a:endParaRPr lang="en-US" sz="621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293532" y="2401193"/>
              <a:ext cx="2064655" cy="135731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r">
                <a:lnSpc>
                  <a:spcPts val="900"/>
                </a:lnSpc>
                <a:buNone/>
              </a:pPr>
              <a:r>
                <a:rPr lang="en-US" sz="683" b="1" kern="0" spc="2" dirty="0">
                  <a:solidFill>
                    <a:srgbClr val="00D1FF"/>
                  </a:solidFill>
                </a:rPr>
                <a:t>Security / Anti-Cheat Support</a:t>
              </a:r>
              <a:endParaRPr lang="en-US" sz="683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286125" y="2934295"/>
            <a:ext cx="5286375" cy="659011"/>
            <a:chOff x="3286125" y="2934295"/>
            <a:chExt cx="5286375" cy="659011"/>
          </a:xfrm>
        </p:grpSpPr>
        <p:sp>
          <p:nvSpPr>
            <p:cNvPr id="19" name="Shape 16"/>
            <p:cNvSpPr/>
            <p:nvPr/>
          </p:nvSpPr>
          <p:spPr>
            <a:xfrm>
              <a:off x="3286125" y="2934295"/>
              <a:ext cx="5286375" cy="659011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20" name="Text 17"/>
            <p:cNvSpPr/>
            <p:nvPr/>
          </p:nvSpPr>
          <p:spPr>
            <a:xfrm>
              <a:off x="3500438" y="3077170"/>
              <a:ext cx="1482049" cy="21431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Mst. Sanjida Emros</a:t>
              </a:r>
              <a:endParaRPr lang="en-US" sz="109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3500438" y="3320058"/>
              <a:ext cx="1482049" cy="116086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621" dirty="0">
                  <a:solidFill>
                    <a:srgbClr val="FFFFFF">
                      <a:alpha val="40000"/>
                    </a:srgbClr>
                  </a:solidFill>
                </a:rPr>
                <a:t>0712340012101037</a:t>
              </a:r>
              <a:endParaRPr lang="en-US" sz="621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7354708" y="3188791"/>
              <a:ext cx="1003480" cy="115416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r">
                <a:lnSpc>
                  <a:spcPts val="900"/>
                </a:lnSpc>
                <a:buNone/>
              </a:pPr>
              <a:r>
                <a:rPr lang="en-US" sz="683" b="1" kern="0" spc="2" dirty="0" smtClean="0">
                  <a:solidFill>
                    <a:srgbClr val="00D1FF"/>
                  </a:solidFill>
                </a:rPr>
                <a:t>Reporting </a:t>
              </a:r>
              <a:r>
                <a:rPr lang="en-US" sz="683" b="1" kern="0" spc="2" dirty="0">
                  <a:solidFill>
                    <a:srgbClr val="00D1FF"/>
                  </a:solidFill>
                </a:rPr>
                <a:t>/ Documentation</a:t>
              </a:r>
              <a:endParaRPr lang="en-US" sz="683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286125" y="3721894"/>
            <a:ext cx="5286375" cy="659011"/>
            <a:chOff x="3286125" y="3721894"/>
            <a:chExt cx="5286375" cy="659011"/>
          </a:xfrm>
        </p:grpSpPr>
        <p:sp>
          <p:nvSpPr>
            <p:cNvPr id="23" name="Shape 20"/>
            <p:cNvSpPr/>
            <p:nvPr/>
          </p:nvSpPr>
          <p:spPr>
            <a:xfrm>
              <a:off x="3286125" y="3721894"/>
              <a:ext cx="5286375" cy="659011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24" name="Text 21"/>
            <p:cNvSpPr/>
            <p:nvPr/>
          </p:nvSpPr>
          <p:spPr>
            <a:xfrm>
              <a:off x="3500438" y="3864769"/>
              <a:ext cx="1501694" cy="21431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Md Shakibul Hasan</a:t>
              </a:r>
              <a:endParaRPr lang="en-US" sz="109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3500438" y="4107656"/>
              <a:ext cx="1501694" cy="116086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621" dirty="0">
                  <a:solidFill>
                    <a:srgbClr val="FFFFFF">
                      <a:alpha val="40000"/>
                    </a:srgbClr>
                  </a:solidFill>
                </a:rPr>
                <a:t>0712340012101028</a:t>
              </a:r>
              <a:endParaRPr lang="en-US" sz="621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6732287" y="3976390"/>
              <a:ext cx="1625901" cy="135731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r">
                <a:lnSpc>
                  <a:spcPts val="900"/>
                </a:lnSpc>
                <a:buNone/>
              </a:pPr>
              <a:r>
                <a:rPr lang="en-US" sz="683" b="1" kern="0" spc="2" dirty="0">
                  <a:solidFill>
                    <a:srgbClr val="00D1FF"/>
                  </a:solidFill>
                </a:rPr>
                <a:t>UI Support / Data Entry</a:t>
              </a:r>
              <a:endParaRPr lang="en-US" sz="683" dirty="0"/>
            </a:p>
          </p:txBody>
        </p:sp>
      </p:grpSp>
    </p:spTree>
    <p:extLst>
      <p:ext uri="{BB962C8B-B14F-4D97-AF65-F5344CB8AC3E}">
        <p14:creationId xmlns:p14="http://schemas.microsoft.com/office/powerpoint/2010/main" val="412359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0356" y="0"/>
            <a:ext cx="7144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71525"/>
            <a:ext cx="228600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The
Integrity
Challenge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2188778"/>
            <a:ext cx="2286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kern="0" spc="1" dirty="0">
                <a:solidFill>
                  <a:srgbClr val="FFFFFF">
                    <a:alpha val="60000"/>
                  </a:srgbClr>
                </a:solidFill>
              </a:rPr>
              <a:t>Analyzing the critical vulnerabilities in current online assessment methodologies.</a:t>
            </a:r>
            <a:endParaRPr lang="en-US" sz="834" dirty="0"/>
          </a:p>
        </p:txBody>
      </p:sp>
      <p:grpSp>
        <p:nvGrpSpPr>
          <p:cNvPr id="19" name="Group 18"/>
          <p:cNvGrpSpPr/>
          <p:nvPr/>
        </p:nvGrpSpPr>
        <p:grpSpPr>
          <a:xfrm>
            <a:off x="3053943" y="606150"/>
            <a:ext cx="2750340" cy="1849455"/>
            <a:chOff x="3286125" y="571500"/>
            <a:chExt cx="2536031" cy="1368028"/>
          </a:xfrm>
        </p:grpSpPr>
        <p:sp>
          <p:nvSpPr>
            <p:cNvPr id="7" name="Shape 4"/>
            <p:cNvSpPr/>
            <p:nvPr/>
          </p:nvSpPr>
          <p:spPr>
            <a:xfrm>
              <a:off x="3286125" y="571500"/>
              <a:ext cx="2536031" cy="1368028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8" name="Text 5"/>
            <p:cNvSpPr/>
            <p:nvPr/>
          </p:nvSpPr>
          <p:spPr>
            <a:xfrm>
              <a:off x="3500438" y="928688"/>
              <a:ext cx="2107406" cy="21431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Browser Dependence</a:t>
              </a:r>
              <a:endParaRPr lang="en-US" sz="109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3500438" y="1228725"/>
              <a:ext cx="2107406" cy="48220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780" dirty="0">
                  <a:solidFill>
                    <a:srgbClr val="FFFFFF">
                      <a:alpha val="50000"/>
                    </a:srgbClr>
                  </a:solidFill>
                </a:rPr>
                <a:t>Current systems rely on browsers with limited control, making them vulnerable to tab switching and external aids.</a:t>
              </a:r>
              <a:endParaRPr lang="en-US" sz="78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999780" y="606150"/>
            <a:ext cx="2670213" cy="1850848"/>
            <a:chOff x="6036471" y="571500"/>
            <a:chExt cx="2536031" cy="1368028"/>
          </a:xfrm>
        </p:grpSpPr>
        <p:sp>
          <p:nvSpPr>
            <p:cNvPr id="10" name="Shape 7"/>
            <p:cNvSpPr/>
            <p:nvPr/>
          </p:nvSpPr>
          <p:spPr>
            <a:xfrm>
              <a:off x="6036471" y="571500"/>
              <a:ext cx="2536031" cy="1368028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11" name="Text 8"/>
            <p:cNvSpPr/>
            <p:nvPr/>
          </p:nvSpPr>
          <p:spPr>
            <a:xfrm>
              <a:off x="6250781" y="928688"/>
              <a:ext cx="2107406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System-Level Risks</a:t>
              </a:r>
              <a:endParaRPr lang="en-US" sz="109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250781" y="1228725"/>
              <a:ext cx="2107406" cy="4822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780" dirty="0">
                  <a:solidFill>
                    <a:srgbClr val="FFFFFF">
                      <a:alpha val="50000"/>
                    </a:srgbClr>
                  </a:solidFill>
                </a:rPr>
                <a:t>High risk of cheating via unauthorized system-level access and screen recording applications.</a:t>
              </a:r>
              <a:endParaRPr lang="en-US" sz="78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68378" y="2657856"/>
            <a:ext cx="2735905" cy="1796345"/>
            <a:chOff x="3286125" y="2139553"/>
            <a:chExt cx="2536031" cy="1368028"/>
          </a:xfrm>
        </p:grpSpPr>
        <p:sp>
          <p:nvSpPr>
            <p:cNvPr id="13" name="Shape 10"/>
            <p:cNvSpPr/>
            <p:nvPr/>
          </p:nvSpPr>
          <p:spPr>
            <a:xfrm>
              <a:off x="3286125" y="2139553"/>
              <a:ext cx="2536031" cy="1368028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3500438" y="2496741"/>
              <a:ext cx="2107406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Monitoring Gaps</a:t>
              </a:r>
              <a:endParaRPr lang="en-US" sz="109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3500438" y="2796778"/>
              <a:ext cx="2107406" cy="4822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780" dirty="0">
                  <a:solidFill>
                    <a:srgbClr val="FFFFFF">
                      <a:alpha val="50000"/>
                    </a:srgbClr>
                  </a:solidFill>
                </a:rPr>
                <a:t>Poor visibility into student behavior and background processes during high-stakes examinations.</a:t>
              </a:r>
              <a:endParaRPr lang="en-US" sz="78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999780" y="2657855"/>
            <a:ext cx="2706898" cy="1796345"/>
            <a:chOff x="6036469" y="2139553"/>
            <a:chExt cx="2536031" cy="1368028"/>
          </a:xfrm>
        </p:grpSpPr>
        <p:sp>
          <p:nvSpPr>
            <p:cNvPr id="16" name="Shape 13"/>
            <p:cNvSpPr/>
            <p:nvPr/>
          </p:nvSpPr>
          <p:spPr>
            <a:xfrm>
              <a:off x="6036469" y="2139553"/>
              <a:ext cx="2536031" cy="1368028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</p:sp>
        <p:sp>
          <p:nvSpPr>
            <p:cNvPr id="17" name="Text 14"/>
            <p:cNvSpPr/>
            <p:nvPr/>
          </p:nvSpPr>
          <p:spPr>
            <a:xfrm>
              <a:off x="6250781" y="2496741"/>
              <a:ext cx="2107406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dirty="0">
                  <a:solidFill>
                    <a:srgbClr val="FFFFFF"/>
                  </a:solidFill>
                </a:rPr>
                <a:t>Internet Instability</a:t>
              </a:r>
              <a:endParaRPr lang="en-US" sz="109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250781" y="2796778"/>
              <a:ext cx="2107406" cy="4822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780" dirty="0">
                  <a:solidFill>
                    <a:srgbClr val="FFFFFF">
                      <a:alpha val="50000"/>
                    </a:srgbClr>
                  </a:solidFill>
                </a:rPr>
                <a:t>Unreliable connectivity often compromises exam integrity and leads to data loss or unfair advantages.</a:t>
              </a:r>
              <a:endParaRPr lang="en-US" sz="78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4071938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Strategic Technical
Objectives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754460"/>
            <a:ext cx="28575" cy="317897"/>
          </a:xfrm>
          <a:prstGeom prst="rect">
            <a:avLst/>
          </a:prstGeom>
          <a:solidFill>
            <a:srgbClr val="00D1FF"/>
          </a:solidFill>
          <a:ln/>
        </p:spPr>
      </p:sp>
      <p:grpSp>
        <p:nvGrpSpPr>
          <p:cNvPr id="31" name="Group 30"/>
          <p:cNvGrpSpPr/>
          <p:nvPr/>
        </p:nvGrpSpPr>
        <p:grpSpPr>
          <a:xfrm>
            <a:off x="571500" y="1754460"/>
            <a:ext cx="4071938" cy="317897"/>
            <a:chOff x="571500" y="1754460"/>
            <a:chExt cx="4071938" cy="317897"/>
          </a:xfrm>
        </p:grpSpPr>
        <p:sp>
          <p:nvSpPr>
            <p:cNvPr id="4" name="Shape 1"/>
            <p:cNvSpPr/>
            <p:nvPr/>
          </p:nvSpPr>
          <p:spPr>
            <a:xfrm>
              <a:off x="571500" y="1754460"/>
              <a:ext cx="4071938" cy="317897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714375" y="1825898"/>
              <a:ext cx="2143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00D1FF"/>
                  </a:solidFill>
                </a:rPr>
                <a:t>01</a:t>
              </a:r>
              <a:endParaRPr lang="en-US" sz="885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71563" y="1825898"/>
              <a:ext cx="2212944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kern="0" spc="1" dirty="0">
                  <a:solidFill>
                    <a:srgbClr val="FFFFFF"/>
                  </a:solidFill>
                </a:rPr>
                <a:t>Desktop-Based Architecture</a:t>
              </a:r>
              <a:endParaRPr lang="en-US" sz="885" dirty="0"/>
            </a:p>
          </p:txBody>
        </p:sp>
      </p:grpSp>
      <p:sp>
        <p:nvSpPr>
          <p:cNvPr id="9" name="Shape 6"/>
          <p:cNvSpPr/>
          <p:nvPr/>
        </p:nvSpPr>
        <p:spPr>
          <a:xfrm>
            <a:off x="571500" y="2158082"/>
            <a:ext cx="28575" cy="317897"/>
          </a:xfrm>
          <a:prstGeom prst="rect">
            <a:avLst/>
          </a:prstGeom>
          <a:solidFill>
            <a:srgbClr val="00D1FF"/>
          </a:solidFill>
          <a:ln/>
        </p:spPr>
      </p:sp>
      <p:grpSp>
        <p:nvGrpSpPr>
          <p:cNvPr id="27" name="Group 26"/>
          <p:cNvGrpSpPr/>
          <p:nvPr/>
        </p:nvGrpSpPr>
        <p:grpSpPr>
          <a:xfrm>
            <a:off x="571500" y="2158082"/>
            <a:ext cx="4071938" cy="317897"/>
            <a:chOff x="571500" y="2158082"/>
            <a:chExt cx="4071938" cy="317897"/>
          </a:xfrm>
        </p:grpSpPr>
        <p:sp>
          <p:nvSpPr>
            <p:cNvPr id="8" name="Shape 5"/>
            <p:cNvSpPr/>
            <p:nvPr/>
          </p:nvSpPr>
          <p:spPr>
            <a:xfrm>
              <a:off x="571500" y="2158082"/>
              <a:ext cx="4071938" cy="317897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0" name="Text 7"/>
            <p:cNvSpPr/>
            <p:nvPr/>
          </p:nvSpPr>
          <p:spPr>
            <a:xfrm>
              <a:off x="714375" y="2229520"/>
              <a:ext cx="2143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00D1FF"/>
                  </a:solidFill>
                </a:rPr>
                <a:t>02</a:t>
              </a:r>
              <a:endParaRPr lang="en-US" sz="885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71563" y="2229520"/>
              <a:ext cx="2101965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kern="0" spc="1" dirty="0">
                  <a:solidFill>
                    <a:srgbClr val="FFFFFF"/>
                  </a:solidFill>
                </a:rPr>
                <a:t>OS-Level Anti-Cheat Engine</a:t>
              </a:r>
              <a:endParaRPr lang="en-US" sz="885" dirty="0"/>
            </a:p>
          </p:txBody>
        </p:sp>
      </p:grpSp>
      <p:sp>
        <p:nvSpPr>
          <p:cNvPr id="13" name="Shape 10"/>
          <p:cNvSpPr/>
          <p:nvPr/>
        </p:nvSpPr>
        <p:spPr>
          <a:xfrm>
            <a:off x="571500" y="2561704"/>
            <a:ext cx="28575" cy="317897"/>
          </a:xfrm>
          <a:prstGeom prst="rect">
            <a:avLst/>
          </a:prstGeom>
          <a:solidFill>
            <a:srgbClr val="00D1FF"/>
          </a:solidFill>
          <a:ln/>
        </p:spPr>
      </p:sp>
      <p:grpSp>
        <p:nvGrpSpPr>
          <p:cNvPr id="28" name="Group 27"/>
          <p:cNvGrpSpPr/>
          <p:nvPr/>
        </p:nvGrpSpPr>
        <p:grpSpPr>
          <a:xfrm>
            <a:off x="571500" y="2561704"/>
            <a:ext cx="4071938" cy="317897"/>
            <a:chOff x="571500" y="2561704"/>
            <a:chExt cx="4071938" cy="317897"/>
          </a:xfrm>
        </p:grpSpPr>
        <p:sp>
          <p:nvSpPr>
            <p:cNvPr id="12" name="Shape 9"/>
            <p:cNvSpPr/>
            <p:nvPr/>
          </p:nvSpPr>
          <p:spPr>
            <a:xfrm>
              <a:off x="571500" y="2561704"/>
              <a:ext cx="4071938" cy="317897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4" name="Text 11"/>
            <p:cNvSpPr/>
            <p:nvPr/>
          </p:nvSpPr>
          <p:spPr>
            <a:xfrm>
              <a:off x="714375" y="2633142"/>
              <a:ext cx="2143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00D1FF"/>
                  </a:solidFill>
                </a:rPr>
                <a:t>03</a:t>
              </a:r>
              <a:endParaRPr lang="en-US" sz="885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071563" y="2633142"/>
              <a:ext cx="2186574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kern="0" spc="1" dirty="0">
                  <a:solidFill>
                    <a:srgbClr val="FFFFFF"/>
                  </a:solidFill>
                </a:rPr>
                <a:t>Secure Client-Server Comms</a:t>
              </a:r>
              <a:endParaRPr lang="en-US" sz="885" dirty="0"/>
            </a:p>
          </p:txBody>
        </p:sp>
      </p:grpSp>
      <p:sp>
        <p:nvSpPr>
          <p:cNvPr id="17" name="Shape 14"/>
          <p:cNvSpPr/>
          <p:nvPr/>
        </p:nvSpPr>
        <p:spPr>
          <a:xfrm>
            <a:off x="571500" y="2965326"/>
            <a:ext cx="28575" cy="317897"/>
          </a:xfrm>
          <a:prstGeom prst="rect">
            <a:avLst/>
          </a:prstGeom>
          <a:solidFill>
            <a:srgbClr val="00D1FF"/>
          </a:solidFill>
          <a:ln/>
        </p:spPr>
      </p:sp>
      <p:grpSp>
        <p:nvGrpSpPr>
          <p:cNvPr id="29" name="Group 28"/>
          <p:cNvGrpSpPr/>
          <p:nvPr/>
        </p:nvGrpSpPr>
        <p:grpSpPr>
          <a:xfrm>
            <a:off x="571500" y="2965326"/>
            <a:ext cx="4071938" cy="317897"/>
            <a:chOff x="571500" y="2965326"/>
            <a:chExt cx="4071938" cy="317897"/>
          </a:xfrm>
        </p:grpSpPr>
        <p:sp>
          <p:nvSpPr>
            <p:cNvPr id="16" name="Shape 13"/>
            <p:cNvSpPr/>
            <p:nvPr/>
          </p:nvSpPr>
          <p:spPr>
            <a:xfrm>
              <a:off x="571500" y="2965326"/>
              <a:ext cx="4071938" cy="317897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8" name="Text 15"/>
            <p:cNvSpPr/>
            <p:nvPr/>
          </p:nvSpPr>
          <p:spPr>
            <a:xfrm>
              <a:off x="714375" y="3036763"/>
              <a:ext cx="2143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00D1FF"/>
                  </a:solidFill>
                </a:rPr>
                <a:t>04</a:t>
              </a:r>
              <a:endParaRPr lang="en-US" sz="885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1071563" y="3036763"/>
              <a:ext cx="2792648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kern="0" spc="1" dirty="0">
                  <a:solidFill>
                    <a:srgbClr val="FFFFFF"/>
                  </a:solidFill>
                </a:rPr>
                <a:t>Automated Evaluation &amp; Reporting</a:t>
              </a:r>
              <a:endParaRPr lang="en-US" sz="885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571500" y="3368948"/>
            <a:ext cx="28575" cy="317897"/>
          </a:xfrm>
          <a:prstGeom prst="rect">
            <a:avLst/>
          </a:prstGeom>
          <a:solidFill>
            <a:srgbClr val="00D1FF"/>
          </a:solidFill>
          <a:ln/>
        </p:spPr>
      </p:sp>
      <p:grpSp>
        <p:nvGrpSpPr>
          <p:cNvPr id="30" name="Group 29"/>
          <p:cNvGrpSpPr/>
          <p:nvPr/>
        </p:nvGrpSpPr>
        <p:grpSpPr>
          <a:xfrm>
            <a:off x="571500" y="3368948"/>
            <a:ext cx="4071938" cy="317897"/>
            <a:chOff x="571500" y="3368948"/>
            <a:chExt cx="4071938" cy="317897"/>
          </a:xfrm>
        </p:grpSpPr>
        <p:sp>
          <p:nvSpPr>
            <p:cNvPr id="20" name="Shape 17"/>
            <p:cNvSpPr/>
            <p:nvPr/>
          </p:nvSpPr>
          <p:spPr>
            <a:xfrm>
              <a:off x="571500" y="3368948"/>
              <a:ext cx="4071938" cy="317897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22" name="Text 19"/>
            <p:cNvSpPr/>
            <p:nvPr/>
          </p:nvSpPr>
          <p:spPr>
            <a:xfrm>
              <a:off x="714375" y="3440385"/>
              <a:ext cx="214313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00D1FF"/>
                  </a:solidFill>
                </a:rPr>
                <a:t>05</a:t>
              </a:r>
              <a:endParaRPr lang="en-US" sz="885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071563" y="3440385"/>
              <a:ext cx="2497968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kern="0" spc="1" dirty="0">
                  <a:solidFill>
                    <a:srgbClr val="FFFFFF"/>
                  </a:solidFill>
                </a:rPr>
                <a:t>Real-World Academic Readiness</a:t>
              </a:r>
              <a:endParaRPr lang="en-US" sz="885" dirty="0"/>
            </a:p>
          </p:txBody>
        </p:sp>
      </p:grpSp>
      <p:sp>
        <p:nvSpPr>
          <p:cNvPr id="24" name="Shape 21"/>
          <p:cNvSpPr/>
          <p:nvPr/>
        </p:nvSpPr>
        <p:spPr>
          <a:xfrm>
            <a:off x="4643438" y="0"/>
            <a:ext cx="4500563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643438" y="0"/>
            <a:ext cx="4500563" cy="4857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28700"/>
            <a:ext cx="45720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Administrative
Control Center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290242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Lifecycle Management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2570634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End-to-end control over exam creation, scheduling, and rule enforcement through a centralized dashboard.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000375" y="2290242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Real-Time Monitoring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000375" y="2570634"/>
            <a:ext cx="214312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Live visibility into student activity, ensuring immediate detection of unauthorized behavior or system focus loss.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3737856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Violation Logging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4018248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Automated, tamper-proof logging of all integrity violations, providing a clear audit trail for academic review.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000375" y="3737856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Advanced Analytics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000375" y="4018248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Comprehensive reporting engine for performance evaluation and statistical analysis of exam results.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143500" y="0"/>
            <a:ext cx="40005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143500" y="0"/>
            <a:ext cx="40005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28700"/>
            <a:ext cx="45720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Secure Candidate
Interface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290242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Secure Desktop Login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2570634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Encrypted authentication via the dedicated desktop application for verified access.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000375" y="2290242"/>
            <a:ext cx="2143125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Full-Screen Locked Mode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000374" y="2572789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Enforced environment that restricts access to external apps, files, and system shortcuts.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3749659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Real-Time Monitoring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4030052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Continuous activity tracking and focus monitoring to ensure candidate integrity.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000375" y="3749659"/>
            <a:ext cx="2143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D1FF"/>
                </a:solidFill>
              </a:rPr>
              <a:t>Automated Submission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000375" y="4030052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Instant submission on exam timeout or detected integrity violations to prevent tampering.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143500" y="0"/>
            <a:ext cx="40005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143500" y="0"/>
            <a:ext cx="40005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71525"/>
            <a:ext cx="285750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Core System
Capabilities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937352"/>
            <a:ext cx="2857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kern="0" spc="1" dirty="0">
                <a:solidFill>
                  <a:srgbClr val="FFFFFF">
                    <a:alpha val="50000"/>
                  </a:srgbClr>
                </a:solidFill>
              </a:rPr>
              <a:t>A multi-layered architecture designed for absolute integrity and administrative efficiency.</a:t>
            </a:r>
            <a:endParaRPr lang="en-US" sz="942" dirty="0"/>
          </a:p>
        </p:txBody>
      </p:sp>
      <p:grpSp>
        <p:nvGrpSpPr>
          <p:cNvPr id="28" name="Group 27"/>
          <p:cNvGrpSpPr/>
          <p:nvPr/>
        </p:nvGrpSpPr>
        <p:grpSpPr>
          <a:xfrm>
            <a:off x="3571876" y="771525"/>
            <a:ext cx="2500312" cy="1656423"/>
            <a:chOff x="3857625" y="571500"/>
            <a:chExt cx="2214563" cy="1298684"/>
          </a:xfrm>
        </p:grpSpPr>
        <p:sp>
          <p:nvSpPr>
            <p:cNvPr id="5" name="Shape 2"/>
            <p:cNvSpPr/>
            <p:nvPr/>
          </p:nvSpPr>
          <p:spPr>
            <a:xfrm>
              <a:off x="3857625" y="571500"/>
              <a:ext cx="2214563" cy="1298684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6" name="Shape 3"/>
            <p:cNvSpPr/>
            <p:nvPr/>
          </p:nvSpPr>
          <p:spPr>
            <a:xfrm>
              <a:off x="3857625" y="571500"/>
              <a:ext cx="2214563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7" name="Text 4"/>
            <p:cNvSpPr/>
            <p:nvPr/>
          </p:nvSpPr>
          <p:spPr>
            <a:xfrm>
              <a:off x="4000500" y="742950"/>
              <a:ext cx="1928813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00D1FF"/>
                  </a:solidFill>
                </a:rPr>
                <a:t>Security</a:t>
              </a:r>
              <a:endParaRPr lang="en-US" sz="584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4000500" y="944761"/>
              <a:ext cx="1928813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Role-Based Auth</a:t>
              </a:r>
              <a:endParaRPr lang="en-US" sz="1193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000500" y="1293019"/>
              <a:ext cx="1928813" cy="548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34" dirty="0">
                  <a:solidFill>
                    <a:srgbClr val="FFFFFF">
                      <a:alpha val="70000"/>
                    </a:srgbClr>
                  </a:solidFill>
                </a:rPr>
                <a:t>Secure access control for Admins and Students, ensuring data privacy and system integrity.</a:t>
              </a:r>
              <a:endParaRPr lang="en-US" sz="834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55556" y="771525"/>
            <a:ext cx="2359819" cy="1656423"/>
            <a:chOff x="6357938" y="571500"/>
            <a:chExt cx="2214563" cy="1298684"/>
          </a:xfrm>
        </p:grpSpPr>
        <p:sp>
          <p:nvSpPr>
            <p:cNvPr id="10" name="Shape 7"/>
            <p:cNvSpPr/>
            <p:nvPr/>
          </p:nvSpPr>
          <p:spPr>
            <a:xfrm>
              <a:off x="6357938" y="571500"/>
              <a:ext cx="2214563" cy="1298684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1" name="Shape 8"/>
            <p:cNvSpPr/>
            <p:nvPr/>
          </p:nvSpPr>
          <p:spPr>
            <a:xfrm>
              <a:off x="6357938" y="571500"/>
              <a:ext cx="2214563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6500813" y="742950"/>
              <a:ext cx="1928813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00D1FF"/>
                  </a:solidFill>
                </a:rPr>
                <a:t>Control</a:t>
              </a:r>
              <a:endParaRPr lang="en-US" sz="584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500813" y="944761"/>
              <a:ext cx="1928813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Enforced Mode</a:t>
              </a:r>
              <a:endParaRPr lang="en-US" sz="1193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500813" y="1293019"/>
              <a:ext cx="1928813" cy="548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34" dirty="0">
                  <a:solidFill>
                    <a:srgbClr val="FFFFFF">
                      <a:alpha val="70000"/>
                    </a:srgbClr>
                  </a:solidFill>
                </a:rPr>
                <a:t>Full-screen locked environment that restricts access to external applications and OS shortcuts.</a:t>
              </a:r>
              <a:endParaRPr lang="en-US" sz="834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571877" y="2715526"/>
            <a:ext cx="2500312" cy="1610641"/>
            <a:chOff x="3857625" y="2127359"/>
            <a:chExt cx="2214563" cy="1298684"/>
          </a:xfrm>
        </p:grpSpPr>
        <p:sp>
          <p:nvSpPr>
            <p:cNvPr id="15" name="Shape 12"/>
            <p:cNvSpPr/>
            <p:nvPr/>
          </p:nvSpPr>
          <p:spPr>
            <a:xfrm>
              <a:off x="3857625" y="2127359"/>
              <a:ext cx="2214563" cy="1298684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6" name="Shape 13"/>
            <p:cNvSpPr/>
            <p:nvPr/>
          </p:nvSpPr>
          <p:spPr>
            <a:xfrm>
              <a:off x="3857625" y="2127359"/>
              <a:ext cx="2214563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17" name="Text 14"/>
            <p:cNvSpPr/>
            <p:nvPr/>
          </p:nvSpPr>
          <p:spPr>
            <a:xfrm>
              <a:off x="4000500" y="2298809"/>
              <a:ext cx="1928813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00D1FF"/>
                  </a:solidFill>
                </a:rPr>
                <a:t>Integrity</a:t>
              </a:r>
              <a:endParaRPr lang="en-US" sz="584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4000500" y="2500619"/>
              <a:ext cx="1928813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Anti-Cheat Engine</a:t>
              </a:r>
              <a:endParaRPr lang="en-US" sz="1193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000500" y="2848877"/>
              <a:ext cx="1928813" cy="548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34" dirty="0">
                  <a:solidFill>
                    <a:srgbClr val="FFFFFF">
                      <a:alpha val="70000"/>
                    </a:srgbClr>
                  </a:solidFill>
                </a:rPr>
                <a:t>Real-time detection of Alt+Tab, focus loss, banned applications, and multiple login attempts.</a:t>
              </a:r>
              <a:endParaRPr lang="en-US" sz="834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355557" y="2713554"/>
            <a:ext cx="2359818" cy="1648896"/>
            <a:chOff x="6357938" y="2127359"/>
            <a:chExt cx="2214563" cy="1298684"/>
          </a:xfrm>
        </p:grpSpPr>
        <p:sp>
          <p:nvSpPr>
            <p:cNvPr id="20" name="Shape 17"/>
            <p:cNvSpPr/>
            <p:nvPr/>
          </p:nvSpPr>
          <p:spPr>
            <a:xfrm>
              <a:off x="6357938" y="2127359"/>
              <a:ext cx="2214563" cy="1298684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21" name="Shape 18"/>
            <p:cNvSpPr/>
            <p:nvPr/>
          </p:nvSpPr>
          <p:spPr>
            <a:xfrm>
              <a:off x="6357938" y="2127359"/>
              <a:ext cx="2214563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22" name="Text 19"/>
            <p:cNvSpPr/>
            <p:nvPr/>
          </p:nvSpPr>
          <p:spPr>
            <a:xfrm>
              <a:off x="6500813" y="2298809"/>
              <a:ext cx="1928813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00D1FF"/>
                  </a:solidFill>
                </a:rPr>
                <a:t>Efficiency</a:t>
              </a:r>
              <a:endParaRPr lang="en-US" sz="584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500813" y="2500619"/>
              <a:ext cx="1928813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Auto-Evaluation</a:t>
              </a:r>
              <a:endParaRPr lang="en-US" sz="1193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6500813" y="2848877"/>
              <a:ext cx="1928813" cy="548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34" dirty="0">
                  <a:solidFill>
                    <a:srgbClr val="FFFFFF">
                      <a:alpha val="70000"/>
                    </a:srgbClr>
                  </a:solidFill>
                </a:rPr>
                <a:t>Instant grading of MCQs with detailed performance reports and comprehensive integrity logs.</a:t>
              </a:r>
              <a:endParaRPr lang="en-US" sz="834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428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Advanced Technical
Architecture</a:t>
            </a:r>
            <a:endParaRPr lang="en-US" sz="2436" dirty="0"/>
          </a:p>
        </p:txBody>
      </p:sp>
      <p:grpSp>
        <p:nvGrpSpPr>
          <p:cNvPr id="36" name="Group 35"/>
          <p:cNvGrpSpPr/>
          <p:nvPr/>
        </p:nvGrpSpPr>
        <p:grpSpPr>
          <a:xfrm>
            <a:off x="5357813" y="428625"/>
            <a:ext cx="3214688" cy="1571625"/>
            <a:chOff x="5357813" y="428625"/>
            <a:chExt cx="3214688" cy="1571625"/>
          </a:xfrm>
        </p:grpSpPr>
        <p:sp>
          <p:nvSpPr>
            <p:cNvPr id="4" name="Shape 1"/>
            <p:cNvSpPr/>
            <p:nvPr/>
          </p:nvSpPr>
          <p:spPr>
            <a:xfrm>
              <a:off x="5357813" y="428625"/>
              <a:ext cx="3214688" cy="1571625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</p:spPr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 rotWithShape="1">
            <a:blip r:embed="rId4">
              <a:alphaModFix amt="90000"/>
            </a:blip>
            <a:srcRect l="12805" r="13385"/>
            <a:stretch/>
          </p:blipFill>
          <p:spPr>
            <a:xfrm>
              <a:off x="5357813" y="500063"/>
              <a:ext cx="3214687" cy="1428750"/>
            </a:xfrm>
            <a:prstGeom prst="rect">
              <a:avLst/>
            </a:prstGeom>
          </p:spPr>
        </p:pic>
      </p:grpSp>
      <p:grpSp>
        <p:nvGrpSpPr>
          <p:cNvPr id="39" name="Group 38"/>
          <p:cNvGrpSpPr/>
          <p:nvPr/>
        </p:nvGrpSpPr>
        <p:grpSpPr>
          <a:xfrm>
            <a:off x="571500" y="2357438"/>
            <a:ext cx="2524116" cy="1143000"/>
            <a:chOff x="571500" y="2357438"/>
            <a:chExt cx="2524116" cy="1143000"/>
          </a:xfrm>
        </p:grpSpPr>
        <p:sp>
          <p:nvSpPr>
            <p:cNvPr id="6" name="Shape 2"/>
            <p:cNvSpPr/>
            <p:nvPr/>
          </p:nvSpPr>
          <p:spPr>
            <a:xfrm>
              <a:off x="571500" y="2357438"/>
              <a:ext cx="2524116" cy="1143000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7" name="Shape 3"/>
            <p:cNvSpPr/>
            <p:nvPr/>
          </p:nvSpPr>
          <p:spPr>
            <a:xfrm>
              <a:off x="571500" y="2357438"/>
              <a:ext cx="2524116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8" name="Text 4"/>
            <p:cNvSpPr/>
            <p:nvPr/>
          </p:nvSpPr>
          <p:spPr>
            <a:xfrm>
              <a:off x="714375" y="2500313"/>
              <a:ext cx="2238366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FFFFFF">
                      <a:alpha val="40000"/>
                    </a:srgbClr>
                  </a:solidFill>
                </a:rPr>
                <a:t>Desktop Client</a:t>
              </a:r>
              <a:endParaRPr lang="en-US" sz="584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14375" y="2673548"/>
              <a:ext cx="2238366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Python / PyQt</a:t>
              </a:r>
              <a:endParaRPr lang="en-US" sz="1193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714375" y="2993231"/>
              <a:ext cx="2238366" cy="3000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FFFFFF">
                      <a:alpha val="60000"/>
                    </a:srgbClr>
                  </a:solidFill>
                </a:rPr>
                <a:t>Robust desktop application framework for enforced full-screen and OS-level control.</a:t>
              </a:r>
              <a:endParaRPr lang="en-US" sz="727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309928" y="2357438"/>
            <a:ext cx="2524116" cy="1143000"/>
            <a:chOff x="3309928" y="2357438"/>
            <a:chExt cx="2524116" cy="1143000"/>
          </a:xfrm>
        </p:grpSpPr>
        <p:sp>
          <p:nvSpPr>
            <p:cNvPr id="11" name="Shape 7"/>
            <p:cNvSpPr/>
            <p:nvPr/>
          </p:nvSpPr>
          <p:spPr>
            <a:xfrm>
              <a:off x="3309928" y="2357438"/>
              <a:ext cx="2524116" cy="1143000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2" name="Shape 8"/>
            <p:cNvSpPr/>
            <p:nvPr/>
          </p:nvSpPr>
          <p:spPr>
            <a:xfrm>
              <a:off x="3309928" y="2357438"/>
              <a:ext cx="2524116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13" name="Text 9"/>
            <p:cNvSpPr/>
            <p:nvPr/>
          </p:nvSpPr>
          <p:spPr>
            <a:xfrm>
              <a:off x="3452803" y="2500313"/>
              <a:ext cx="2238366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FFFFFF">
                      <a:alpha val="40000"/>
                    </a:srgbClr>
                  </a:solidFill>
                </a:rPr>
                <a:t>Backend Server</a:t>
              </a:r>
              <a:endParaRPr lang="en-US" sz="584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3452803" y="2673548"/>
              <a:ext cx="2238366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FastAPI / Flask</a:t>
              </a:r>
              <a:endParaRPr lang="en-US" sz="1193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3452803" y="2993231"/>
              <a:ext cx="2238366" cy="3000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FFFFFF">
                      <a:alpha val="60000"/>
                    </a:srgbClr>
                  </a:solidFill>
                </a:rPr>
                <a:t>High-performance asynchronous API for real-time monitoring and data management.</a:t>
              </a:r>
              <a:endParaRPr lang="en-US" sz="727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048356" y="2357438"/>
            <a:ext cx="2524144" cy="1143000"/>
            <a:chOff x="6048356" y="2357438"/>
            <a:chExt cx="2524144" cy="1143000"/>
          </a:xfrm>
        </p:grpSpPr>
        <p:sp>
          <p:nvSpPr>
            <p:cNvPr id="16" name="Shape 12"/>
            <p:cNvSpPr/>
            <p:nvPr/>
          </p:nvSpPr>
          <p:spPr>
            <a:xfrm>
              <a:off x="6048356" y="2357438"/>
              <a:ext cx="2524144" cy="1143000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7" name="Shape 13"/>
            <p:cNvSpPr/>
            <p:nvPr/>
          </p:nvSpPr>
          <p:spPr>
            <a:xfrm>
              <a:off x="6048356" y="2357438"/>
              <a:ext cx="2524144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18" name="Text 14"/>
            <p:cNvSpPr/>
            <p:nvPr/>
          </p:nvSpPr>
          <p:spPr>
            <a:xfrm>
              <a:off x="6191231" y="2500313"/>
              <a:ext cx="2238394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FFFFFF">
                      <a:alpha val="40000"/>
                    </a:srgbClr>
                  </a:solidFill>
                </a:rPr>
                <a:t>Data Management</a:t>
              </a:r>
              <a:endParaRPr lang="en-US" sz="584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6191231" y="2673548"/>
              <a:ext cx="2238394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MySQL</a:t>
              </a:r>
              <a:endParaRPr lang="en-US" sz="1193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6191231" y="2993231"/>
              <a:ext cx="2238394" cy="3000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FFFFFF">
                      <a:alpha val="60000"/>
                    </a:srgbClr>
                  </a:solidFill>
                </a:rPr>
                <a:t>Enterprise-grade relational database for centralized storage of exams and logs.</a:t>
              </a:r>
              <a:endParaRPr lang="en-US" sz="727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71500" y="3714750"/>
            <a:ext cx="2524116" cy="1143000"/>
            <a:chOff x="571500" y="3714750"/>
            <a:chExt cx="2524116" cy="1143000"/>
          </a:xfrm>
        </p:grpSpPr>
        <p:sp>
          <p:nvSpPr>
            <p:cNvPr id="21" name="Shape 17"/>
            <p:cNvSpPr/>
            <p:nvPr/>
          </p:nvSpPr>
          <p:spPr>
            <a:xfrm>
              <a:off x="571500" y="3714750"/>
              <a:ext cx="2524116" cy="1143000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22" name="Shape 18"/>
            <p:cNvSpPr/>
            <p:nvPr/>
          </p:nvSpPr>
          <p:spPr>
            <a:xfrm>
              <a:off x="571500" y="3714750"/>
              <a:ext cx="2524116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23" name="Text 19"/>
            <p:cNvSpPr/>
            <p:nvPr/>
          </p:nvSpPr>
          <p:spPr>
            <a:xfrm>
              <a:off x="714375" y="3857625"/>
              <a:ext cx="2238366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FFFFFF">
                      <a:alpha val="40000"/>
                    </a:srgbClr>
                  </a:solidFill>
                </a:rPr>
                <a:t>Security Layer</a:t>
              </a:r>
              <a:endParaRPr lang="en-US" sz="584" dirty="0"/>
            </a:p>
          </p:txBody>
        </p:sp>
        <p:sp>
          <p:nvSpPr>
            <p:cNvPr id="24" name="Text 20"/>
            <p:cNvSpPr/>
            <p:nvPr/>
          </p:nvSpPr>
          <p:spPr>
            <a:xfrm>
              <a:off x="714375" y="4030861"/>
              <a:ext cx="2238366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JWT &amp; AES</a:t>
              </a:r>
              <a:endParaRPr lang="en-US" sz="1193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714375" y="4350544"/>
              <a:ext cx="2238366" cy="3000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FFFFFF">
                      <a:alpha val="60000"/>
                    </a:srgbClr>
                  </a:solidFill>
                </a:rPr>
                <a:t>Secure authentication and encrypted communication for client-server integrity.</a:t>
              </a:r>
              <a:endParaRPr lang="en-US" sz="727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309928" y="3714750"/>
            <a:ext cx="2524116" cy="1143000"/>
            <a:chOff x="3309928" y="3714750"/>
            <a:chExt cx="2524116" cy="1143000"/>
          </a:xfrm>
        </p:grpSpPr>
        <p:sp>
          <p:nvSpPr>
            <p:cNvPr id="26" name="Shape 22"/>
            <p:cNvSpPr/>
            <p:nvPr/>
          </p:nvSpPr>
          <p:spPr>
            <a:xfrm>
              <a:off x="3309928" y="3714750"/>
              <a:ext cx="2524116" cy="1143000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27" name="Shape 23"/>
            <p:cNvSpPr/>
            <p:nvPr/>
          </p:nvSpPr>
          <p:spPr>
            <a:xfrm>
              <a:off x="3309928" y="3714750"/>
              <a:ext cx="2524116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28" name="Text 24"/>
            <p:cNvSpPr/>
            <p:nvPr/>
          </p:nvSpPr>
          <p:spPr>
            <a:xfrm>
              <a:off x="3452803" y="3857625"/>
              <a:ext cx="2238366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FFFFFF">
                      <a:alpha val="40000"/>
                    </a:srgbClr>
                  </a:solidFill>
                </a:rPr>
                <a:t>OS Monitoring</a:t>
              </a:r>
              <a:endParaRPr lang="en-US" sz="584" dirty="0"/>
            </a:p>
          </p:txBody>
        </p:sp>
        <p:sp>
          <p:nvSpPr>
            <p:cNvPr id="29" name="Text 25"/>
            <p:cNvSpPr/>
            <p:nvPr/>
          </p:nvSpPr>
          <p:spPr>
            <a:xfrm>
              <a:off x="3452803" y="4030861"/>
              <a:ext cx="2238366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psutil</a:t>
              </a:r>
              <a:endParaRPr lang="en-US" sz="1193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3452803" y="4350544"/>
              <a:ext cx="2238366" cy="3000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FFFFFF">
                      <a:alpha val="60000"/>
                    </a:srgbClr>
                  </a:solidFill>
                </a:rPr>
                <a:t>System-level process monitoring to detect and block unauthorized applications.</a:t>
              </a:r>
              <a:endParaRPr lang="en-US" sz="727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48356" y="3714750"/>
            <a:ext cx="2524144" cy="1143000"/>
            <a:chOff x="6048356" y="3714750"/>
            <a:chExt cx="2524144" cy="1143000"/>
          </a:xfrm>
        </p:grpSpPr>
        <p:sp>
          <p:nvSpPr>
            <p:cNvPr id="31" name="Shape 27"/>
            <p:cNvSpPr/>
            <p:nvPr/>
          </p:nvSpPr>
          <p:spPr>
            <a:xfrm>
              <a:off x="6048356" y="3714750"/>
              <a:ext cx="2524144" cy="1143000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32" name="Shape 28"/>
            <p:cNvSpPr/>
            <p:nvPr/>
          </p:nvSpPr>
          <p:spPr>
            <a:xfrm>
              <a:off x="6048356" y="3714750"/>
              <a:ext cx="2524144" cy="2857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33" name="Text 29"/>
            <p:cNvSpPr/>
            <p:nvPr/>
          </p:nvSpPr>
          <p:spPr>
            <a:xfrm>
              <a:off x="6191231" y="3857625"/>
              <a:ext cx="2238394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584" b="1" kern="0" spc="2" dirty="0">
                  <a:solidFill>
                    <a:srgbClr val="FFFFFF">
                      <a:alpha val="40000"/>
                    </a:srgbClr>
                  </a:solidFill>
                </a:rPr>
                <a:t>Concurrency</a:t>
              </a:r>
              <a:endParaRPr lang="en-US" sz="584" dirty="0"/>
            </a:p>
          </p:txBody>
        </p:sp>
        <p:sp>
          <p:nvSpPr>
            <p:cNvPr id="34" name="Text 30"/>
            <p:cNvSpPr/>
            <p:nvPr/>
          </p:nvSpPr>
          <p:spPr>
            <a:xfrm>
              <a:off x="6191231" y="4030861"/>
              <a:ext cx="2238394" cy="233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193" b="1" dirty="0">
                  <a:solidFill>
                    <a:srgbClr val="FFFFFF"/>
                  </a:solidFill>
                </a:rPr>
                <a:t>Threading</a:t>
              </a:r>
              <a:endParaRPr lang="en-US" sz="1193" dirty="0"/>
            </a:p>
          </p:txBody>
        </p:sp>
        <p:sp>
          <p:nvSpPr>
            <p:cNvPr id="35" name="Text 31"/>
            <p:cNvSpPr/>
            <p:nvPr/>
          </p:nvSpPr>
          <p:spPr>
            <a:xfrm>
              <a:off x="6191231" y="4350544"/>
              <a:ext cx="2238394" cy="3000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FFFFFF">
                      <a:alpha val="60000"/>
                    </a:srgbClr>
                  </a:solidFill>
                </a:rPr>
                <a:t>Multi-threaded execution for simultaneous exam rendering and anti-cheat monitoring.</a:t>
              </a:r>
              <a:endParaRPr lang="en-US" sz="727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75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25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75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75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5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71525"/>
            <a:ext cx="47148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Strategic Outcomes
&amp; Readiness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71525" y="1883048"/>
            <a:ext cx="45148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Practical Software Engineering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71525" y="2145581"/>
            <a:ext cx="4514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Development of a robust, scalable desktop application using industry-standard Python frameworks.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771525" y="2717081"/>
            <a:ext cx="45148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Security-Aware Design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71525" y="2979613"/>
            <a:ext cx="4514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Implementation of OS-level monitoring and encrypted communication to ensure data integrity.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71525" y="3551113"/>
            <a:ext cx="45148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Real-World Problem Solving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71525" y="3813646"/>
            <a:ext cx="4514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Addressing the critical challenges of online exam cheating with a practical, deployable solution.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71525" y="4385146"/>
            <a:ext cx="45148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Professional Readiness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71525" y="4647679"/>
            <a:ext cx="4514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60000"/>
                  </a:srgbClr>
                </a:solidFill>
              </a:rPr>
              <a:t>Demonstrating academic and professional excellence through a comprehensive, secure software project.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286375" y="0"/>
            <a:ext cx="3857625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924" y="1047750"/>
            <a:ext cx="3770114" cy="25134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36650" y="3551634"/>
            <a:ext cx="1157047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00D1FF"/>
                </a:solidFill>
              </a:rPr>
              <a:t>Analytical Performance Context</a:t>
            </a:r>
            <a:endParaRPr lang="en-US" sz="68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743075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Future Roadmap
&amp; AI Integration</a:t>
            </a:r>
            <a:endParaRPr lang="en-US" sz="2436" dirty="0"/>
          </a:p>
        </p:txBody>
      </p:sp>
      <p:grpSp>
        <p:nvGrpSpPr>
          <p:cNvPr id="26" name="Group 25"/>
          <p:cNvGrpSpPr/>
          <p:nvPr/>
        </p:nvGrpSpPr>
        <p:grpSpPr>
          <a:xfrm>
            <a:off x="5086350" y="357188"/>
            <a:ext cx="3581399" cy="2000250"/>
            <a:chOff x="5000625" y="428625"/>
            <a:chExt cx="3581399" cy="2000250"/>
          </a:xfrm>
        </p:grpSpPr>
        <p:sp>
          <p:nvSpPr>
            <p:cNvPr id="4" name="Shape 1"/>
            <p:cNvSpPr/>
            <p:nvPr/>
          </p:nvSpPr>
          <p:spPr>
            <a:xfrm>
              <a:off x="5000625" y="428625"/>
              <a:ext cx="3571875" cy="2000250"/>
            </a:xfrm>
            <a:prstGeom prst="rect">
              <a:avLst/>
            </a:prstGeom>
            <a:solidFill>
              <a:srgbClr val="FFFFFF">
                <a:alpha val="3000"/>
              </a:srgbClr>
            </a:solidFill>
            <a:ln w="9144">
              <a:solidFill>
                <a:srgbClr val="FFFFFF">
                  <a:alpha val="10000"/>
                </a:srgbClr>
              </a:solidFill>
              <a:prstDash val="solid"/>
            </a:ln>
          </p:spPr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5010149" y="500063"/>
              <a:ext cx="3571875" cy="1857375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571500" y="2714625"/>
            <a:ext cx="3857625" cy="1000125"/>
            <a:chOff x="571500" y="2714625"/>
            <a:chExt cx="3857625" cy="1000125"/>
          </a:xfrm>
        </p:grpSpPr>
        <p:sp>
          <p:nvSpPr>
            <p:cNvPr id="6" name="Shape 2"/>
            <p:cNvSpPr/>
            <p:nvPr/>
          </p:nvSpPr>
          <p:spPr>
            <a:xfrm>
              <a:off x="571500" y="2714625"/>
              <a:ext cx="3857625" cy="1000125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7" name="Shape 3"/>
            <p:cNvSpPr/>
            <p:nvPr/>
          </p:nvSpPr>
          <p:spPr>
            <a:xfrm>
              <a:off x="571500" y="2714625"/>
              <a:ext cx="42863" cy="100012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8" name="Text 4"/>
            <p:cNvSpPr/>
            <p:nvPr/>
          </p:nvSpPr>
          <p:spPr>
            <a:xfrm>
              <a:off x="742950" y="2857500"/>
              <a:ext cx="3514725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kern="0" spc="1" dirty="0">
                  <a:solidFill>
                    <a:srgbClr val="FFFFFF"/>
                  </a:solidFill>
                </a:rPr>
                <a:t>Facial Recognition</a:t>
              </a:r>
              <a:endParaRPr lang="en-US" sz="109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42950" y="3157538"/>
              <a:ext cx="35147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780" dirty="0">
                  <a:solidFill>
                    <a:srgbClr val="FFFFFF">
                      <a:alpha val="60000"/>
                    </a:srgbClr>
                  </a:solidFill>
                </a:rPr>
                <a:t>Integration of biometric verification to ensure candidate identity throughout the entire examination lifecycle.</a:t>
              </a:r>
              <a:endParaRPr lang="en-US" sz="78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714875" y="2714625"/>
            <a:ext cx="3857625" cy="1000125"/>
            <a:chOff x="4714875" y="2714625"/>
            <a:chExt cx="3857625" cy="1000125"/>
          </a:xfrm>
        </p:grpSpPr>
        <p:sp>
          <p:nvSpPr>
            <p:cNvPr id="10" name="Shape 6"/>
            <p:cNvSpPr/>
            <p:nvPr/>
          </p:nvSpPr>
          <p:spPr>
            <a:xfrm>
              <a:off x="4714875" y="2714625"/>
              <a:ext cx="3857625" cy="1000125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1" name="Shape 7"/>
            <p:cNvSpPr/>
            <p:nvPr/>
          </p:nvSpPr>
          <p:spPr>
            <a:xfrm>
              <a:off x="4714875" y="2714625"/>
              <a:ext cx="42863" cy="100012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12" name="Text 8"/>
            <p:cNvSpPr/>
            <p:nvPr/>
          </p:nvSpPr>
          <p:spPr>
            <a:xfrm>
              <a:off x="4886325" y="2857500"/>
              <a:ext cx="3514725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kern="0" spc="1" dirty="0">
                  <a:solidFill>
                    <a:srgbClr val="FFFFFF"/>
                  </a:solidFill>
                </a:rPr>
                <a:t>AI Behavior Analysis</a:t>
              </a:r>
              <a:endParaRPr lang="en-US" sz="109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886325" y="3157538"/>
              <a:ext cx="35147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780" dirty="0">
                  <a:solidFill>
                    <a:srgbClr val="FFFFFF">
                      <a:alpha val="60000"/>
                    </a:srgbClr>
                  </a:solidFill>
                </a:rPr>
                <a:t>Advanced machine learning models to detect suspicious movement, gaze patterns, and environmental anomalies.</a:t>
              </a:r>
              <a:endParaRPr lang="en-US" sz="78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71500" y="4000500"/>
            <a:ext cx="3857625" cy="1000125"/>
            <a:chOff x="571500" y="4000500"/>
            <a:chExt cx="3857625" cy="1000125"/>
          </a:xfrm>
        </p:grpSpPr>
        <p:sp>
          <p:nvSpPr>
            <p:cNvPr id="14" name="Shape 10"/>
            <p:cNvSpPr/>
            <p:nvPr/>
          </p:nvSpPr>
          <p:spPr>
            <a:xfrm>
              <a:off x="571500" y="4000500"/>
              <a:ext cx="3857625" cy="1000125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5" name="Shape 11"/>
            <p:cNvSpPr/>
            <p:nvPr/>
          </p:nvSpPr>
          <p:spPr>
            <a:xfrm>
              <a:off x="571500" y="4000500"/>
              <a:ext cx="42863" cy="100012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16" name="Text 12"/>
            <p:cNvSpPr/>
            <p:nvPr/>
          </p:nvSpPr>
          <p:spPr>
            <a:xfrm>
              <a:off x="742950" y="4143375"/>
              <a:ext cx="3514725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kern="0" spc="1" dirty="0">
                  <a:solidFill>
                    <a:srgbClr val="FFFFFF"/>
                  </a:solidFill>
                </a:rPr>
                <a:t>Advanced Proctoring</a:t>
              </a:r>
              <a:endParaRPr lang="en-US" sz="1090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742950" y="4443413"/>
              <a:ext cx="35147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780" dirty="0">
                  <a:solidFill>
                    <a:srgbClr val="FFFFFF">
                      <a:alpha val="60000"/>
                    </a:srgbClr>
                  </a:solidFill>
                </a:rPr>
                <a:t>AI-driven automated proctoring that provides real-time alerts and risk scoring for administrative review.</a:t>
              </a:r>
              <a:endParaRPr lang="en-US" sz="78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714875" y="4000500"/>
            <a:ext cx="3857625" cy="1000125"/>
            <a:chOff x="4714875" y="4000500"/>
            <a:chExt cx="3857625" cy="1000125"/>
          </a:xfrm>
        </p:grpSpPr>
        <p:sp>
          <p:nvSpPr>
            <p:cNvPr id="18" name="Shape 14"/>
            <p:cNvSpPr/>
            <p:nvPr/>
          </p:nvSpPr>
          <p:spPr>
            <a:xfrm>
              <a:off x="4714875" y="4000500"/>
              <a:ext cx="3857625" cy="1000125"/>
            </a:xfrm>
            <a:prstGeom prst="rect">
              <a:avLst/>
            </a:prstGeom>
            <a:solidFill>
              <a:srgbClr val="FFFFFF">
                <a:alpha val="2000"/>
              </a:srgbClr>
            </a:solidFill>
            <a:ln/>
          </p:spPr>
        </p:sp>
        <p:sp>
          <p:nvSpPr>
            <p:cNvPr id="19" name="Shape 15"/>
            <p:cNvSpPr/>
            <p:nvPr/>
          </p:nvSpPr>
          <p:spPr>
            <a:xfrm>
              <a:off x="4714875" y="4000500"/>
              <a:ext cx="42863" cy="1000125"/>
            </a:xfrm>
            <a:prstGeom prst="rect">
              <a:avLst/>
            </a:prstGeom>
            <a:solidFill>
              <a:srgbClr val="00D1FF"/>
            </a:solidFill>
            <a:ln/>
          </p:spPr>
        </p:sp>
        <p:sp>
          <p:nvSpPr>
            <p:cNvPr id="20" name="Text 16"/>
            <p:cNvSpPr/>
            <p:nvPr/>
          </p:nvSpPr>
          <p:spPr>
            <a:xfrm>
              <a:off x="4886325" y="4143375"/>
              <a:ext cx="3514725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090" b="1" kern="0" spc="1" dirty="0">
                  <a:solidFill>
                    <a:srgbClr val="FFFFFF"/>
                  </a:solidFill>
                </a:rPr>
                <a:t>Global Scalability</a:t>
              </a:r>
              <a:endParaRPr lang="en-US" sz="1090" dirty="0"/>
            </a:p>
          </p:txBody>
        </p:sp>
        <p:sp>
          <p:nvSpPr>
            <p:cNvPr id="21" name="Text 17"/>
            <p:cNvSpPr/>
            <p:nvPr/>
          </p:nvSpPr>
          <p:spPr>
            <a:xfrm>
              <a:off x="4886325" y="4443413"/>
              <a:ext cx="3514725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780" dirty="0">
                  <a:solidFill>
                    <a:srgbClr val="FFFFFF">
                      <a:alpha val="60000"/>
                    </a:srgbClr>
                  </a:solidFill>
                </a:rPr>
                <a:t>Expanding the architecture to support massive-scale concurrent exams with distributed cloud infrastructure.</a:t>
              </a:r>
              <a:endParaRPr lang="en-US" sz="78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69494" y="1824335"/>
            <a:ext cx="380501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US" sz="66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812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8021 0.72284 L 0 -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10" y="-3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852</Words>
  <Application>Microsoft Office PowerPoint</Application>
  <PresentationFormat>On-screen Show (16:9)</PresentationFormat>
  <Paragraphs>179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IT's  RZB</cp:lastModifiedBy>
  <cp:revision>44</cp:revision>
  <dcterms:created xsi:type="dcterms:W3CDTF">2026-01-22T17:48:32Z</dcterms:created>
  <dcterms:modified xsi:type="dcterms:W3CDTF">2026-02-17T16:45:00Z</dcterms:modified>
</cp:coreProperties>
</file>